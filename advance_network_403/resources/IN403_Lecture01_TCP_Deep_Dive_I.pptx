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91"/>
    <p:restoredTop sz="94610"/>
  </p:normalViewPr>
  <p:slideViewPr>
    <p:cSldViewPr snapToGrid="0" snapToObjects="1">
      <p:cViewPr varScale="1">
        <p:scale>
          <a:sx n="151" d="100"/>
          <a:sy n="151" d="100"/>
        </p:scale>
        <p:origin x="8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538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lecture session runs 2 hours. Course kickoff, TCP segment anatomy, connection management and the sliding-window flow-control machinery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and connect each one to the agenda that follows.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guide for the 2-hour session, including a 10-minute break. Adjust pacing as needed.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course logistics. Replace the assessment placeholder text with your institution’s official weights.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the blocks build on each other: transport first, then how networks treat traffic, how they are programmed, routed, secured and measured.
Explanation for students: The course follows a packet’s life from the end host outwards. We start inside the transport layer (TCP), because almost every later topic — QoS, measurement, QUIC — reacts to how TCP behaves. Next we look at how the network can treat traffic differently (QoS), then at how modern networks are built and programmed in software (NFV and SDN). With that foundation we study how packets find their way between and within organisations (OSPF and BGP), how they are protected (IPsec and TLS), how we measure whether all of this works, and finally where protocols are heading (QUIC, HTTP/3) and how to design a complete network. Each lab is scheduled right after the lectures it supports, so you will always practise a topic within a week or two of seeing it in class.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follows a packet’s life from the end host outwards. We start inside the transport layer (TCP), because almost every later topic — QoS, measurement, QUIC — reacts to how TCP behaves. Next we look at how the network can treat traffic differently (QoS), then at how modern networks are built and programmed in software (NFV and SDN).
With that foundation we study how packets find their way between and within organisations (OSPF and BGP), how they are protected (IPsec and TLS), how we measure whether all of this works, and finally where protocols are heading (QUIC, HTTP/3) and how to design a complete network.
Each lab is scheduled right after the lectures it supports, so you will always practise a topic within a week or two of seeing it in class.
Remember: Every block builds on the previous one. If TCP congestion control is unclear, QoS and QUIC will be harder — revise L1–L3 early.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TCP is a byte stream, not a message service. QUIC (Lecture 16) rebuilds TCP-like services on top of UDP.
Explanation for students: The transport layer offers applications a service contract. TCP promises that every byte you write will arrive, exactly once and in order, or that you will be told the connection failed. To keep that promise it needs a connection (state at both ends), sequence numbers, acknowledgments and retransmissions. UDP promises almost nothing: each datagram is sent independently and may be lost, duplicated or reordered. In exchange it adds only 8 bytes of header and no set-up delay, which suits short exchanges (DNS) and real-time media where a late packet is as useless as a lost one. An important subtlety is that TCP is a byte stream: if you send two 100-byte messages, the receiver may read 200 bytes at once or 50 bytes at a time. Applications must define their own message boundaries.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transport layer offers applications a service contract. TCP promises that every byte you write will arrive, exactly once and in order, or that you will be told the connection failed. To keep that promise it needs a connection (state at both ends), sequence numbers, acknowledgments and retransmissions.
UDP promises almost nothing: each datagram is sent independently and may be lost, duplicated or reordered. In exchange it adds only 8 bytes of header and no set-up delay, which suits short exchanges (DNS) and real-time media where a late packet is as useless as a lost one.
An important subtlety is that TCP is a byte stream: if you send two 100-byte messages, the receiver may read 200 bytes at once or 50 bytes at a time. Applications must define their own message boundaries.
Example: A video call uses UDP (RTP): if a voice packet is lost, retransmitting it 100 ms later is pointless. A file download uses TCP: a single missing byte would corrupt the file.
Remember: TCP = reliable ordered byte stream with flow and congestion control. UDP = best-effort datagrams. QUIC rebuilds TCP-like reliability on top of UDP.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real header capture if possible. Stress that sequence numbers count bytes, not segments.
Explanation for students: Each TCP segment carries a header of 20 bytes plus up to 40 bytes of options. The port numbers identify the two application processes; together with the two IP addresses they form the 4-tuple that names a connection. The sequence number is the position (in bytes) of the first data byte of this segment in the sender’s stream. The acknowledgment number tells the other side “I have received everything up to this byte; send me this one next”. Because it is cumulative, one ACK can confirm many segments. The flags control the connection: SYN opens it, FIN closes it gracefully, RST aborts it, ACK means the acknowledgment field is valid, PSH asks the receiver to deliver data to the application promptly. The window field is how the receiver says how much more data it can accept — this is the heart of flow control.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TCP segment carries a header of 20 bytes plus up to 40 bytes of options. The port numbers identify the two application processes; together with the two IP addresses they form the 4-tuple that names a connection.
The sequence number is the position (in bytes) of the first data byte of this segment in the sender’s stream. The acknowledgment number tells the other side “I have received everything up to this byte; send me this one next”. Because it is cumulative, one ACK can confirm many segments.
The flags control the connection: SYN opens it, FIN closes it gracefully, RST aborts it, ACK means the acknowledgment field is valid, PSH asks the receiver to deliver data to the application promptly. The window field is how the receiver says how much more data it can accept — this is the heart of flow control.
Example: A segment with seq = 5001 carrying 1000 bytes contains bytes 5001–6000. The receiver answers with ack = 6001, meaning “next I expect byte 6001”.
Remember: Sequence and ACK numbers count bytes, not packets. The ACK number is always the next byte expected.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options are negotiated in the handshake; middleboxes that strip them can quietly destroy performance.
Explanation for students: The original TCP header was designed in 1981 for slow links. Options extend it without changing the fixed header. Four options are negotiated in almost every modern connection, and they are only valid if both SYN and SYN-ACK carry them. MSS tells the peer the largest segment you can receive, avoiding IP fragmentation. Window Scale multiplies the 16-bit window field by 2^shift so the window can exceed 64 KB — essential on fast, long paths. SACK lets the receiver report which out-of-order blocks it already has, so only the missing pieces are resent. Timestamps echo a clock value so the sender can measure RTT on every ACK and detect wrapped sequence numbers on very fast links.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TCP header was designed in 1981 for slow links. Options extend it without changing the fixed header. Four options are negotiated in almost every modern connection, and they are only valid if both SYN and SYN-ACK carry them.
MSS tells the peer the largest segment you can receive, avoiding IP fragmentation. Window Scale multiplies the 16-bit window field by 2^shift so the window can exceed 64 KB — essential on fast, long paths. SACK lets the receiver report which out-of-order blocks it already has, so only the missing pieces are resent. Timestamps echo a clock value so the sender can measure RTT on every ACK and detect wrapped sequence numbers on very fast links.
Example: A firewall that strips the Window Scale option silently limits every connection through it to 64 KB in flight. On a 100 ms path that caps throughput at about 5 Mb/s even on a 1 Gb/s link.
Remember: Options are agreed in the handshake and fixed for the whole connection. Check them first when diagnosing slow transfers.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attention to the asymmetric window-scale values: each direction has its own shift count.
Explanation for students: Before any data flows, both sides must agree on starting sequence numbers and options. The client sends a SYN with its initial sequence number x and its options. The server replies with SYN-ACK: its own initial sequence number y, an acknowledgment of x+1 and its options. The client completes with an ACK of y+1. Why three messages and not two? Each side must prove it received the other’s sequence number. Two messages would leave the server unsure that its SYN reached the client. Initial sequence numbers are random so an attacker cannot guess them and so that segments from an old connection are not mistaken for new ones. Handshake state is a target for attacks: a SYN flood sends many SYNs without completing them, filling the server’s queue. SYN cookies encode the state inside the server’s ISN so nothing must be stored until the final ACK arrives.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data flows, both sides must agree on starting sequence numbers and options. The client sends a SYN with its initial sequence number x and its options. The server replies with SYN-ACK: its own initial sequence number y, an acknowledgment of x+1 and its options. The client completes with an ACK of y+1.
Why three messages and not two? Each side must prove it received the other’s sequence number. Two messages would leave the server unsure that its SYN reached the client. Initial sequence numbers are random so an attacker cannot guess them and so that segments from an old connection are not mistaken for new ones.
Handshake state is a target for attacks: a SYN flood sends many SYNs without completing them, filling the server’s queue. SYN cookies encode the state inside the server’s ISN so nothing must be stored until the final ACK arrives.
Example: Client SYN seq=1000, server SYN-ACK seq=5000 ack=1001, client ACK seq=1001 ack=5001. The first data byte from the client will be numbered 1001.
Remember: The handshake costs one RTT before data can be sent. Later lectures (TLS 1.3, QUIC) work hard to reduce this cost.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why it is the active closer, not the server, that should ideally hold TIME_WAIT.
Explanation for students: TCP is full-duplex, so each direction is closed separately. The side that finishes first (the active closer) sends FIN; the other side acknowledges it but may continue sending its own data (a half-close). When it is done, it sends its own FIN, which the active closer acknowledges. After that last ACK the active closer waits in TIME_WAIT for twice the Maximum Segment Lifetime. This serves two purposes: if the final ACK was lost, the peer will resend its FIN and we can answer it; and any delayed duplicate segments from this connection will expire before the same 4-tuple can be reused. RST is different: it aborts the connection immediately and discards any data still in buffers. It is sent, for example, when a segment arrives for a port with no listening application.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is full-duplex, so each direction is closed separately. The side that finishes first (the active closer) sends FIN; the other side acknowledges it but may continue sending its own data (a half-close). When it is done, it sends its own FIN, which the active closer acknowledges.
After that last ACK the active closer waits in TIME_WAIT for twice the Maximum Segment Lifetime. This serves two purposes: if the final ACK was lost, the peer will resend its FIN and we can answer it; and any delayed duplicate segments from this connection will expire before the same 4-tuple can be reused.
RST is different: it aborts the connection immediately and discards any data still in buffers. It is sent, for example, when a segment arrives for a port with no listening application.
Example: A load-testing client opening thousands of short connections per second can run out of local ports because each closed connection keeps its port in TIME_WAIT for 60 seconds (Linux).
Remember: Whoever closes first holds TIME_WAIT. Servers usually prefer clients to close first.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`ss -tan` on a Linux box to show live sockets in these states.
Explanation for students: TCP defines eleven states, but they group naturally into five phases. A server starts in LISTEN; a client moves from CLOSED to SYN_SENT when it calls connect(). During the handshake the server is in SYN_RECEIVED. When the handshake completes, both reach ESTABLISHED, where all data transfer happens. Closing involves several intermediate states depending on who closes first and whether both close at the same time: FIN_WAIT_1 and FIN_WAIT_2 for the active closer, CLOSE_WAIT and LAST_ACK for the passive closer, and the rare CLOSING state for simultaneous close. Finally the active side spends time in TIME_WAIT before returning to CLOSED. Knowing these states is practical: a server with thousands of sockets in CLOSE_WAIT usually means the application is not calling close() — an application bug, not a network problem.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defines eleven states, but they group naturally into five phases. A server starts in LISTEN; a client moves from CLOSED to SYN_SENT when it calls connect(). During the handshake the server is in SYN_RECEIVED. When the handshake completes, both reach ESTABLISHED, where all data transfer happens.
Closing involves several intermediate states depending on who closes first and whether both close at the same time: FIN_WAIT_1 and FIN_WAIT_2 for the active closer, CLOSE_WAIT and LAST_ACK for the passive closer, and the rare CLOSING state for simultaneous close. Finally the active side spends time in TIME_WAIT before returning to CLOSED.
Knowing these states is practical: a server with thousands of sockets in CLOSE_WAIT usually means the application is not calling close() — an application bug, not a network problem.
Example: Command: ss -tan state close-wait lists connections the remote side has closed but your application has not yet closed.
Remember: ESTABLISHED = data phase. Many CLOSE_WAIT = app bug. Many TIME_WAIT = many short connections from this host.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Throughput = W/RTT on the board. Students should leave able to do this calculation quickly.
Explanation for students: The receiver stores incoming data in a buffer until the application reads it. If the sender transmitted faster than the application reads, this buffer would overflow and data would be lost. Flow control prevents that: in every segment the receiver advertises rwnd, the free space left in its buffer. The sender may have at most rwnd bytes “in flight” (sent but not yet acknowledged). As acknowledgments arrive the left edge of the window moves forward; as the application reads data the receiver advertises more space and the right edge moves forward. The window therefore slides along the byte stream. Because the sender must wait for ACKs, at most one window of data can be delivered per round-trip time. This gives the fundamental limit: Throughput ≤ Window / RTT. The faster or longer the path, the bigger the window must be.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receiver stores incoming data in a buffer until the application reads it. If the sender transmitted faster than the application reads, this buffer would overflow and data would be lost. Flow control prevents that: in every segment the receiver advertises rwnd, the free space left in its buffer.
The sender may have at most rwnd bytes “in flight” (sent but not yet acknowledged). As acknowledgments arrive the left edge of the window moves forward; as the application reads data the receiver advertises more space and the right edge moves forward. The window therefore slides along the byte stream.
Because the sender must wait for ACKs, at most one window of data can be delivered per round-trip time. This gives the fundamental limit: Throughput ≤ Window / RTT. The faster or longer the path, the bigger the window must be.
Example: With rwnd = 64 KB and RTT = 100 ms: 65 535 × 8 bits / 0.1 s ≈ 5.2 Mb/s. Doubling the window to 128 KB doubles the maximum throughput to about 10.5 Mb/s.
Remember: The sender obeys min(rwnd, cwnd). rwnd protects the receiver; cwnd (Lecture 2) protects the network.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Animate this on the board by moving two pointers along a byte line.
Explanation for students: Picture the sender’s data as a long line of numbered bytes divided into four regions. On the far left are bytes already sent and acknowledged: the sender can free that buffer space. Next come bytes sent but not yet acknowledged: they must be kept in case they need retransmitting. Then comes the usable window: bytes the sender is allowed to send right now without waiting. Everything to the right is outside the window and must wait. The window size equals the in-flight bytes plus the usable bytes. When an ACK arrives, the boundary between the first two regions moves right and the usable window grows. If the receiver advertises a smaller window, the right edge stops moving; if it advertises zero, the sender stops completely and starts the persist timer.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the sender’s data as a long line of numbered bytes divided into four regions. On the far left are bytes already sent and acknowledged: the sender can free that buffer space. Next come bytes sent but not yet acknowledged: they must be kept in case they need retransmitting.
Then comes the usable window: bytes the sender is allowed to send right now without waiting. Everything to the right is outside the window and must wait. The window size equals the in-flight bytes plus the usable bytes.
When an ACK arrives, the boundary between the first two regions moves right and the usable window grows. If the receiver advertises a smaller window, the right edge stops moving; if it advertises zero, the sender stops completely and starts the persist timer.
Example: Window = 10 000 bytes, 6 000 in flight ⇒ 4 000 usable. An ACK for 3 000 bytes arrives with the same window ⇒ 3 000 in flight and 7 000 usable.
Remember: Window = in flight + usable. ACKs move the left edge; window advertisements move the right edge.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fat networks (LFNs) are where tuning matters most. Lab 2 explores this with tc netem.
Explanation for students: The bandwidth-delay product is the amount of data that fits “in the pipe” between sender and receiver: link capacity multiplied by round-trip time. To keep a link busy, the sender must have at least one BDP of data in flight at all times; otherwise it will sit idle waiting for ACKs. The BDP grows with both speed and distance. A 10 Mb/s link with a 20 ms RTT has a BDP of only 25 KB, but a 1 Gb/s link across a continent (80 ms) has a BDP of 10 MB — more than 150 times the maximum unscaled TCP window. This is why window scaling exists and why operating systems auto-tune socket buffers. If either the sender’s send buffer or the receiver’s receive buffer is smaller than the BDP, throughput will be limited no matter how much capacity the network has. Such paths are called long fat networks (LFNs).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bandwidth-delay product is the amount of data that fits “in the pipe” between sender and receiver: link capacity multiplied by round-trip time. To keep a link busy, the sender must have at least one BDP of data in flight at all times; otherwise it will sit idle waiting for ACKs.
The BDP grows with both speed and distance. A 10 Mb/s link with a 20 ms RTT has a BDP of only 25 KB, but a 1 Gb/s link across a continent (80 ms) has a BDP of 10 MB — more than 150 times the maximum unscaled TCP window.
This is why window scaling exists and why operating systems auto-tune socket buffers. If either the sender’s send buffer or the receiver’s receive buffer is smaller than the BDP, throughput will be limited no matter how much capacity the network has. Such paths are called long fat networks (LFNs).
Example: 1 Gb/s × 0.08 s = 80 000 000 bits = 10 MB. Needed window-scale shift: 10 MB / 64 KB ≈ 153 ⇒ shift of 8 (×256).
Remember: BDP = capacity × RTT. Buffers and windows must be at least the BDP to fill the link.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Zero-window events usually indicate a slow application, not a network problem — an important diagnostic distinction.
Explanation for students: If the receiving application stops reading (it is busy, blocked or slow), the receive buffer fills up and the receiver advertises rwnd = 0. The sender must then stop sending data entirely. There is a danger here: when the application finally reads data, the receiver sends a window update. That update is a pure ACK with no data, and TCP never retransmits pure ACKs. If it is lost, the sender waits for a window that never comes and the receiver waits for data that never comes — a deadlock. To prevent this the sender starts a persist timer and periodically sends a tiny zero-window probe. The receiver must answer each probe with its current window, so the sender eventually learns that space is available. The probe interval grows exponentially to avoid wasting bandwidth.</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receiving application stops reading (it is busy, blocked or slow), the receive buffer fills up and the receiver advertises rwnd = 0. The sender must then stop sending data entirely.
There is a danger here: when the application finally reads data, the receiver sends a window update. That update is a pure ACK with no data, and TCP never retransmits pure ACKs. If it is lost, the sender waits for a window that never comes and the receiver waits for data that never comes — a deadlock.
To prevent this the sender starts a persist timer and periodically sends a tiny zero-window probe. The receiver must answer each probe with its current window, so the sender eventually learns that space is available. The probe interval grows exponentially to avoid wasting bandwidth.
Example: In Wireshark you will see “TCP ZeroWindow” from the receiver, then “TCP ZeroWindowProbe” from the sender every 0.2, 0.4, 0.8 s…, followed by “TCP Window Update” when the application reads again.
Remember: Zero windows point to a slow receiving application, not to network congestion.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production bug: RPC frameworks with 200 ms latency spikes caused by Nagle plus delayed ACKs.
Explanation for students: Silly Window Syndrome happens when TCP ends up sending lots of tiny segments. On the receiver side, an application that reads one byte at a time causes the receiver to advertise a one-byte window; on the sender side, an application that writes one byte at a time causes one-byte segments. Each carries 40 bytes of headers, so efficiency collapses. Clark’s rule fixes the receiver side: do not advertise a window increase until it is at least one MSS or half the buffer. Nagle’s algorithm fixes the sender side: while any data is unacknowledged, collect small writes into one segment instead of sending each immediately. Nagle interacts badly with delayed ACKs (receivers wait up to 40–200 ms hoping to piggy-back the ACK on data). A request split into two small writes can then stall until the delayed ACK fires. Latency-sensitive applications (SSH, games, RPC) disable Nagle with the TCP_NODELAY socket option.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Silly Window Syndrome happens when TCP ends up sending lots of tiny segments. On the receiver side, an application that reads one byte at a time causes the receiver to advertise a one-byte window; on the sender side, an application that writes one byte at a time causes one-byte segments. Each carries 40 bytes of headers, so efficiency collapses.
Clark’s rule fixes the receiver side: do not advertise a window increase until it is at least one MSS or half the buffer. Nagle’s algorithm fixes the sender side: while any data is unacknowledged, collect small writes into one segment instead of sending each immediately.
Nagle interacts badly with delayed ACKs (receivers wait up to 40–200 ms hoping to piggy-back the ACK on data). A request split into two small writes can then stall until the delayed ACK fires. Latency-sensitive applications (SSH, games, RPC) disable Nagle with the TCP_NODELAY socket option.
Example: Typing in an SSH session sends one keystroke per segment — a 41-byte packet carrying 1 byte of data. With Nagle, keystrokes typed during one RTT are combined into one segment.
Remember: Small writes + Nagle + delayed ACK = mysterious 40–200 ms delays. TCP_NODELAY is the usual fix.</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live if a Linux VM is available.
Explanation for students: Linux exposes the internal state of every TCP connection. The command ss -tin prints, for each socket, the negotiated window scale (wscale), the current congestion window (cwnd), the smoothed RTT (rtt), and how much receive space the kernel has allocated (rcv_space). The tcp_rmem and tcp_wmem settings contain three values: minimum, default and maximum buffer size. The kernel automatically grows buffers between default and maximum as a connection needs them (auto-tuning). If the maximum is smaller than the BDP of your path, auto-tuning cannot help — that is when administrators raise net.core.rmem_max and the third tcp_rmem value. Wireshark adds its own analysis on top of a capture: filters such as tcp.analysis.zero_window or tcp.analysis.window_full find flow-control problems instantly, even in captures with millions of packets.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exposes the internal state of every TCP connection. The command ss -tin prints, for each socket, the negotiated window scale (wscale), the current congestion window (cwnd), the smoothed RTT (rtt), and how much receive space the kernel has allocated (rcv_space).
The tcp_rmem and tcp_wmem settings contain three values: minimum, default and maximum buffer size. The kernel automatically grows buffers between default and maximum as a connection needs them (auto-tuning). If the maximum is smaller than the BDP of your path, auto-tuning cannot help — that is when administrators raise net.core.rmem_max and the third tcp_rmem value.
Wireshark adds its own analysis on top of a capture: filters such as tcp.analysis.zero_window or tcp.analysis.window_full find flow-control problems instantly, even in captures with millions of packets.
Example: ss -tin output: “wscale:7,7 rtt:48.2/3.1 cwnd:120 rcv_space:262144” ⇒ scaling ×128 both ways, 48 ms RTT, 120 segments in the congestion window, 256 KB receive space.
Remember: Measure before tuning: ss for socket state, sysctl for buffer limits, Wireshark for evidence.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BDP = 2.5 MB; 2.5 MB / 65 535 ≈ 38.1 → shift 6 (×64) gives 4.19 MB; max ≈ 13.1 Mb/s; probes at ~0.2, 0.6, 1.4, 3.0 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2–3 minutes per question in pairs, then discuss answers as a group.</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have attempted the questions.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main points and answer final questions.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2D"/>
        </a:solidFill>
        <a:effectLst/>
      </p:bgPr>
    </p:bg>
    <p:spTree>
      <p:nvGrpSpPr>
        <p:cNvPr id="1" name=""/>
        <p:cNvGrpSpPr/>
        <p:nvPr/>
      </p:nvGrpSpPr>
      <p:grpSpPr>
        <a:xfrm>
          <a:off x="0" y="0"/>
          <a:ext cx="0" cy="0"/>
          <a:chOff x="0" y="0"/>
          <a:chExt cx="0" cy="0"/>
        </a:xfrm>
      </p:grpSpPr>
      <p:sp>
        <p:nvSpPr>
          <p:cNvPr id="2" name="Shape 0"/>
          <p:cNvSpPr/>
          <p:nvPr/>
        </p:nvSpPr>
        <p:spPr>
          <a:xfrm>
            <a:off x="7315200" y="914400"/>
            <a:ext cx="4754880" cy="4754880"/>
          </a:xfrm>
          <a:prstGeom prst="ellipse">
            <a:avLst/>
          </a:prstGeom>
          <a:solidFill>
            <a:srgbClr val="24384A">
              <a:alpha val="80000"/>
            </a:srgbClr>
          </a:solidFill>
          <a:ln w="12700">
            <a:solidFill>
              <a:srgbClr val="33506A"/>
            </a:solidFill>
            <a:prstDash val="solid"/>
          </a:ln>
        </p:spPr>
        <p:txBody>
          <a:bodyPr/>
          <a:lstStyle/>
          <a:p>
            <a:endParaRPr lang="en-LB"/>
          </a:p>
        </p:txBody>
      </p:sp>
      <p:sp>
        <p:nvSpPr>
          <p:cNvPr id="3" name="Shape 1"/>
          <p:cNvSpPr/>
          <p:nvPr/>
        </p:nvSpPr>
        <p:spPr>
          <a:xfrm>
            <a:off x="7955280" y="1554480"/>
            <a:ext cx="3474720" cy="3474720"/>
          </a:xfrm>
          <a:prstGeom prst="ellipse">
            <a:avLst/>
          </a:prstGeom>
          <a:solidFill>
            <a:srgbClr val="24384A">
              <a:alpha val="70000"/>
            </a:srgbClr>
          </a:solidFill>
          <a:ln w="12700">
            <a:solidFill>
              <a:srgbClr val="33506A"/>
            </a:solidFill>
            <a:prstDash val="solid"/>
          </a:ln>
        </p:spPr>
        <p:txBody>
          <a:bodyPr/>
          <a:lstStyle/>
          <a:p>
            <a:endParaRPr lang="en-LB"/>
          </a:p>
        </p:txBody>
      </p:sp>
      <p:sp>
        <p:nvSpPr>
          <p:cNvPr id="4" name="Shape 2"/>
          <p:cNvSpPr/>
          <p:nvPr/>
        </p:nvSpPr>
        <p:spPr>
          <a:xfrm>
            <a:off x="8595360" y="2194560"/>
            <a:ext cx="2194560" cy="2194560"/>
          </a:xfrm>
          <a:prstGeom prst="ellipse">
            <a:avLst/>
          </a:prstGeom>
          <a:solidFill>
            <a:srgbClr val="24384A">
              <a:alpha val="60000"/>
            </a:srgbClr>
          </a:solidFill>
          <a:ln w="12700">
            <a:solidFill>
              <a:srgbClr val="33506A"/>
            </a:solidFill>
            <a:prstDash val="solid"/>
          </a:ln>
        </p:spPr>
        <p:txBody>
          <a:bodyPr/>
          <a:lstStyle/>
          <a:p>
            <a:endParaRPr lang="en-LB"/>
          </a:p>
        </p:txBody>
      </p:sp>
      <p:sp>
        <p:nvSpPr>
          <p:cNvPr id="5" name="Shape 3"/>
          <p:cNvSpPr/>
          <p:nvPr/>
        </p:nvSpPr>
        <p:spPr>
          <a:xfrm>
            <a:off x="7955280" y="3017520"/>
            <a:ext cx="1737360" cy="274320"/>
          </a:xfrm>
          <a:prstGeom prst="line">
            <a:avLst/>
          </a:prstGeom>
          <a:noFill/>
          <a:ln w="19050">
            <a:solidFill>
              <a:srgbClr val="5E7C93"/>
            </a:solidFill>
            <a:prstDash val="solid"/>
          </a:ln>
        </p:spPr>
        <p:txBody>
          <a:bodyPr/>
          <a:lstStyle/>
          <a:p>
            <a:endParaRPr lang="en-LB"/>
          </a:p>
        </p:txBody>
      </p:sp>
      <p:sp>
        <p:nvSpPr>
          <p:cNvPr id="6" name="Shape 4"/>
          <p:cNvSpPr/>
          <p:nvPr/>
        </p:nvSpPr>
        <p:spPr>
          <a:xfrm flipV="1">
            <a:off x="9692640" y="1965960"/>
            <a:ext cx="1097280" cy="1325880"/>
          </a:xfrm>
          <a:prstGeom prst="line">
            <a:avLst/>
          </a:prstGeom>
          <a:noFill/>
          <a:ln w="19050">
            <a:solidFill>
              <a:srgbClr val="5E7C93"/>
            </a:solidFill>
            <a:prstDash val="solid"/>
          </a:ln>
        </p:spPr>
        <p:txBody>
          <a:bodyPr/>
          <a:lstStyle/>
          <a:p>
            <a:endParaRPr lang="en-LB"/>
          </a:p>
        </p:txBody>
      </p:sp>
      <p:sp>
        <p:nvSpPr>
          <p:cNvPr id="7" name="Shape 5"/>
          <p:cNvSpPr/>
          <p:nvPr/>
        </p:nvSpPr>
        <p:spPr>
          <a:xfrm>
            <a:off x="9692640" y="3291840"/>
            <a:ext cx="1463040" cy="1188720"/>
          </a:xfrm>
          <a:prstGeom prst="line">
            <a:avLst/>
          </a:prstGeom>
          <a:noFill/>
          <a:ln w="19050">
            <a:solidFill>
              <a:srgbClr val="5E7C93"/>
            </a:solidFill>
            <a:prstDash val="solid"/>
          </a:ln>
        </p:spPr>
        <p:txBody>
          <a:bodyPr/>
          <a:lstStyle/>
          <a:p>
            <a:endParaRPr lang="en-LB"/>
          </a:p>
        </p:txBody>
      </p:sp>
      <p:sp>
        <p:nvSpPr>
          <p:cNvPr id="8" name="Shape 6"/>
          <p:cNvSpPr/>
          <p:nvPr/>
        </p:nvSpPr>
        <p:spPr>
          <a:xfrm flipV="1">
            <a:off x="9144000" y="3291840"/>
            <a:ext cx="548640" cy="1645920"/>
          </a:xfrm>
          <a:prstGeom prst="line">
            <a:avLst/>
          </a:prstGeom>
          <a:noFill/>
          <a:ln w="19050">
            <a:solidFill>
              <a:srgbClr val="5E7C93"/>
            </a:solidFill>
            <a:prstDash val="solid"/>
          </a:ln>
        </p:spPr>
        <p:txBody>
          <a:bodyPr/>
          <a:lstStyle/>
          <a:p>
            <a:endParaRPr lang="en-LB"/>
          </a:p>
        </p:txBody>
      </p:sp>
      <p:sp>
        <p:nvSpPr>
          <p:cNvPr id="9" name="Shape 7"/>
          <p:cNvSpPr/>
          <p:nvPr/>
        </p:nvSpPr>
        <p:spPr>
          <a:xfrm>
            <a:off x="9235440" y="2834640"/>
            <a:ext cx="914400" cy="914400"/>
          </a:xfrm>
          <a:prstGeom prst="ellipse">
            <a:avLst/>
          </a:prstGeom>
          <a:solidFill>
            <a:srgbClr val="E8772E"/>
          </a:solidFill>
          <a:ln w="12700">
            <a:solidFill>
              <a:srgbClr val="E8772E"/>
            </a:solidFill>
            <a:prstDash val="solid"/>
          </a:ln>
        </p:spPr>
        <p:txBody>
          <a:bodyPr/>
          <a:lstStyle/>
          <a:p>
            <a:endParaRPr lang="en-LB"/>
          </a:p>
        </p:txBody>
      </p:sp>
      <p:sp>
        <p:nvSpPr>
          <p:cNvPr id="10" name="Shape 8"/>
          <p:cNvSpPr/>
          <p:nvPr/>
        </p:nvSpPr>
        <p:spPr>
          <a:xfrm>
            <a:off x="7699248" y="2761488"/>
            <a:ext cx="512064" cy="512064"/>
          </a:xfrm>
          <a:prstGeom prst="ellipse">
            <a:avLst/>
          </a:prstGeom>
          <a:solidFill>
            <a:srgbClr val="0E8C7F"/>
          </a:solidFill>
          <a:ln w="12700">
            <a:solidFill>
              <a:srgbClr val="0E8C7F"/>
            </a:solidFill>
            <a:prstDash val="solid"/>
          </a:ln>
        </p:spPr>
        <p:txBody>
          <a:bodyPr/>
          <a:lstStyle/>
          <a:p>
            <a:endParaRPr lang="en-LB"/>
          </a:p>
        </p:txBody>
      </p:sp>
      <p:sp>
        <p:nvSpPr>
          <p:cNvPr id="11" name="Shape 9"/>
          <p:cNvSpPr/>
          <p:nvPr/>
        </p:nvSpPr>
        <p:spPr>
          <a:xfrm>
            <a:off x="10533888" y="1709928"/>
            <a:ext cx="512064" cy="512064"/>
          </a:xfrm>
          <a:prstGeom prst="ellipse">
            <a:avLst/>
          </a:prstGeom>
          <a:solidFill>
            <a:srgbClr val="0E8C7F"/>
          </a:solidFill>
          <a:ln w="12700">
            <a:solidFill>
              <a:srgbClr val="0E8C7F"/>
            </a:solidFill>
            <a:prstDash val="solid"/>
          </a:ln>
        </p:spPr>
        <p:txBody>
          <a:bodyPr/>
          <a:lstStyle/>
          <a:p>
            <a:endParaRPr lang="en-LB"/>
          </a:p>
        </p:txBody>
      </p:sp>
      <p:sp>
        <p:nvSpPr>
          <p:cNvPr id="12" name="Shape 10"/>
          <p:cNvSpPr/>
          <p:nvPr/>
        </p:nvSpPr>
        <p:spPr>
          <a:xfrm>
            <a:off x="10899648" y="4224528"/>
            <a:ext cx="512064" cy="512064"/>
          </a:xfrm>
          <a:prstGeom prst="ellipse">
            <a:avLst/>
          </a:prstGeom>
          <a:solidFill>
            <a:srgbClr val="0E8C7F"/>
          </a:solidFill>
          <a:ln w="12700">
            <a:solidFill>
              <a:srgbClr val="0E8C7F"/>
            </a:solidFill>
            <a:prstDash val="solid"/>
          </a:ln>
        </p:spPr>
        <p:txBody>
          <a:bodyPr/>
          <a:lstStyle/>
          <a:p>
            <a:endParaRPr lang="en-LB"/>
          </a:p>
        </p:txBody>
      </p:sp>
      <p:sp>
        <p:nvSpPr>
          <p:cNvPr id="13" name="Shape 11"/>
          <p:cNvSpPr/>
          <p:nvPr/>
        </p:nvSpPr>
        <p:spPr>
          <a:xfrm>
            <a:off x="8942832" y="4736592"/>
            <a:ext cx="402336" cy="402336"/>
          </a:xfrm>
          <a:prstGeom prst="ellipse">
            <a:avLst/>
          </a:prstGeom>
          <a:solidFill>
            <a:srgbClr val="FFFFFF"/>
          </a:solidFill>
          <a:ln w="12700">
            <a:solidFill>
              <a:srgbClr val="FFFFFF"/>
            </a:solidFill>
            <a:prstDash val="solid"/>
          </a:ln>
        </p:spPr>
        <p:txBody>
          <a:bodyPr/>
          <a:lstStyle/>
          <a:p>
            <a:endParaRPr lang="en-LB"/>
          </a:p>
        </p:txBody>
      </p:sp>
      <p:sp>
        <p:nvSpPr>
          <p:cNvPr id="14" name="Text 12"/>
          <p:cNvSpPr txBox="1"/>
          <p:nvPr/>
        </p:nvSpPr>
        <p:spPr>
          <a:xfrm>
            <a:off x="548640" y="640080"/>
            <a:ext cx="6949440" cy="365760"/>
          </a:xfrm>
          <a:prstGeom prst="rect">
            <a:avLst/>
          </a:prstGeom>
          <a:noFill/>
          <a:ln/>
        </p:spPr>
        <p:txBody>
          <a:bodyPr wrap="square" lIns="0" tIns="0" rIns="0" bIns="0" rtlCol="0" anchor="ctr"/>
          <a:lstStyle/>
          <a:p>
            <a:pPr marL="0" indent="0">
              <a:buNone/>
            </a:pPr>
            <a:r>
              <a:rPr lang="en-US" sz="1400" dirty="0">
                <a:solidFill>
                  <a:srgbClr val="9FB0BD"/>
                </a:solidFill>
                <a:latin typeface="Calibri" pitchFamily="34" charset="0"/>
                <a:ea typeface="Calibri" pitchFamily="34" charset="-122"/>
                <a:cs typeface="Calibri" pitchFamily="34" charset="-120"/>
              </a:rPr>
              <a:t>IN403  ·  Advanced Network Protocols, Architectures &amp; Security</a:t>
            </a:r>
            <a:endParaRPr lang="en-US" sz="1400" dirty="0"/>
          </a:p>
        </p:txBody>
      </p:sp>
      <p:sp>
        <p:nvSpPr>
          <p:cNvPr id="15" name="Shape 13"/>
          <p:cNvSpPr/>
          <p:nvPr/>
        </p:nvSpPr>
        <p:spPr>
          <a:xfrm>
            <a:off x="548640" y="1463040"/>
            <a:ext cx="2194560" cy="457200"/>
          </a:xfrm>
          <a:prstGeom prst="roundRect">
            <a:avLst>
              <a:gd name="adj" fmla="val 50000"/>
            </a:avLst>
          </a:prstGeom>
          <a:solidFill>
            <a:srgbClr val="E8772E"/>
          </a:solidFill>
          <a:ln/>
        </p:spPr>
        <p:txBody>
          <a:bodyPr/>
          <a:lstStyle/>
          <a:p>
            <a:endParaRPr lang="en-LB"/>
          </a:p>
        </p:txBody>
      </p:sp>
      <p:sp>
        <p:nvSpPr>
          <p:cNvPr id="16" name="Text 14"/>
          <p:cNvSpPr txBox="1"/>
          <p:nvPr/>
        </p:nvSpPr>
        <p:spPr>
          <a:xfrm>
            <a:off x="548640" y="1463040"/>
            <a:ext cx="21945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LECTURE 01  ·  2 HOURS</a:t>
            </a:r>
            <a:endParaRPr lang="en-US" sz="1200" dirty="0"/>
          </a:p>
        </p:txBody>
      </p:sp>
      <p:sp>
        <p:nvSpPr>
          <p:cNvPr id="17" name="Text 15"/>
          <p:cNvSpPr txBox="1"/>
          <p:nvPr/>
        </p:nvSpPr>
        <p:spPr>
          <a:xfrm>
            <a:off x="548640" y="2148840"/>
            <a:ext cx="6766560" cy="1920240"/>
          </a:xfrm>
          <a:prstGeom prst="rect">
            <a:avLst/>
          </a:prstGeom>
          <a:noFill/>
          <a:ln/>
        </p:spPr>
        <p:txBody>
          <a:bodyPr wrap="square" lIns="0" tIns="0" rIns="0" bIns="0" rtlCol="0" anchor="t">
            <a:normAutofit/>
          </a:bodyPr>
          <a:lstStyle/>
          <a:p>
            <a:pPr marL="0" indent="0">
              <a:buNone/>
            </a:pPr>
            <a:r>
              <a:rPr lang="en-US" sz="3800" b="1" dirty="0">
                <a:solidFill>
                  <a:srgbClr val="FFFFFF"/>
                </a:solidFill>
                <a:latin typeface="Arial" pitchFamily="34" charset="0"/>
                <a:ea typeface="Arial" pitchFamily="34" charset="-122"/>
                <a:cs typeface="Arial" pitchFamily="34" charset="-120"/>
              </a:rPr>
              <a:t>TCP/IP Deep Dive I: Reliable Transport &amp; Flow Control</a:t>
            </a:r>
            <a:endParaRPr lang="en-US" sz="3800" dirty="0"/>
          </a:p>
        </p:txBody>
      </p:sp>
      <p:sp>
        <p:nvSpPr>
          <p:cNvPr id="18" name="Text 16"/>
          <p:cNvSpPr txBox="1"/>
          <p:nvPr/>
        </p:nvSpPr>
        <p:spPr>
          <a:xfrm>
            <a:off x="548640" y="4160520"/>
            <a:ext cx="6583680" cy="914400"/>
          </a:xfrm>
          <a:prstGeom prst="rect">
            <a:avLst/>
          </a:prstGeom>
          <a:noFill/>
          <a:ln/>
        </p:spPr>
        <p:txBody>
          <a:bodyPr wrap="square" lIns="0" tIns="0" rIns="0" bIns="0" rtlCol="0" anchor="t"/>
          <a:lstStyle/>
          <a:p>
            <a:pPr marL="0" indent="0">
              <a:buNone/>
            </a:pPr>
            <a:r>
              <a:rPr lang="en-US" sz="1800" dirty="0">
                <a:solidFill>
                  <a:srgbClr val="C7D3DC"/>
                </a:solidFill>
                <a:latin typeface="Calibri" pitchFamily="34" charset="0"/>
                <a:ea typeface="Calibri" pitchFamily="34" charset="-122"/>
                <a:cs typeface="Calibri" pitchFamily="34" charset="-120"/>
              </a:rPr>
              <a:t>Course kickoff, TCP segment anatomy, connection management and the sliding-window flow-control machinery</a:t>
            </a:r>
            <a:endParaRPr lang="en-US" sz="1800" dirty="0"/>
          </a:p>
        </p:txBody>
      </p:sp>
      <p:sp>
        <p:nvSpPr>
          <p:cNvPr id="19" name="Text 17"/>
          <p:cNvSpPr txBox="1"/>
          <p:nvPr/>
        </p:nvSpPr>
        <p:spPr>
          <a:xfrm>
            <a:off x="548640" y="5669280"/>
            <a:ext cx="6766560" cy="365760"/>
          </a:xfrm>
          <a:prstGeom prst="rect">
            <a:avLst/>
          </a:prstGeom>
          <a:noFill/>
          <a:ln/>
        </p:spPr>
        <p:txBody>
          <a:bodyPr wrap="square" lIns="0" tIns="0" rIns="0" bIns="0" rtlCol="0" anchor="ctr"/>
          <a:lstStyle/>
          <a:p>
            <a:pPr marL="0" indent="0">
              <a:buNone/>
            </a:pPr>
            <a:r>
              <a:rPr lang="en-US" sz="1300" i="1" dirty="0">
                <a:solidFill>
                  <a:srgbClr val="9FB0BD"/>
                </a:solidFill>
                <a:latin typeface="Calibri" pitchFamily="34" charset="0"/>
                <a:ea typeface="Calibri" pitchFamily="34" charset="-122"/>
                <a:cs typeface="Calibri" pitchFamily="34" charset="-120"/>
              </a:rPr>
              <a:t>Course topic: TCP/IP Deep Dive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Learning objectives</a:t>
            </a:r>
            <a:endParaRPr lang="en-US" sz="3000" dirty="0"/>
          </a:p>
        </p:txBody>
      </p:sp>
      <p:sp>
        <p:nvSpPr>
          <p:cNvPr id="3" name="Text 1"/>
          <p:cNvSpPr txBox="1"/>
          <p:nvPr/>
        </p:nvSpPr>
        <p:spPr>
          <a:xfrm>
            <a:off x="548640" y="1188720"/>
            <a:ext cx="9144000" cy="365760"/>
          </a:xfrm>
          <a:prstGeom prst="rect">
            <a:avLst/>
          </a:prstGeom>
          <a:noFill/>
          <a:ln/>
        </p:spPr>
        <p:txBody>
          <a:bodyPr wrap="square" lIns="0" tIns="0" rIns="0" bIns="0" rtlCol="0" anchor="ctr"/>
          <a:lstStyle/>
          <a:p>
            <a:pPr marL="0" indent="0">
              <a:buNone/>
            </a:pPr>
            <a:r>
              <a:rPr lang="en-US" sz="1600" dirty="0">
                <a:solidFill>
                  <a:srgbClr val="5B6B78"/>
                </a:solidFill>
                <a:latin typeface="Calibri" pitchFamily="34" charset="0"/>
                <a:ea typeface="Calibri" pitchFamily="34" charset="-122"/>
                <a:cs typeface="Calibri" pitchFamily="34" charset="-120"/>
              </a:rPr>
              <a:t>By the end of this session you will be able to:</a:t>
            </a:r>
            <a:endParaRPr lang="en-US" sz="1600" dirty="0"/>
          </a:p>
        </p:txBody>
      </p:sp>
      <p:sp>
        <p:nvSpPr>
          <p:cNvPr id="4" name="Shape 2"/>
          <p:cNvSpPr/>
          <p:nvPr/>
        </p:nvSpPr>
        <p:spPr>
          <a:xfrm>
            <a:off x="548640" y="1828800"/>
            <a:ext cx="502920" cy="502920"/>
          </a:xfrm>
          <a:prstGeom prst="ellipse">
            <a:avLst/>
          </a:prstGeom>
          <a:solidFill>
            <a:srgbClr val="E8772E"/>
          </a:solidFill>
          <a:ln/>
        </p:spPr>
        <p:txBody>
          <a:bodyPr/>
          <a:lstStyle/>
          <a:p>
            <a:endParaRPr lang="en-LB"/>
          </a:p>
        </p:txBody>
      </p:sp>
      <p:sp>
        <p:nvSpPr>
          <p:cNvPr id="5" name="Text 3"/>
          <p:cNvSpPr txBox="1"/>
          <p:nvPr/>
        </p:nvSpPr>
        <p:spPr>
          <a:xfrm>
            <a:off x="548640" y="18288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783080"/>
            <a:ext cx="10362895" cy="594360"/>
          </a:xfrm>
          <a:prstGeom prst="rect">
            <a:avLst/>
          </a:prstGeom>
          <a:noFill/>
          <a:ln/>
        </p:spPr>
        <p:txBody>
          <a:bodyPr wrap="square" lIns="0" tIns="0" rIns="0" bIns="0" rtlCol="0" anchor="ctr"/>
          <a:lstStyle/>
          <a:p>
            <a:pPr marL="0" indent="0">
              <a:buNone/>
            </a:pPr>
            <a:r>
              <a:rPr lang="en-US" sz="1800" dirty="0">
                <a:solidFill>
                  <a:srgbClr val="1F2A33"/>
                </a:solidFill>
                <a:latin typeface="Calibri" pitchFamily="34" charset="0"/>
                <a:ea typeface="Calibri" pitchFamily="34" charset="-122"/>
                <a:cs typeface="Calibri" pitchFamily="34" charset="-120"/>
              </a:rPr>
              <a:t>Explain the course structure, assessment and lab tooling</a:t>
            </a:r>
            <a:endParaRPr lang="en-US" sz="1800" dirty="0"/>
          </a:p>
        </p:txBody>
      </p:sp>
      <p:sp>
        <p:nvSpPr>
          <p:cNvPr id="7" name="Shape 5"/>
          <p:cNvSpPr/>
          <p:nvPr/>
        </p:nvSpPr>
        <p:spPr>
          <a:xfrm>
            <a:off x="548640" y="2743200"/>
            <a:ext cx="502920" cy="502920"/>
          </a:xfrm>
          <a:prstGeom prst="ellipse">
            <a:avLst/>
          </a:prstGeom>
          <a:solidFill>
            <a:srgbClr val="0E8C7F"/>
          </a:solidFill>
          <a:ln/>
        </p:spPr>
        <p:txBody>
          <a:bodyPr/>
          <a:lstStyle/>
          <a:p>
            <a:endParaRPr lang="en-LB"/>
          </a:p>
        </p:txBody>
      </p:sp>
      <p:sp>
        <p:nvSpPr>
          <p:cNvPr id="8" name="Text 6"/>
          <p:cNvSpPr txBox="1"/>
          <p:nvPr/>
        </p:nvSpPr>
        <p:spPr>
          <a:xfrm>
            <a:off x="548640" y="2743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1280160" y="2697480"/>
            <a:ext cx="10362895" cy="594360"/>
          </a:xfrm>
          <a:prstGeom prst="rect">
            <a:avLst/>
          </a:prstGeom>
          <a:noFill/>
          <a:ln/>
        </p:spPr>
        <p:txBody>
          <a:bodyPr wrap="square" lIns="0" tIns="0" rIns="0" bIns="0" rtlCol="0" anchor="ctr"/>
          <a:lstStyle/>
          <a:p>
            <a:pPr marL="0" indent="0">
              <a:buNone/>
            </a:pPr>
            <a:r>
              <a:rPr lang="en-US" sz="1800" dirty="0">
                <a:solidFill>
                  <a:srgbClr val="1F2A33"/>
                </a:solidFill>
                <a:latin typeface="Calibri" pitchFamily="34" charset="0"/>
                <a:ea typeface="Calibri" pitchFamily="34" charset="-122"/>
                <a:cs typeface="Calibri" pitchFamily="34" charset="-120"/>
              </a:rPr>
              <a:t>Dissect the TCP header and explain the purpose of every field and key option</a:t>
            </a:r>
            <a:endParaRPr lang="en-US" sz="1800" dirty="0"/>
          </a:p>
        </p:txBody>
      </p:sp>
      <p:sp>
        <p:nvSpPr>
          <p:cNvPr id="10" name="Shape 8"/>
          <p:cNvSpPr/>
          <p:nvPr/>
        </p:nvSpPr>
        <p:spPr>
          <a:xfrm>
            <a:off x="548640" y="3657600"/>
            <a:ext cx="502920" cy="502920"/>
          </a:xfrm>
          <a:prstGeom prst="ellipse">
            <a:avLst/>
          </a:prstGeom>
          <a:solidFill>
            <a:srgbClr val="E8772E"/>
          </a:solidFill>
          <a:ln/>
        </p:spPr>
        <p:txBody>
          <a:bodyPr/>
          <a:lstStyle/>
          <a:p>
            <a:endParaRPr lang="en-LB"/>
          </a:p>
        </p:txBody>
      </p:sp>
      <p:sp>
        <p:nvSpPr>
          <p:cNvPr id="11" name="Text 9"/>
          <p:cNvSpPr txBox="1"/>
          <p:nvPr/>
        </p:nvSpPr>
        <p:spPr>
          <a:xfrm>
            <a:off x="548640" y="36576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txBox="1"/>
          <p:nvPr/>
        </p:nvSpPr>
        <p:spPr>
          <a:xfrm>
            <a:off x="1280160" y="3611880"/>
            <a:ext cx="10362895" cy="594360"/>
          </a:xfrm>
          <a:prstGeom prst="rect">
            <a:avLst/>
          </a:prstGeom>
          <a:noFill/>
          <a:ln/>
        </p:spPr>
        <p:txBody>
          <a:bodyPr wrap="square" lIns="0" tIns="0" rIns="0" bIns="0" rtlCol="0" anchor="ctr"/>
          <a:lstStyle/>
          <a:p>
            <a:pPr marL="0" indent="0">
              <a:buNone/>
            </a:pPr>
            <a:r>
              <a:rPr lang="en-US" sz="1800" dirty="0">
                <a:solidFill>
                  <a:srgbClr val="1F2A33"/>
                </a:solidFill>
                <a:latin typeface="Calibri" pitchFamily="34" charset="0"/>
                <a:ea typeface="Calibri" pitchFamily="34" charset="-122"/>
                <a:cs typeface="Calibri" pitchFamily="34" charset="-120"/>
              </a:rPr>
              <a:t>Trace connection establishment, teardown and the TCP state machine</a:t>
            </a:r>
            <a:endParaRPr lang="en-US" sz="1800" dirty="0"/>
          </a:p>
        </p:txBody>
      </p:sp>
      <p:sp>
        <p:nvSpPr>
          <p:cNvPr id="13" name="Shape 11"/>
          <p:cNvSpPr/>
          <p:nvPr/>
        </p:nvSpPr>
        <p:spPr>
          <a:xfrm>
            <a:off x="548640" y="4572000"/>
            <a:ext cx="502920" cy="502920"/>
          </a:xfrm>
          <a:prstGeom prst="ellipse">
            <a:avLst/>
          </a:prstGeom>
          <a:solidFill>
            <a:srgbClr val="0E8C7F"/>
          </a:solidFill>
          <a:ln/>
        </p:spPr>
        <p:txBody>
          <a:bodyPr/>
          <a:lstStyle/>
          <a:p>
            <a:endParaRPr lang="en-LB"/>
          </a:p>
        </p:txBody>
      </p:sp>
      <p:sp>
        <p:nvSpPr>
          <p:cNvPr id="14" name="Text 12"/>
          <p:cNvSpPr txBox="1"/>
          <p:nvPr/>
        </p:nvSpPr>
        <p:spPr>
          <a:xfrm>
            <a:off x="548640" y="45720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txBox="1"/>
          <p:nvPr/>
        </p:nvSpPr>
        <p:spPr>
          <a:xfrm>
            <a:off x="1280160" y="4526280"/>
            <a:ext cx="10362895" cy="594360"/>
          </a:xfrm>
          <a:prstGeom prst="rect">
            <a:avLst/>
          </a:prstGeom>
          <a:noFill/>
          <a:ln/>
        </p:spPr>
        <p:txBody>
          <a:bodyPr wrap="square" lIns="0" tIns="0" rIns="0" bIns="0" rtlCol="0" anchor="ctr"/>
          <a:lstStyle/>
          <a:p>
            <a:pPr marL="0" indent="0">
              <a:buNone/>
            </a:pPr>
            <a:r>
              <a:rPr lang="en-US" sz="1800" dirty="0">
                <a:solidFill>
                  <a:srgbClr val="1F2A33"/>
                </a:solidFill>
                <a:latin typeface="Calibri" pitchFamily="34" charset="0"/>
                <a:ea typeface="Calibri" pitchFamily="34" charset="-122"/>
                <a:cs typeface="Calibri" pitchFamily="34" charset="-120"/>
              </a:rPr>
              <a:t>Describe sliding-window flow control, the receive window and window scaling</a:t>
            </a:r>
            <a:endParaRPr lang="en-US" sz="1800" dirty="0"/>
          </a:p>
        </p:txBody>
      </p:sp>
      <p:sp>
        <p:nvSpPr>
          <p:cNvPr id="16" name="Shape 14"/>
          <p:cNvSpPr/>
          <p:nvPr/>
        </p:nvSpPr>
        <p:spPr>
          <a:xfrm>
            <a:off x="548640" y="5486400"/>
            <a:ext cx="502920" cy="502920"/>
          </a:xfrm>
          <a:prstGeom prst="ellipse">
            <a:avLst/>
          </a:prstGeom>
          <a:solidFill>
            <a:srgbClr val="E8772E"/>
          </a:solidFill>
          <a:ln/>
        </p:spPr>
        <p:txBody>
          <a:bodyPr/>
          <a:lstStyle/>
          <a:p>
            <a:endParaRPr lang="en-LB"/>
          </a:p>
        </p:txBody>
      </p:sp>
      <p:sp>
        <p:nvSpPr>
          <p:cNvPr id="17" name="Text 15"/>
          <p:cNvSpPr txBox="1"/>
          <p:nvPr/>
        </p:nvSpPr>
        <p:spPr>
          <a:xfrm>
            <a:off x="548640" y="54864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280160" y="5440680"/>
            <a:ext cx="10362895" cy="594360"/>
          </a:xfrm>
          <a:prstGeom prst="rect">
            <a:avLst/>
          </a:prstGeom>
          <a:noFill/>
          <a:ln/>
        </p:spPr>
        <p:txBody>
          <a:bodyPr wrap="square" lIns="0" tIns="0" rIns="0" bIns="0" rtlCol="0" anchor="ctr"/>
          <a:lstStyle/>
          <a:p>
            <a:pPr marL="0" indent="0">
              <a:buNone/>
            </a:pPr>
            <a:r>
              <a:rPr lang="en-US" sz="1800" dirty="0">
                <a:solidFill>
                  <a:srgbClr val="1F2A33"/>
                </a:solidFill>
                <a:latin typeface="Calibri" pitchFamily="34" charset="0"/>
                <a:ea typeface="Calibri" pitchFamily="34" charset="-122"/>
                <a:cs typeface="Calibri" pitchFamily="34" charset="-120"/>
              </a:rPr>
              <a:t>Diagnose zero-window, silly-window syndrome and Nagle/delayed-ACK interactions</a:t>
            </a:r>
            <a:endParaRPr lang="en-US" sz="1800" dirty="0"/>
          </a:p>
        </p:txBody>
      </p:sp>
      <p:sp>
        <p:nvSpPr>
          <p:cNvPr id="19" name="Text 17"/>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20" name="Text 18"/>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Session plan (120 minutes)</a:t>
            </a:r>
            <a:endParaRPr lang="en-US" sz="3000" dirty="0"/>
          </a:p>
        </p:txBody>
      </p:sp>
      <p:sp>
        <p:nvSpPr>
          <p:cNvPr id="3" name="Shape 1"/>
          <p:cNvSpPr/>
          <p:nvPr/>
        </p:nvSpPr>
        <p:spPr>
          <a:xfrm>
            <a:off x="548640" y="1508760"/>
            <a:ext cx="887959" cy="411480"/>
          </a:xfrm>
          <a:prstGeom prst="rect">
            <a:avLst/>
          </a:prstGeom>
          <a:solidFill>
            <a:srgbClr val="E8772E"/>
          </a:solidFill>
          <a:ln/>
        </p:spPr>
        <p:txBody>
          <a:bodyPr/>
          <a:lstStyle/>
          <a:p>
            <a:endParaRPr lang="en-LB"/>
          </a:p>
        </p:txBody>
      </p:sp>
      <p:sp>
        <p:nvSpPr>
          <p:cNvPr id="4" name="Text 2"/>
          <p:cNvSpPr txBox="1"/>
          <p:nvPr/>
        </p:nvSpPr>
        <p:spPr>
          <a:xfrm>
            <a:off x="548640" y="1508760"/>
            <a:ext cx="887959"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5" name="Shape 3"/>
          <p:cNvSpPr/>
          <p:nvPr/>
        </p:nvSpPr>
        <p:spPr>
          <a:xfrm>
            <a:off x="1473175" y="1508760"/>
            <a:ext cx="2274761" cy="411480"/>
          </a:xfrm>
          <a:prstGeom prst="rect">
            <a:avLst/>
          </a:prstGeom>
          <a:solidFill>
            <a:srgbClr val="0E8C7F"/>
          </a:solidFill>
          <a:ln/>
        </p:spPr>
        <p:txBody>
          <a:bodyPr/>
          <a:lstStyle/>
          <a:p>
            <a:endParaRPr lang="en-LB"/>
          </a:p>
        </p:txBody>
      </p:sp>
      <p:sp>
        <p:nvSpPr>
          <p:cNvPr id="6" name="Text 4"/>
          <p:cNvSpPr txBox="1"/>
          <p:nvPr/>
        </p:nvSpPr>
        <p:spPr>
          <a:xfrm>
            <a:off x="1473175" y="1508760"/>
            <a:ext cx="2274761"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
        <p:nvSpPr>
          <p:cNvPr id="7" name="Shape 5"/>
          <p:cNvSpPr/>
          <p:nvPr/>
        </p:nvSpPr>
        <p:spPr>
          <a:xfrm>
            <a:off x="3784511" y="1508760"/>
            <a:ext cx="2274761" cy="411480"/>
          </a:xfrm>
          <a:prstGeom prst="rect">
            <a:avLst/>
          </a:prstGeom>
          <a:solidFill>
            <a:srgbClr val="24384A"/>
          </a:solidFill>
          <a:ln/>
        </p:spPr>
        <p:txBody>
          <a:bodyPr/>
          <a:lstStyle/>
          <a:p>
            <a:endParaRPr lang="en-LB"/>
          </a:p>
        </p:txBody>
      </p:sp>
      <p:sp>
        <p:nvSpPr>
          <p:cNvPr id="8" name="Text 6"/>
          <p:cNvSpPr txBox="1"/>
          <p:nvPr/>
        </p:nvSpPr>
        <p:spPr>
          <a:xfrm>
            <a:off x="3784511" y="1508760"/>
            <a:ext cx="2274761"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
        <p:nvSpPr>
          <p:cNvPr id="9" name="Shape 7"/>
          <p:cNvSpPr/>
          <p:nvPr/>
        </p:nvSpPr>
        <p:spPr>
          <a:xfrm>
            <a:off x="6095848" y="1508760"/>
            <a:ext cx="887959" cy="411480"/>
          </a:xfrm>
          <a:prstGeom prst="rect">
            <a:avLst/>
          </a:prstGeom>
          <a:solidFill>
            <a:srgbClr val="4F6D85"/>
          </a:solidFill>
          <a:ln/>
        </p:spPr>
        <p:txBody>
          <a:bodyPr/>
          <a:lstStyle/>
          <a:p>
            <a:endParaRPr lang="en-LB"/>
          </a:p>
        </p:txBody>
      </p:sp>
      <p:sp>
        <p:nvSpPr>
          <p:cNvPr id="10" name="Text 8"/>
          <p:cNvSpPr txBox="1"/>
          <p:nvPr/>
        </p:nvSpPr>
        <p:spPr>
          <a:xfrm>
            <a:off x="6095848" y="1508760"/>
            <a:ext cx="887959"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11" name="Shape 9"/>
          <p:cNvSpPr/>
          <p:nvPr/>
        </p:nvSpPr>
        <p:spPr>
          <a:xfrm>
            <a:off x="7020382" y="1508760"/>
            <a:ext cx="2737028" cy="411480"/>
          </a:xfrm>
          <a:prstGeom prst="rect">
            <a:avLst/>
          </a:prstGeom>
          <a:solidFill>
            <a:srgbClr val="B35A1F"/>
          </a:solidFill>
          <a:ln/>
        </p:spPr>
        <p:txBody>
          <a:bodyPr/>
          <a:lstStyle/>
          <a:p>
            <a:endParaRPr lang="en-LB"/>
          </a:p>
        </p:txBody>
      </p:sp>
      <p:sp>
        <p:nvSpPr>
          <p:cNvPr id="12" name="Text 10"/>
          <p:cNvSpPr txBox="1"/>
          <p:nvPr/>
        </p:nvSpPr>
        <p:spPr>
          <a:xfrm>
            <a:off x="7020382" y="1508760"/>
            <a:ext cx="273702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30′</a:t>
            </a:r>
            <a:endParaRPr lang="en-US" sz="1200" dirty="0"/>
          </a:p>
        </p:txBody>
      </p:sp>
      <p:sp>
        <p:nvSpPr>
          <p:cNvPr id="13" name="Shape 11"/>
          <p:cNvSpPr/>
          <p:nvPr/>
        </p:nvSpPr>
        <p:spPr>
          <a:xfrm>
            <a:off x="9793986" y="1508760"/>
            <a:ext cx="1072866" cy="411480"/>
          </a:xfrm>
          <a:prstGeom prst="rect">
            <a:avLst/>
          </a:prstGeom>
          <a:solidFill>
            <a:srgbClr val="0A6A60"/>
          </a:solidFill>
          <a:ln/>
        </p:spPr>
        <p:txBody>
          <a:bodyPr/>
          <a:lstStyle/>
          <a:p>
            <a:endParaRPr lang="en-LB"/>
          </a:p>
        </p:txBody>
      </p:sp>
      <p:sp>
        <p:nvSpPr>
          <p:cNvPr id="14" name="Text 12"/>
          <p:cNvSpPr txBox="1"/>
          <p:nvPr/>
        </p:nvSpPr>
        <p:spPr>
          <a:xfrm>
            <a:off x="9793986" y="1508760"/>
            <a:ext cx="1072866"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12′</a:t>
            </a:r>
            <a:endParaRPr lang="en-US" sz="1200" dirty="0"/>
          </a:p>
        </p:txBody>
      </p:sp>
      <p:sp>
        <p:nvSpPr>
          <p:cNvPr id="15" name="Shape 13"/>
          <p:cNvSpPr/>
          <p:nvPr/>
        </p:nvSpPr>
        <p:spPr>
          <a:xfrm>
            <a:off x="10903428" y="1508760"/>
            <a:ext cx="703052" cy="411480"/>
          </a:xfrm>
          <a:prstGeom prst="rect">
            <a:avLst/>
          </a:prstGeom>
          <a:solidFill>
            <a:srgbClr val="6E8596"/>
          </a:solidFill>
          <a:ln/>
        </p:spPr>
        <p:txBody>
          <a:bodyPr/>
          <a:lstStyle/>
          <a:p>
            <a:endParaRPr lang="en-LB"/>
          </a:p>
        </p:txBody>
      </p:sp>
      <p:sp>
        <p:nvSpPr>
          <p:cNvPr id="16" name="Text 14"/>
          <p:cNvSpPr txBox="1"/>
          <p:nvPr/>
        </p:nvSpPr>
        <p:spPr>
          <a:xfrm>
            <a:off x="10903428" y="1508760"/>
            <a:ext cx="703052"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17" name="Shape 15"/>
          <p:cNvSpPr/>
          <p:nvPr/>
        </p:nvSpPr>
        <p:spPr>
          <a:xfrm>
            <a:off x="548640" y="2286000"/>
            <a:ext cx="256032" cy="256032"/>
          </a:xfrm>
          <a:prstGeom prst="ellipse">
            <a:avLst/>
          </a:prstGeom>
          <a:solidFill>
            <a:srgbClr val="E8772E"/>
          </a:solidFill>
          <a:ln/>
        </p:spPr>
        <p:txBody>
          <a:bodyPr/>
          <a:lstStyle/>
          <a:p>
            <a:endParaRPr lang="en-LB"/>
          </a:p>
        </p:txBody>
      </p:sp>
      <p:sp>
        <p:nvSpPr>
          <p:cNvPr id="18" name="Text 16"/>
          <p:cNvSpPr txBox="1"/>
          <p:nvPr/>
        </p:nvSpPr>
        <p:spPr>
          <a:xfrm>
            <a:off x="960120" y="2194560"/>
            <a:ext cx="1645920" cy="438912"/>
          </a:xfrm>
          <a:prstGeom prst="rect">
            <a:avLst/>
          </a:prstGeom>
          <a:noFill/>
          <a:ln/>
        </p:spPr>
        <p:txBody>
          <a:bodyPr wrap="square" lIns="0" tIns="0" rIns="0" bIns="0" rtlCol="0" anchor="ctr"/>
          <a:lstStyle/>
          <a:p>
            <a:pPr marL="0" indent="0">
              <a:buNone/>
            </a:pPr>
            <a:r>
              <a:rPr lang="en-US" sz="1500" dirty="0">
                <a:solidFill>
                  <a:srgbClr val="5B6B78"/>
                </a:solidFill>
                <a:latin typeface="Calibri" pitchFamily="34" charset="0"/>
                <a:ea typeface="Calibri" pitchFamily="34" charset="-122"/>
                <a:cs typeface="Calibri" pitchFamily="34" charset="-120"/>
              </a:rPr>
              <a:t>0:00 – 0:10</a:t>
            </a:r>
            <a:endParaRPr lang="en-US" sz="1500" dirty="0"/>
          </a:p>
        </p:txBody>
      </p:sp>
      <p:sp>
        <p:nvSpPr>
          <p:cNvPr id="19" name="Text 17"/>
          <p:cNvSpPr txBox="1"/>
          <p:nvPr/>
        </p:nvSpPr>
        <p:spPr>
          <a:xfrm>
            <a:off x="2651760" y="2194560"/>
            <a:ext cx="8961120" cy="438912"/>
          </a:xfrm>
          <a:prstGeom prst="rect">
            <a:avLst/>
          </a:prstGeom>
          <a:noFill/>
          <a:ln/>
        </p:spPr>
        <p:txBody>
          <a:bodyPr wrap="square" lIns="0" tIns="0" rIns="0" bIns="0" rtlCol="0" anchor="ctr"/>
          <a:lstStyle/>
          <a:p>
            <a:pPr marL="0" indent="0">
              <a:buNone/>
            </a:pPr>
            <a:r>
              <a:rPr lang="en-US" sz="1700" dirty="0">
                <a:solidFill>
                  <a:srgbClr val="1F2A33"/>
                </a:solidFill>
                <a:latin typeface="Calibri" pitchFamily="34" charset="0"/>
                <a:ea typeface="Calibri" pitchFamily="34" charset="-122"/>
                <a:cs typeface="Calibri" pitchFamily="34" charset="-120"/>
              </a:rPr>
              <a:t>Course introduction, assessment and tools</a:t>
            </a:r>
            <a:endParaRPr lang="en-US" sz="1700" dirty="0"/>
          </a:p>
        </p:txBody>
      </p:sp>
      <p:sp>
        <p:nvSpPr>
          <p:cNvPr id="20" name="Shape 18"/>
          <p:cNvSpPr/>
          <p:nvPr/>
        </p:nvSpPr>
        <p:spPr>
          <a:xfrm>
            <a:off x="548640" y="2852928"/>
            <a:ext cx="256032" cy="256032"/>
          </a:xfrm>
          <a:prstGeom prst="ellipse">
            <a:avLst/>
          </a:prstGeom>
          <a:solidFill>
            <a:srgbClr val="0E8C7F"/>
          </a:solidFill>
          <a:ln/>
        </p:spPr>
        <p:txBody>
          <a:bodyPr/>
          <a:lstStyle/>
          <a:p>
            <a:endParaRPr lang="en-LB"/>
          </a:p>
        </p:txBody>
      </p:sp>
      <p:sp>
        <p:nvSpPr>
          <p:cNvPr id="21" name="Text 19"/>
          <p:cNvSpPr txBox="1"/>
          <p:nvPr/>
        </p:nvSpPr>
        <p:spPr>
          <a:xfrm>
            <a:off x="960120" y="2761488"/>
            <a:ext cx="1645920" cy="438912"/>
          </a:xfrm>
          <a:prstGeom prst="rect">
            <a:avLst/>
          </a:prstGeom>
          <a:noFill/>
          <a:ln/>
        </p:spPr>
        <p:txBody>
          <a:bodyPr wrap="square" lIns="0" tIns="0" rIns="0" bIns="0" rtlCol="0" anchor="ctr"/>
          <a:lstStyle/>
          <a:p>
            <a:pPr marL="0" indent="0">
              <a:buNone/>
            </a:pPr>
            <a:r>
              <a:rPr lang="en-US" sz="1500" dirty="0">
                <a:solidFill>
                  <a:srgbClr val="5B6B78"/>
                </a:solidFill>
                <a:latin typeface="Calibri" pitchFamily="34" charset="0"/>
                <a:ea typeface="Calibri" pitchFamily="34" charset="-122"/>
                <a:cs typeface="Calibri" pitchFamily="34" charset="-120"/>
              </a:rPr>
              <a:t>0:10 – 0:35</a:t>
            </a:r>
            <a:endParaRPr lang="en-US" sz="1500" dirty="0"/>
          </a:p>
        </p:txBody>
      </p:sp>
      <p:sp>
        <p:nvSpPr>
          <p:cNvPr id="22" name="Text 20"/>
          <p:cNvSpPr txBox="1"/>
          <p:nvPr/>
        </p:nvSpPr>
        <p:spPr>
          <a:xfrm>
            <a:off x="2651760" y="2761488"/>
            <a:ext cx="8961120" cy="438912"/>
          </a:xfrm>
          <a:prstGeom prst="rect">
            <a:avLst/>
          </a:prstGeom>
          <a:noFill/>
          <a:ln/>
        </p:spPr>
        <p:txBody>
          <a:bodyPr wrap="square" lIns="0" tIns="0" rIns="0" bIns="0" rtlCol="0" anchor="ctr"/>
          <a:lstStyle/>
          <a:p>
            <a:pPr marL="0" indent="0">
              <a:buNone/>
            </a:pPr>
            <a:r>
              <a:rPr lang="en-US" sz="1700" dirty="0">
                <a:solidFill>
                  <a:srgbClr val="1F2A33"/>
                </a:solidFill>
                <a:latin typeface="Calibri" pitchFamily="34" charset="0"/>
                <a:ea typeface="Calibri" pitchFamily="34" charset="-122"/>
                <a:cs typeface="Calibri" pitchFamily="34" charset="-120"/>
              </a:rPr>
              <a:t>TCP service model and segment anatomy</a:t>
            </a:r>
            <a:endParaRPr lang="en-US" sz="1700" dirty="0"/>
          </a:p>
        </p:txBody>
      </p:sp>
      <p:sp>
        <p:nvSpPr>
          <p:cNvPr id="23" name="Shape 21"/>
          <p:cNvSpPr/>
          <p:nvPr/>
        </p:nvSpPr>
        <p:spPr>
          <a:xfrm>
            <a:off x="548640" y="3419856"/>
            <a:ext cx="256032" cy="256032"/>
          </a:xfrm>
          <a:prstGeom prst="ellipse">
            <a:avLst/>
          </a:prstGeom>
          <a:solidFill>
            <a:srgbClr val="24384A"/>
          </a:solidFill>
          <a:ln/>
        </p:spPr>
        <p:txBody>
          <a:bodyPr/>
          <a:lstStyle/>
          <a:p>
            <a:endParaRPr lang="en-LB"/>
          </a:p>
        </p:txBody>
      </p:sp>
      <p:sp>
        <p:nvSpPr>
          <p:cNvPr id="24" name="Text 22"/>
          <p:cNvSpPr txBox="1"/>
          <p:nvPr/>
        </p:nvSpPr>
        <p:spPr>
          <a:xfrm>
            <a:off x="960120" y="3328416"/>
            <a:ext cx="1645920" cy="438912"/>
          </a:xfrm>
          <a:prstGeom prst="rect">
            <a:avLst/>
          </a:prstGeom>
          <a:noFill/>
          <a:ln/>
        </p:spPr>
        <p:txBody>
          <a:bodyPr wrap="square" lIns="0" tIns="0" rIns="0" bIns="0" rtlCol="0" anchor="ctr"/>
          <a:lstStyle/>
          <a:p>
            <a:pPr marL="0" indent="0">
              <a:buNone/>
            </a:pPr>
            <a:r>
              <a:rPr lang="en-US" sz="1500" dirty="0">
                <a:solidFill>
                  <a:srgbClr val="5B6B78"/>
                </a:solidFill>
                <a:latin typeface="Calibri" pitchFamily="34" charset="0"/>
                <a:ea typeface="Calibri" pitchFamily="34" charset="-122"/>
                <a:cs typeface="Calibri" pitchFamily="34" charset="-120"/>
              </a:rPr>
              <a:t>0:35 – 1:00</a:t>
            </a:r>
            <a:endParaRPr lang="en-US" sz="1500" dirty="0"/>
          </a:p>
        </p:txBody>
      </p:sp>
      <p:sp>
        <p:nvSpPr>
          <p:cNvPr id="25" name="Text 23"/>
          <p:cNvSpPr txBox="1"/>
          <p:nvPr/>
        </p:nvSpPr>
        <p:spPr>
          <a:xfrm>
            <a:off x="2651760" y="3328416"/>
            <a:ext cx="8961120" cy="438912"/>
          </a:xfrm>
          <a:prstGeom prst="rect">
            <a:avLst/>
          </a:prstGeom>
          <a:noFill/>
          <a:ln/>
        </p:spPr>
        <p:txBody>
          <a:bodyPr wrap="square" lIns="0" tIns="0" rIns="0" bIns="0" rtlCol="0" anchor="ctr"/>
          <a:lstStyle/>
          <a:p>
            <a:pPr marL="0" indent="0">
              <a:buNone/>
            </a:pPr>
            <a:r>
              <a:rPr lang="en-US" sz="1700" dirty="0">
                <a:solidFill>
                  <a:srgbClr val="1F2A33"/>
                </a:solidFill>
                <a:latin typeface="Calibri" pitchFamily="34" charset="0"/>
                <a:ea typeface="Calibri" pitchFamily="34" charset="-122"/>
                <a:cs typeface="Calibri" pitchFamily="34" charset="-120"/>
              </a:rPr>
              <a:t>Connection management &amp; state machine</a:t>
            </a:r>
            <a:endParaRPr lang="en-US" sz="1700" dirty="0"/>
          </a:p>
        </p:txBody>
      </p:sp>
      <p:sp>
        <p:nvSpPr>
          <p:cNvPr id="26" name="Shape 24"/>
          <p:cNvSpPr/>
          <p:nvPr/>
        </p:nvSpPr>
        <p:spPr>
          <a:xfrm>
            <a:off x="548640" y="3986784"/>
            <a:ext cx="256032" cy="256032"/>
          </a:xfrm>
          <a:prstGeom prst="ellipse">
            <a:avLst/>
          </a:prstGeom>
          <a:solidFill>
            <a:srgbClr val="4F6D85"/>
          </a:solidFill>
          <a:ln/>
        </p:spPr>
        <p:txBody>
          <a:bodyPr/>
          <a:lstStyle/>
          <a:p>
            <a:endParaRPr lang="en-LB"/>
          </a:p>
        </p:txBody>
      </p:sp>
      <p:sp>
        <p:nvSpPr>
          <p:cNvPr id="27" name="Text 25"/>
          <p:cNvSpPr txBox="1"/>
          <p:nvPr/>
        </p:nvSpPr>
        <p:spPr>
          <a:xfrm>
            <a:off x="960120" y="3895344"/>
            <a:ext cx="1645920" cy="438912"/>
          </a:xfrm>
          <a:prstGeom prst="rect">
            <a:avLst/>
          </a:prstGeom>
          <a:noFill/>
          <a:ln/>
        </p:spPr>
        <p:txBody>
          <a:bodyPr wrap="square" lIns="0" tIns="0" rIns="0" bIns="0" rtlCol="0" anchor="ctr"/>
          <a:lstStyle/>
          <a:p>
            <a:pPr marL="0" indent="0">
              <a:buNone/>
            </a:pPr>
            <a:r>
              <a:rPr lang="en-US" sz="1500" dirty="0">
                <a:solidFill>
                  <a:srgbClr val="5B6B78"/>
                </a:solidFill>
                <a:latin typeface="Calibri" pitchFamily="34" charset="0"/>
                <a:ea typeface="Calibri" pitchFamily="34" charset="-122"/>
                <a:cs typeface="Calibri" pitchFamily="34" charset="-120"/>
              </a:rPr>
              <a:t>1:00 – 1:10</a:t>
            </a:r>
            <a:endParaRPr lang="en-US" sz="1500" dirty="0"/>
          </a:p>
        </p:txBody>
      </p:sp>
      <p:sp>
        <p:nvSpPr>
          <p:cNvPr id="28" name="Text 26"/>
          <p:cNvSpPr txBox="1"/>
          <p:nvPr/>
        </p:nvSpPr>
        <p:spPr>
          <a:xfrm>
            <a:off x="2651760" y="3895344"/>
            <a:ext cx="8961120" cy="438912"/>
          </a:xfrm>
          <a:prstGeom prst="rect">
            <a:avLst/>
          </a:prstGeom>
          <a:noFill/>
          <a:ln/>
        </p:spPr>
        <p:txBody>
          <a:bodyPr wrap="square" lIns="0" tIns="0" rIns="0" bIns="0" rtlCol="0" anchor="ctr"/>
          <a:lstStyle/>
          <a:p>
            <a:pPr marL="0" indent="0">
              <a:buNone/>
            </a:pPr>
            <a:r>
              <a:rPr lang="en-US" sz="1700" dirty="0">
                <a:solidFill>
                  <a:srgbClr val="1F2A33"/>
                </a:solidFill>
                <a:latin typeface="Calibri" pitchFamily="34" charset="0"/>
                <a:ea typeface="Calibri" pitchFamily="34" charset="-122"/>
                <a:cs typeface="Calibri" pitchFamily="34" charset="-120"/>
              </a:rPr>
              <a:t>Break</a:t>
            </a:r>
            <a:endParaRPr lang="en-US" sz="1700" dirty="0"/>
          </a:p>
        </p:txBody>
      </p:sp>
      <p:sp>
        <p:nvSpPr>
          <p:cNvPr id="29" name="Shape 27"/>
          <p:cNvSpPr/>
          <p:nvPr/>
        </p:nvSpPr>
        <p:spPr>
          <a:xfrm>
            <a:off x="548640" y="4553712"/>
            <a:ext cx="256032" cy="256032"/>
          </a:xfrm>
          <a:prstGeom prst="ellipse">
            <a:avLst/>
          </a:prstGeom>
          <a:solidFill>
            <a:srgbClr val="B35A1F"/>
          </a:solidFill>
          <a:ln/>
        </p:spPr>
        <p:txBody>
          <a:bodyPr/>
          <a:lstStyle/>
          <a:p>
            <a:endParaRPr lang="en-LB"/>
          </a:p>
        </p:txBody>
      </p:sp>
      <p:sp>
        <p:nvSpPr>
          <p:cNvPr id="30" name="Text 28"/>
          <p:cNvSpPr txBox="1"/>
          <p:nvPr/>
        </p:nvSpPr>
        <p:spPr>
          <a:xfrm>
            <a:off x="960120" y="4462272"/>
            <a:ext cx="1645920" cy="438912"/>
          </a:xfrm>
          <a:prstGeom prst="rect">
            <a:avLst/>
          </a:prstGeom>
          <a:noFill/>
          <a:ln/>
        </p:spPr>
        <p:txBody>
          <a:bodyPr wrap="square" lIns="0" tIns="0" rIns="0" bIns="0" rtlCol="0" anchor="ctr"/>
          <a:lstStyle/>
          <a:p>
            <a:pPr marL="0" indent="0">
              <a:buNone/>
            </a:pPr>
            <a:r>
              <a:rPr lang="en-US" sz="1500" dirty="0">
                <a:solidFill>
                  <a:srgbClr val="5B6B78"/>
                </a:solidFill>
                <a:latin typeface="Calibri" pitchFamily="34" charset="0"/>
                <a:ea typeface="Calibri" pitchFamily="34" charset="-122"/>
                <a:cs typeface="Calibri" pitchFamily="34" charset="-120"/>
              </a:rPr>
              <a:t>1:10 – 1:40</a:t>
            </a:r>
            <a:endParaRPr lang="en-US" sz="1500" dirty="0"/>
          </a:p>
        </p:txBody>
      </p:sp>
      <p:sp>
        <p:nvSpPr>
          <p:cNvPr id="31" name="Text 29"/>
          <p:cNvSpPr txBox="1"/>
          <p:nvPr/>
        </p:nvSpPr>
        <p:spPr>
          <a:xfrm>
            <a:off x="2651760" y="4462272"/>
            <a:ext cx="8961120" cy="438912"/>
          </a:xfrm>
          <a:prstGeom prst="rect">
            <a:avLst/>
          </a:prstGeom>
          <a:noFill/>
          <a:ln/>
        </p:spPr>
        <p:txBody>
          <a:bodyPr wrap="square" lIns="0" tIns="0" rIns="0" bIns="0" rtlCol="0" anchor="ctr"/>
          <a:lstStyle/>
          <a:p>
            <a:pPr marL="0" indent="0">
              <a:buNone/>
            </a:pPr>
            <a:r>
              <a:rPr lang="en-US" sz="1700" dirty="0">
                <a:solidFill>
                  <a:srgbClr val="1F2A33"/>
                </a:solidFill>
                <a:latin typeface="Calibri" pitchFamily="34" charset="0"/>
                <a:ea typeface="Calibri" pitchFamily="34" charset="-122"/>
                <a:cs typeface="Calibri" pitchFamily="34" charset="-120"/>
              </a:rPr>
              <a:t>Flow control: sliding window, scaling, zero window, SWS</a:t>
            </a:r>
            <a:endParaRPr lang="en-US" sz="1700" dirty="0"/>
          </a:p>
        </p:txBody>
      </p:sp>
      <p:sp>
        <p:nvSpPr>
          <p:cNvPr id="32" name="Shape 30"/>
          <p:cNvSpPr/>
          <p:nvPr/>
        </p:nvSpPr>
        <p:spPr>
          <a:xfrm>
            <a:off x="548640" y="5120640"/>
            <a:ext cx="256032" cy="256032"/>
          </a:xfrm>
          <a:prstGeom prst="ellipse">
            <a:avLst/>
          </a:prstGeom>
          <a:solidFill>
            <a:srgbClr val="0A6A60"/>
          </a:solidFill>
          <a:ln/>
        </p:spPr>
        <p:txBody>
          <a:bodyPr/>
          <a:lstStyle/>
          <a:p>
            <a:endParaRPr lang="en-LB"/>
          </a:p>
        </p:txBody>
      </p:sp>
      <p:sp>
        <p:nvSpPr>
          <p:cNvPr id="33" name="Text 31"/>
          <p:cNvSpPr txBox="1"/>
          <p:nvPr/>
        </p:nvSpPr>
        <p:spPr>
          <a:xfrm>
            <a:off x="960120" y="5029200"/>
            <a:ext cx="1645920" cy="438912"/>
          </a:xfrm>
          <a:prstGeom prst="rect">
            <a:avLst/>
          </a:prstGeom>
          <a:noFill/>
          <a:ln/>
        </p:spPr>
        <p:txBody>
          <a:bodyPr wrap="square" lIns="0" tIns="0" rIns="0" bIns="0" rtlCol="0" anchor="ctr"/>
          <a:lstStyle/>
          <a:p>
            <a:pPr marL="0" indent="0">
              <a:buNone/>
            </a:pPr>
            <a:r>
              <a:rPr lang="en-US" sz="1500" dirty="0">
                <a:solidFill>
                  <a:srgbClr val="5B6B78"/>
                </a:solidFill>
                <a:latin typeface="Calibri" pitchFamily="34" charset="0"/>
                <a:ea typeface="Calibri" pitchFamily="34" charset="-122"/>
                <a:cs typeface="Calibri" pitchFamily="34" charset="-120"/>
              </a:rPr>
              <a:t>1:40 – 1:52</a:t>
            </a:r>
            <a:endParaRPr lang="en-US" sz="1500" dirty="0"/>
          </a:p>
        </p:txBody>
      </p:sp>
      <p:sp>
        <p:nvSpPr>
          <p:cNvPr id="34" name="Text 32"/>
          <p:cNvSpPr txBox="1"/>
          <p:nvPr/>
        </p:nvSpPr>
        <p:spPr>
          <a:xfrm>
            <a:off x="2651760" y="5029200"/>
            <a:ext cx="8961120" cy="438912"/>
          </a:xfrm>
          <a:prstGeom prst="rect">
            <a:avLst/>
          </a:prstGeom>
          <a:noFill/>
          <a:ln/>
        </p:spPr>
        <p:txBody>
          <a:bodyPr wrap="square" lIns="0" tIns="0" rIns="0" bIns="0" rtlCol="0" anchor="ctr"/>
          <a:lstStyle/>
          <a:p>
            <a:pPr marL="0" indent="0">
              <a:buNone/>
            </a:pPr>
            <a:r>
              <a:rPr lang="en-US" sz="1700" dirty="0">
                <a:solidFill>
                  <a:srgbClr val="1F2A33"/>
                </a:solidFill>
                <a:latin typeface="Calibri" pitchFamily="34" charset="0"/>
                <a:ea typeface="Calibri" pitchFamily="34" charset="-122"/>
                <a:cs typeface="Calibri" pitchFamily="34" charset="-120"/>
              </a:rPr>
              <a:t>In-class activity: window arithmetic</a:t>
            </a:r>
            <a:endParaRPr lang="en-US" sz="1700" dirty="0"/>
          </a:p>
        </p:txBody>
      </p:sp>
      <p:sp>
        <p:nvSpPr>
          <p:cNvPr id="35" name="Shape 33"/>
          <p:cNvSpPr/>
          <p:nvPr/>
        </p:nvSpPr>
        <p:spPr>
          <a:xfrm>
            <a:off x="548640" y="5687568"/>
            <a:ext cx="256032" cy="256032"/>
          </a:xfrm>
          <a:prstGeom prst="ellipse">
            <a:avLst/>
          </a:prstGeom>
          <a:solidFill>
            <a:srgbClr val="6E8596"/>
          </a:solidFill>
          <a:ln/>
        </p:spPr>
        <p:txBody>
          <a:bodyPr/>
          <a:lstStyle/>
          <a:p>
            <a:endParaRPr lang="en-LB"/>
          </a:p>
        </p:txBody>
      </p:sp>
      <p:sp>
        <p:nvSpPr>
          <p:cNvPr id="36" name="Text 34"/>
          <p:cNvSpPr txBox="1"/>
          <p:nvPr/>
        </p:nvSpPr>
        <p:spPr>
          <a:xfrm>
            <a:off x="960120" y="5596128"/>
            <a:ext cx="1645920" cy="438912"/>
          </a:xfrm>
          <a:prstGeom prst="rect">
            <a:avLst/>
          </a:prstGeom>
          <a:noFill/>
          <a:ln/>
        </p:spPr>
        <p:txBody>
          <a:bodyPr wrap="square" lIns="0" tIns="0" rIns="0" bIns="0" rtlCol="0" anchor="ctr"/>
          <a:lstStyle/>
          <a:p>
            <a:pPr marL="0" indent="0">
              <a:buNone/>
            </a:pPr>
            <a:r>
              <a:rPr lang="en-US" sz="1500" dirty="0">
                <a:solidFill>
                  <a:srgbClr val="5B6B78"/>
                </a:solidFill>
                <a:latin typeface="Calibri" pitchFamily="34" charset="0"/>
                <a:ea typeface="Calibri" pitchFamily="34" charset="-122"/>
                <a:cs typeface="Calibri" pitchFamily="34" charset="-120"/>
              </a:rPr>
              <a:t>1:52 – 2:00</a:t>
            </a:r>
            <a:endParaRPr lang="en-US" sz="1500" dirty="0"/>
          </a:p>
        </p:txBody>
      </p:sp>
      <p:sp>
        <p:nvSpPr>
          <p:cNvPr id="37" name="Text 35"/>
          <p:cNvSpPr txBox="1"/>
          <p:nvPr/>
        </p:nvSpPr>
        <p:spPr>
          <a:xfrm>
            <a:off x="2651760" y="5596128"/>
            <a:ext cx="8961120" cy="438912"/>
          </a:xfrm>
          <a:prstGeom prst="rect">
            <a:avLst/>
          </a:prstGeom>
          <a:noFill/>
          <a:ln/>
        </p:spPr>
        <p:txBody>
          <a:bodyPr wrap="square" lIns="0" tIns="0" rIns="0" bIns="0" rtlCol="0" anchor="ctr"/>
          <a:lstStyle/>
          <a:p>
            <a:pPr marL="0" indent="0">
              <a:buNone/>
            </a:pPr>
            <a:r>
              <a:rPr lang="en-US" sz="1700" dirty="0">
                <a:solidFill>
                  <a:srgbClr val="1F2A33"/>
                </a:solidFill>
                <a:latin typeface="Calibri" pitchFamily="34" charset="0"/>
                <a:ea typeface="Calibri" pitchFamily="34" charset="-122"/>
                <a:cs typeface="Calibri" pitchFamily="34" charset="-120"/>
              </a:rPr>
              <a:t>Quiz and wrap-up</a:t>
            </a:r>
            <a:endParaRPr lang="en-US" sz="1700" dirty="0"/>
          </a:p>
        </p:txBody>
      </p:sp>
      <p:sp>
        <p:nvSpPr>
          <p:cNvPr id="38" name="Text 36"/>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39" name="Text 37"/>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About IN403</a:t>
            </a:r>
            <a:endParaRPr lang="en-US" sz="3000" dirty="0"/>
          </a:p>
        </p:txBody>
      </p:sp>
      <p:sp>
        <p:nvSpPr>
          <p:cNvPr id="3" name="Text 1"/>
          <p:cNvSpPr txBox="1"/>
          <p:nvPr/>
        </p:nvSpPr>
        <p:spPr>
          <a:xfrm>
            <a:off x="548640" y="1188720"/>
            <a:ext cx="11094415" cy="502920"/>
          </a:xfrm>
          <a:prstGeom prst="rect">
            <a:avLst/>
          </a:prstGeom>
          <a:noFill/>
          <a:ln/>
        </p:spPr>
        <p:txBody>
          <a:bodyPr wrap="square" lIns="0" tIns="0" rIns="0" bIns="0" rtlCol="0" anchor="t"/>
          <a:lstStyle/>
          <a:p>
            <a:pPr marL="0" indent="0">
              <a:buNone/>
            </a:pPr>
            <a:r>
              <a:rPr lang="en-US" sz="1600" dirty="0">
                <a:solidFill>
                  <a:srgbClr val="5B6B78"/>
                </a:solidFill>
                <a:latin typeface="Calibri" pitchFamily="34" charset="0"/>
                <a:ea typeface="Calibri" pitchFamily="34" charset="-122"/>
                <a:cs typeface="Calibri" pitchFamily="34" charset="-120"/>
              </a:rPr>
              <a:t>Advanced Network Protocols, Architectures &amp; Security · M1S1 · 5 credits</a:t>
            </a:r>
            <a:endParaRPr lang="en-US" sz="1600" dirty="0"/>
          </a:p>
        </p:txBody>
      </p:sp>
      <p:sp>
        <p:nvSpPr>
          <p:cNvPr id="4" name="Shape 2"/>
          <p:cNvSpPr/>
          <p:nvPr/>
        </p:nvSpPr>
        <p:spPr>
          <a:xfrm>
            <a:off x="548640" y="1783080"/>
            <a:ext cx="5410048" cy="2103120"/>
          </a:xfrm>
          <a:prstGeom prst="roundRect">
            <a:avLst>
              <a:gd name="adj" fmla="val 4348"/>
            </a:avLst>
          </a:prstGeom>
          <a:solidFill>
            <a:srgbClr val="F2F5F7"/>
          </a:solidFill>
          <a:ln w="9525">
            <a:solidFill>
              <a:srgbClr val="E1E7EC"/>
            </a:solidFill>
            <a:prstDash val="solid"/>
          </a:ln>
        </p:spPr>
        <p:txBody>
          <a:bodyPr/>
          <a:lstStyle/>
          <a:p>
            <a:endParaRPr lang="en-LB"/>
          </a:p>
        </p:txBody>
      </p:sp>
      <p:sp>
        <p:nvSpPr>
          <p:cNvPr id="5" name="Shape 3"/>
          <p:cNvSpPr/>
          <p:nvPr/>
        </p:nvSpPr>
        <p:spPr>
          <a:xfrm>
            <a:off x="777240" y="2011680"/>
            <a:ext cx="457200" cy="457200"/>
          </a:xfrm>
          <a:prstGeom prst="ellipse">
            <a:avLst/>
          </a:prstGeom>
          <a:solidFill>
            <a:srgbClr val="E8772E"/>
          </a:solidFill>
          <a:ln/>
        </p:spPr>
        <p:txBody>
          <a:bodyPr/>
          <a:lstStyle/>
          <a:p>
            <a:endParaRPr lang="en-LB"/>
          </a:p>
        </p:txBody>
      </p:sp>
      <p:sp>
        <p:nvSpPr>
          <p:cNvPr id="6" name="Text 4"/>
          <p:cNvSpPr txBox="1"/>
          <p:nvPr/>
        </p:nvSpPr>
        <p:spPr>
          <a:xfrm>
            <a:off x="777240" y="20116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371600" y="196596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Lectures · 34 h</a:t>
            </a:r>
            <a:endParaRPr lang="en-US" sz="1700" dirty="0"/>
          </a:p>
        </p:txBody>
      </p:sp>
      <p:sp>
        <p:nvSpPr>
          <p:cNvPr id="8" name="Text 6"/>
          <p:cNvSpPr txBox="1"/>
          <p:nvPr/>
        </p:nvSpPr>
        <p:spPr>
          <a:xfrm>
            <a:off x="777240" y="2651760"/>
            <a:ext cx="4952848" cy="1097280"/>
          </a:xfrm>
          <a:prstGeom prst="rect">
            <a:avLst/>
          </a:prstGeom>
          <a:noFill/>
          <a:ln/>
        </p:spPr>
        <p:txBody>
          <a:bodyPr wrap="square" lIns="0" tIns="0" rIns="0" bIns="0" rtlCol="0" anchor="t"/>
          <a:lstStyle/>
          <a:p>
            <a:pPr marL="0" indent="0">
              <a:buNone/>
            </a:pPr>
            <a:r>
              <a:rPr lang="en-US" sz="1600" dirty="0">
                <a:solidFill>
                  <a:srgbClr val="1F2A33"/>
                </a:solidFill>
                <a:latin typeface="Calibri" pitchFamily="34" charset="0"/>
                <a:ea typeface="Calibri" pitchFamily="34" charset="-122"/>
                <a:cs typeface="Calibri" pitchFamily="34" charset="-120"/>
              </a:rPr>
              <a:t>17 two-hour sessions covering TCP, QoS, NFV, SDN, advanced routing, IPsec/TLS, measurement, QUIC/HTTP/3 and network design.</a:t>
            </a:r>
            <a:endParaRPr lang="en-US" sz="1600" dirty="0"/>
          </a:p>
        </p:txBody>
      </p:sp>
      <p:sp>
        <p:nvSpPr>
          <p:cNvPr id="9" name="Shape 7"/>
          <p:cNvSpPr/>
          <p:nvPr/>
        </p:nvSpPr>
        <p:spPr>
          <a:xfrm>
            <a:off x="6233008" y="1783080"/>
            <a:ext cx="5410048" cy="2103120"/>
          </a:xfrm>
          <a:prstGeom prst="roundRect">
            <a:avLst>
              <a:gd name="adj" fmla="val 4348"/>
            </a:avLst>
          </a:prstGeom>
          <a:solidFill>
            <a:srgbClr val="F2F5F7"/>
          </a:solidFill>
          <a:ln w="9525">
            <a:solidFill>
              <a:srgbClr val="E1E7EC"/>
            </a:solidFill>
            <a:prstDash val="solid"/>
          </a:ln>
        </p:spPr>
        <p:txBody>
          <a:bodyPr/>
          <a:lstStyle/>
          <a:p>
            <a:endParaRPr lang="en-LB"/>
          </a:p>
        </p:txBody>
      </p:sp>
      <p:sp>
        <p:nvSpPr>
          <p:cNvPr id="10" name="Shape 8"/>
          <p:cNvSpPr/>
          <p:nvPr/>
        </p:nvSpPr>
        <p:spPr>
          <a:xfrm>
            <a:off x="6461608" y="2011680"/>
            <a:ext cx="457200" cy="457200"/>
          </a:xfrm>
          <a:prstGeom prst="ellipse">
            <a:avLst/>
          </a:prstGeom>
          <a:solidFill>
            <a:srgbClr val="0E8C7F"/>
          </a:solidFill>
          <a:ln/>
        </p:spPr>
        <p:txBody>
          <a:bodyPr/>
          <a:lstStyle/>
          <a:p>
            <a:endParaRPr lang="en-LB"/>
          </a:p>
        </p:txBody>
      </p:sp>
      <p:sp>
        <p:nvSpPr>
          <p:cNvPr id="11" name="Text 9"/>
          <p:cNvSpPr txBox="1"/>
          <p:nvPr/>
        </p:nvSpPr>
        <p:spPr>
          <a:xfrm>
            <a:off x="6461608" y="20116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7055968" y="196596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Labs · 16 h</a:t>
            </a:r>
            <a:endParaRPr lang="en-US" sz="1700" dirty="0"/>
          </a:p>
        </p:txBody>
      </p:sp>
      <p:sp>
        <p:nvSpPr>
          <p:cNvPr id="13" name="Text 11"/>
          <p:cNvSpPr txBox="1"/>
          <p:nvPr/>
        </p:nvSpPr>
        <p:spPr>
          <a:xfrm>
            <a:off x="6461608" y="2651760"/>
            <a:ext cx="4952848" cy="1097280"/>
          </a:xfrm>
          <a:prstGeom prst="rect">
            <a:avLst/>
          </a:prstGeom>
          <a:noFill/>
          <a:ln/>
        </p:spPr>
        <p:txBody>
          <a:bodyPr wrap="square" lIns="0" tIns="0" rIns="0" bIns="0" rtlCol="0" anchor="t"/>
          <a:lstStyle/>
          <a:p>
            <a:pPr marL="0" indent="0">
              <a:buNone/>
            </a:pPr>
            <a:r>
              <a:rPr lang="en-US" sz="1600" dirty="0">
                <a:solidFill>
                  <a:srgbClr val="1F2A33"/>
                </a:solidFill>
                <a:latin typeface="Calibri" pitchFamily="34" charset="0"/>
                <a:ea typeface="Calibri" pitchFamily="34" charset="-122"/>
                <a:cs typeface="Calibri" pitchFamily="34" charset="-120"/>
              </a:rPr>
              <a:t>8 two-hour hands-on labs with Wireshark, iPerf3, Linux tc, Mininet + Ryu, FRRouting/GNS3, strongSwan and QUIC tooling.</a:t>
            </a:r>
            <a:endParaRPr lang="en-US" sz="1600" dirty="0"/>
          </a:p>
        </p:txBody>
      </p:sp>
      <p:sp>
        <p:nvSpPr>
          <p:cNvPr id="14" name="Shape 12"/>
          <p:cNvSpPr/>
          <p:nvPr/>
        </p:nvSpPr>
        <p:spPr>
          <a:xfrm>
            <a:off x="548640" y="4160520"/>
            <a:ext cx="5410048" cy="2103120"/>
          </a:xfrm>
          <a:prstGeom prst="roundRect">
            <a:avLst>
              <a:gd name="adj" fmla="val 4348"/>
            </a:avLst>
          </a:prstGeom>
          <a:solidFill>
            <a:srgbClr val="F2F5F7"/>
          </a:solidFill>
          <a:ln w="9525">
            <a:solidFill>
              <a:srgbClr val="E1E7EC"/>
            </a:solidFill>
            <a:prstDash val="solid"/>
          </a:ln>
        </p:spPr>
        <p:txBody>
          <a:bodyPr/>
          <a:lstStyle/>
          <a:p>
            <a:endParaRPr lang="en-LB"/>
          </a:p>
        </p:txBody>
      </p:sp>
      <p:sp>
        <p:nvSpPr>
          <p:cNvPr id="15" name="Shape 13"/>
          <p:cNvSpPr/>
          <p:nvPr/>
        </p:nvSpPr>
        <p:spPr>
          <a:xfrm>
            <a:off x="777240" y="4389120"/>
            <a:ext cx="457200" cy="457200"/>
          </a:xfrm>
          <a:prstGeom prst="ellipse">
            <a:avLst/>
          </a:prstGeom>
          <a:solidFill>
            <a:srgbClr val="E8772E"/>
          </a:solidFill>
          <a:ln/>
        </p:spPr>
        <p:txBody>
          <a:bodyPr/>
          <a:lstStyle/>
          <a:p>
            <a:endParaRPr lang="en-LB"/>
          </a:p>
        </p:txBody>
      </p:sp>
      <p:sp>
        <p:nvSpPr>
          <p:cNvPr id="16" name="Text 14"/>
          <p:cNvSpPr txBox="1"/>
          <p:nvPr/>
        </p:nvSpPr>
        <p:spPr>
          <a:xfrm>
            <a:off x="777240" y="43891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1371600" y="434340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Assessment</a:t>
            </a:r>
            <a:endParaRPr lang="en-US" sz="1700" dirty="0"/>
          </a:p>
        </p:txBody>
      </p:sp>
      <p:sp>
        <p:nvSpPr>
          <p:cNvPr id="18" name="Text 16"/>
          <p:cNvSpPr txBox="1"/>
          <p:nvPr/>
        </p:nvSpPr>
        <p:spPr>
          <a:xfrm>
            <a:off x="777240" y="5029200"/>
            <a:ext cx="4952848" cy="1097280"/>
          </a:xfrm>
          <a:prstGeom prst="rect">
            <a:avLst/>
          </a:prstGeom>
          <a:noFill/>
          <a:ln/>
        </p:spPr>
        <p:txBody>
          <a:bodyPr wrap="square" lIns="0" tIns="0" rIns="0" bIns="0" rtlCol="0" anchor="t"/>
          <a:lstStyle/>
          <a:p>
            <a:pPr marL="0" indent="0">
              <a:buNone/>
            </a:pPr>
            <a:r>
              <a:rPr lang="en-US" sz="1600" dirty="0">
                <a:solidFill>
                  <a:srgbClr val="1F2A33"/>
                </a:solidFill>
                <a:latin typeface="Calibri" pitchFamily="34" charset="0"/>
                <a:ea typeface="Calibri" pitchFamily="34" charset="-122"/>
                <a:cs typeface="Calibri" pitchFamily="34" charset="-120"/>
              </a:rPr>
              <a:t>Lab reports and practical checks, a mid-term exam after the routing block, and a final written exam. Exact weights are set by the department.</a:t>
            </a:r>
            <a:endParaRPr lang="en-US" sz="1600" dirty="0"/>
          </a:p>
        </p:txBody>
      </p:sp>
      <p:sp>
        <p:nvSpPr>
          <p:cNvPr id="19" name="Shape 17"/>
          <p:cNvSpPr/>
          <p:nvPr/>
        </p:nvSpPr>
        <p:spPr>
          <a:xfrm>
            <a:off x="6233008" y="4160520"/>
            <a:ext cx="5410048" cy="2103120"/>
          </a:xfrm>
          <a:prstGeom prst="roundRect">
            <a:avLst>
              <a:gd name="adj" fmla="val 4348"/>
            </a:avLst>
          </a:prstGeom>
          <a:solidFill>
            <a:srgbClr val="F2F5F7"/>
          </a:solidFill>
          <a:ln w="9525">
            <a:solidFill>
              <a:srgbClr val="E1E7EC"/>
            </a:solidFill>
            <a:prstDash val="solid"/>
          </a:ln>
        </p:spPr>
        <p:txBody>
          <a:bodyPr/>
          <a:lstStyle/>
          <a:p>
            <a:endParaRPr lang="en-LB"/>
          </a:p>
        </p:txBody>
      </p:sp>
      <p:sp>
        <p:nvSpPr>
          <p:cNvPr id="20" name="Shape 18"/>
          <p:cNvSpPr/>
          <p:nvPr/>
        </p:nvSpPr>
        <p:spPr>
          <a:xfrm>
            <a:off x="6461608" y="4389120"/>
            <a:ext cx="457200" cy="457200"/>
          </a:xfrm>
          <a:prstGeom prst="ellipse">
            <a:avLst/>
          </a:prstGeom>
          <a:solidFill>
            <a:srgbClr val="0E8C7F"/>
          </a:solidFill>
          <a:ln/>
        </p:spPr>
        <p:txBody>
          <a:bodyPr/>
          <a:lstStyle/>
          <a:p>
            <a:endParaRPr lang="en-LB"/>
          </a:p>
        </p:txBody>
      </p:sp>
      <p:sp>
        <p:nvSpPr>
          <p:cNvPr id="21" name="Text 19"/>
          <p:cNvSpPr txBox="1"/>
          <p:nvPr/>
        </p:nvSpPr>
        <p:spPr>
          <a:xfrm>
            <a:off x="6461608" y="43891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7055968" y="434340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References</a:t>
            </a:r>
            <a:endParaRPr lang="en-US" sz="1700" dirty="0"/>
          </a:p>
        </p:txBody>
      </p:sp>
      <p:sp>
        <p:nvSpPr>
          <p:cNvPr id="23" name="Text 21"/>
          <p:cNvSpPr txBox="1"/>
          <p:nvPr/>
        </p:nvSpPr>
        <p:spPr>
          <a:xfrm>
            <a:off x="6461608" y="5029200"/>
            <a:ext cx="4952848" cy="1097280"/>
          </a:xfrm>
          <a:prstGeom prst="rect">
            <a:avLst/>
          </a:prstGeom>
          <a:noFill/>
          <a:ln/>
        </p:spPr>
        <p:txBody>
          <a:bodyPr wrap="square" lIns="0" tIns="0" rIns="0" bIns="0" rtlCol="0" anchor="t"/>
          <a:lstStyle/>
          <a:p>
            <a:pPr marL="0" indent="0">
              <a:buNone/>
            </a:pPr>
            <a:r>
              <a:rPr lang="en-US" sz="1600" dirty="0">
                <a:solidFill>
                  <a:srgbClr val="1F2A33"/>
                </a:solidFill>
                <a:latin typeface="Calibri" pitchFamily="34" charset="0"/>
                <a:ea typeface="Calibri" pitchFamily="34" charset="-122"/>
                <a:cs typeface="Calibri" pitchFamily="34" charset="-120"/>
              </a:rPr>
              <a:t>Kurose &amp; Ross — Computer Networking: A Top-Down Approach · Forouzan — Data Communications and Networking · Goransson &amp; Black — Software Defined Networks.</a:t>
            </a:r>
            <a:endParaRPr lang="en-US" sz="1600" dirty="0"/>
          </a:p>
        </p:txBody>
      </p:sp>
      <p:sp>
        <p:nvSpPr>
          <p:cNvPr id="24" name="Text 22"/>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25" name="Text 2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Course roadmap</a:t>
            </a:r>
            <a:endParaRPr lang="en-US" sz="3000" dirty="0"/>
          </a:p>
        </p:txBody>
      </p:sp>
      <p:sp>
        <p:nvSpPr>
          <p:cNvPr id="3" name="Shape 1"/>
          <p:cNvSpPr/>
          <p:nvPr/>
        </p:nvSpPr>
        <p:spPr>
          <a:xfrm>
            <a:off x="548640" y="1325880"/>
            <a:ext cx="11094415" cy="701040"/>
          </a:xfrm>
          <a:prstGeom prst="roundRect">
            <a:avLst>
              <a:gd name="adj" fmla="val 10435"/>
            </a:avLst>
          </a:prstGeom>
          <a:solidFill>
            <a:srgbClr val="17222D"/>
          </a:solidFill>
          <a:ln/>
        </p:spPr>
        <p:txBody>
          <a:bodyPr/>
          <a:lstStyle/>
          <a:p>
            <a:endParaRPr lang="en-LB"/>
          </a:p>
        </p:txBody>
      </p:sp>
      <p:sp>
        <p:nvSpPr>
          <p:cNvPr id="4" name="Text 2"/>
          <p:cNvSpPr txBox="1"/>
          <p:nvPr/>
        </p:nvSpPr>
        <p:spPr>
          <a:xfrm>
            <a:off x="777240" y="1325880"/>
            <a:ext cx="3993989" cy="70104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Transport (L1–L3)</a:t>
            </a:r>
            <a:endParaRPr lang="en-US" sz="1600" dirty="0"/>
          </a:p>
        </p:txBody>
      </p:sp>
      <p:sp>
        <p:nvSpPr>
          <p:cNvPr id="5" name="Text 3"/>
          <p:cNvSpPr txBox="1"/>
          <p:nvPr/>
        </p:nvSpPr>
        <p:spPr>
          <a:xfrm>
            <a:off x="4882174" y="1325880"/>
            <a:ext cx="6623722" cy="701040"/>
          </a:xfrm>
          <a:prstGeom prst="rect">
            <a:avLst/>
          </a:prstGeom>
          <a:noFill/>
          <a:ln/>
        </p:spPr>
        <p:txBody>
          <a:bodyPr wrap="square" lIns="0" tIns="0" rIns="0" bIns="0" rtlCol="0" anchor="ctr"/>
          <a:lstStyle/>
          <a:p>
            <a:pPr marL="0" indent="0">
              <a:buNone/>
            </a:pPr>
            <a:r>
              <a:rPr lang="en-US" sz="1600" dirty="0">
                <a:solidFill>
                  <a:srgbClr val="EAF1F5"/>
                </a:solidFill>
                <a:latin typeface="Calibri" pitchFamily="34" charset="0"/>
                <a:ea typeface="Calibri" pitchFamily="34" charset="-122"/>
                <a:cs typeface="Calibri" pitchFamily="34" charset="-120"/>
              </a:rPr>
              <a:t>TCP flow control, congestion control (Reno, CUBIC, BBR), performance tuning</a:t>
            </a:r>
            <a:endParaRPr lang="en-US" sz="1600" dirty="0"/>
          </a:p>
        </p:txBody>
      </p:sp>
      <p:sp>
        <p:nvSpPr>
          <p:cNvPr id="6" name="Shape 4"/>
          <p:cNvSpPr/>
          <p:nvPr/>
        </p:nvSpPr>
        <p:spPr>
          <a:xfrm>
            <a:off x="548640" y="2164080"/>
            <a:ext cx="11094415" cy="701040"/>
          </a:xfrm>
          <a:prstGeom prst="roundRect">
            <a:avLst>
              <a:gd name="adj" fmla="val 10435"/>
            </a:avLst>
          </a:prstGeom>
          <a:solidFill>
            <a:srgbClr val="24384A"/>
          </a:solidFill>
          <a:ln/>
        </p:spPr>
        <p:txBody>
          <a:bodyPr/>
          <a:lstStyle/>
          <a:p>
            <a:endParaRPr lang="en-LB"/>
          </a:p>
        </p:txBody>
      </p:sp>
      <p:sp>
        <p:nvSpPr>
          <p:cNvPr id="7" name="Text 5"/>
          <p:cNvSpPr txBox="1"/>
          <p:nvPr/>
        </p:nvSpPr>
        <p:spPr>
          <a:xfrm>
            <a:off x="777240" y="2164080"/>
            <a:ext cx="3993989" cy="70104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QoS (L4–L6)</a:t>
            </a:r>
            <a:endParaRPr lang="en-US" sz="1600" dirty="0"/>
          </a:p>
        </p:txBody>
      </p:sp>
      <p:sp>
        <p:nvSpPr>
          <p:cNvPr id="8" name="Text 6"/>
          <p:cNvSpPr txBox="1"/>
          <p:nvPr/>
        </p:nvSpPr>
        <p:spPr>
          <a:xfrm>
            <a:off x="4882174" y="2164080"/>
            <a:ext cx="6623722" cy="701040"/>
          </a:xfrm>
          <a:prstGeom prst="rect">
            <a:avLst/>
          </a:prstGeom>
          <a:noFill/>
          <a:ln/>
        </p:spPr>
        <p:txBody>
          <a:bodyPr wrap="square" lIns="0" tIns="0" rIns="0" bIns="0" rtlCol="0" anchor="ctr"/>
          <a:lstStyle/>
          <a:p>
            <a:pPr marL="0" indent="0">
              <a:buNone/>
            </a:pPr>
            <a:r>
              <a:rPr lang="en-US" sz="1600" dirty="0">
                <a:solidFill>
                  <a:srgbClr val="EAF1F5"/>
                </a:solidFill>
                <a:latin typeface="Calibri" pitchFamily="34" charset="0"/>
                <a:ea typeface="Calibri" pitchFamily="34" charset="-122"/>
                <a:cs typeface="Calibri" pitchFamily="34" charset="-120"/>
              </a:rPr>
              <a:t>Shaping and policing, scheduling, IntServ/RSVP, DiffServ</a:t>
            </a:r>
            <a:endParaRPr lang="en-US" sz="1600" dirty="0"/>
          </a:p>
        </p:txBody>
      </p:sp>
      <p:sp>
        <p:nvSpPr>
          <p:cNvPr id="9" name="Shape 7"/>
          <p:cNvSpPr/>
          <p:nvPr/>
        </p:nvSpPr>
        <p:spPr>
          <a:xfrm>
            <a:off x="548640" y="3002280"/>
            <a:ext cx="11094415" cy="701040"/>
          </a:xfrm>
          <a:prstGeom prst="roundRect">
            <a:avLst>
              <a:gd name="adj" fmla="val 10435"/>
            </a:avLst>
          </a:prstGeom>
          <a:solidFill>
            <a:srgbClr val="35546E"/>
          </a:solidFill>
          <a:ln/>
        </p:spPr>
        <p:txBody>
          <a:bodyPr/>
          <a:lstStyle/>
          <a:p>
            <a:endParaRPr lang="en-LB"/>
          </a:p>
        </p:txBody>
      </p:sp>
      <p:sp>
        <p:nvSpPr>
          <p:cNvPr id="10" name="Text 8"/>
          <p:cNvSpPr txBox="1"/>
          <p:nvPr/>
        </p:nvSpPr>
        <p:spPr>
          <a:xfrm>
            <a:off x="777240" y="3002280"/>
            <a:ext cx="3993989" cy="70104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Virtualization (L7–L10)</a:t>
            </a:r>
            <a:endParaRPr lang="en-US" sz="1600" dirty="0"/>
          </a:p>
        </p:txBody>
      </p:sp>
      <p:sp>
        <p:nvSpPr>
          <p:cNvPr id="11" name="Text 9"/>
          <p:cNvSpPr txBox="1"/>
          <p:nvPr/>
        </p:nvSpPr>
        <p:spPr>
          <a:xfrm>
            <a:off x="4882174" y="3002280"/>
            <a:ext cx="6623722" cy="701040"/>
          </a:xfrm>
          <a:prstGeom prst="rect">
            <a:avLst/>
          </a:prstGeom>
          <a:noFill/>
          <a:ln/>
        </p:spPr>
        <p:txBody>
          <a:bodyPr wrap="square" lIns="0" tIns="0" rIns="0" bIns="0" rtlCol="0" anchor="ctr"/>
          <a:lstStyle/>
          <a:p>
            <a:pPr marL="0" indent="0">
              <a:buNone/>
            </a:pPr>
            <a:r>
              <a:rPr lang="en-US" sz="1600" dirty="0">
                <a:solidFill>
                  <a:srgbClr val="EAF1F5"/>
                </a:solidFill>
                <a:latin typeface="Calibri" pitchFamily="34" charset="0"/>
                <a:ea typeface="Calibri" pitchFamily="34" charset="-122"/>
                <a:cs typeface="Calibri" pitchFamily="34" charset="-120"/>
              </a:rPr>
              <a:t>NFV architecture &amp; MANO, SDN, OpenFlow, controllers</a:t>
            </a:r>
            <a:endParaRPr lang="en-US" sz="1600" dirty="0"/>
          </a:p>
        </p:txBody>
      </p:sp>
      <p:sp>
        <p:nvSpPr>
          <p:cNvPr id="12" name="Shape 10"/>
          <p:cNvSpPr/>
          <p:nvPr/>
        </p:nvSpPr>
        <p:spPr>
          <a:xfrm>
            <a:off x="548640" y="3840480"/>
            <a:ext cx="11094415" cy="701040"/>
          </a:xfrm>
          <a:prstGeom prst="roundRect">
            <a:avLst>
              <a:gd name="adj" fmla="val 10435"/>
            </a:avLst>
          </a:prstGeom>
          <a:solidFill>
            <a:srgbClr val="0E8C7F"/>
          </a:solidFill>
          <a:ln/>
        </p:spPr>
        <p:txBody>
          <a:bodyPr/>
          <a:lstStyle/>
          <a:p>
            <a:endParaRPr lang="en-LB"/>
          </a:p>
        </p:txBody>
      </p:sp>
      <p:sp>
        <p:nvSpPr>
          <p:cNvPr id="13" name="Text 11"/>
          <p:cNvSpPr txBox="1"/>
          <p:nvPr/>
        </p:nvSpPr>
        <p:spPr>
          <a:xfrm>
            <a:off x="777240" y="3840480"/>
            <a:ext cx="3993989" cy="70104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Routing (L11–L12)</a:t>
            </a:r>
            <a:endParaRPr lang="en-US" sz="1600" dirty="0"/>
          </a:p>
        </p:txBody>
      </p:sp>
      <p:sp>
        <p:nvSpPr>
          <p:cNvPr id="14" name="Text 12"/>
          <p:cNvSpPr txBox="1"/>
          <p:nvPr/>
        </p:nvSpPr>
        <p:spPr>
          <a:xfrm>
            <a:off x="4882174" y="3840480"/>
            <a:ext cx="6623722" cy="701040"/>
          </a:xfrm>
          <a:prstGeom prst="rect">
            <a:avLst/>
          </a:prstGeom>
          <a:noFill/>
          <a:ln/>
        </p:spPr>
        <p:txBody>
          <a:bodyPr wrap="square" lIns="0" tIns="0" rIns="0" bIns="0" rtlCol="0" anchor="ctr"/>
          <a:lstStyle/>
          <a:p>
            <a:pPr marL="0" indent="0">
              <a:buNone/>
            </a:pPr>
            <a:r>
              <a:rPr lang="en-US" sz="1600" dirty="0">
                <a:solidFill>
                  <a:srgbClr val="EAF1F5"/>
                </a:solidFill>
                <a:latin typeface="Calibri" pitchFamily="34" charset="0"/>
                <a:ea typeface="Calibri" pitchFamily="34" charset="-122"/>
                <a:cs typeface="Calibri" pitchFamily="34" charset="-120"/>
              </a:rPr>
              <a:t>Advanced OSPF, BGP for inter-domain routing</a:t>
            </a:r>
            <a:endParaRPr lang="en-US" sz="1600" dirty="0"/>
          </a:p>
        </p:txBody>
      </p:sp>
      <p:sp>
        <p:nvSpPr>
          <p:cNvPr id="15" name="Shape 13"/>
          <p:cNvSpPr/>
          <p:nvPr/>
        </p:nvSpPr>
        <p:spPr>
          <a:xfrm>
            <a:off x="548640" y="4678680"/>
            <a:ext cx="11094415" cy="701040"/>
          </a:xfrm>
          <a:prstGeom prst="roundRect">
            <a:avLst>
              <a:gd name="adj" fmla="val 10435"/>
            </a:avLst>
          </a:prstGeom>
          <a:solidFill>
            <a:srgbClr val="0A6A60"/>
          </a:solidFill>
          <a:ln/>
        </p:spPr>
        <p:txBody>
          <a:bodyPr/>
          <a:lstStyle/>
          <a:p>
            <a:endParaRPr lang="en-LB"/>
          </a:p>
        </p:txBody>
      </p:sp>
      <p:sp>
        <p:nvSpPr>
          <p:cNvPr id="16" name="Text 14"/>
          <p:cNvSpPr txBox="1"/>
          <p:nvPr/>
        </p:nvSpPr>
        <p:spPr>
          <a:xfrm>
            <a:off x="777240" y="4678680"/>
            <a:ext cx="3993989" cy="70104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Security (L13–L14)</a:t>
            </a:r>
            <a:endParaRPr lang="en-US" sz="1600" dirty="0"/>
          </a:p>
        </p:txBody>
      </p:sp>
      <p:sp>
        <p:nvSpPr>
          <p:cNvPr id="17" name="Text 15"/>
          <p:cNvSpPr txBox="1"/>
          <p:nvPr/>
        </p:nvSpPr>
        <p:spPr>
          <a:xfrm>
            <a:off x="4882174" y="4678680"/>
            <a:ext cx="6623722" cy="701040"/>
          </a:xfrm>
          <a:prstGeom prst="rect">
            <a:avLst/>
          </a:prstGeom>
          <a:noFill/>
          <a:ln/>
        </p:spPr>
        <p:txBody>
          <a:bodyPr wrap="square" lIns="0" tIns="0" rIns="0" bIns="0" rtlCol="0" anchor="ctr"/>
          <a:lstStyle/>
          <a:p>
            <a:pPr marL="0" indent="0">
              <a:buNone/>
            </a:pPr>
            <a:r>
              <a:rPr lang="en-US" sz="1600" dirty="0">
                <a:solidFill>
                  <a:srgbClr val="EAF1F5"/>
                </a:solidFill>
                <a:latin typeface="Calibri" pitchFamily="34" charset="0"/>
                <a:ea typeface="Calibri" pitchFamily="34" charset="-122"/>
                <a:cs typeface="Calibri" pitchFamily="34" charset="-120"/>
              </a:rPr>
              <a:t>IPsec and TLS protocol flows</a:t>
            </a:r>
            <a:endParaRPr lang="en-US" sz="1600" dirty="0"/>
          </a:p>
        </p:txBody>
      </p:sp>
      <p:sp>
        <p:nvSpPr>
          <p:cNvPr id="18" name="Shape 16"/>
          <p:cNvSpPr/>
          <p:nvPr/>
        </p:nvSpPr>
        <p:spPr>
          <a:xfrm>
            <a:off x="548640" y="5516880"/>
            <a:ext cx="11094415" cy="701040"/>
          </a:xfrm>
          <a:prstGeom prst="roundRect">
            <a:avLst>
              <a:gd name="adj" fmla="val 10435"/>
            </a:avLst>
          </a:prstGeom>
          <a:solidFill>
            <a:srgbClr val="E8772E"/>
          </a:solidFill>
          <a:ln/>
        </p:spPr>
        <p:txBody>
          <a:bodyPr/>
          <a:lstStyle/>
          <a:p>
            <a:endParaRPr lang="en-LB"/>
          </a:p>
        </p:txBody>
      </p:sp>
      <p:sp>
        <p:nvSpPr>
          <p:cNvPr id="19" name="Text 17"/>
          <p:cNvSpPr txBox="1"/>
          <p:nvPr/>
        </p:nvSpPr>
        <p:spPr>
          <a:xfrm>
            <a:off x="777240" y="5516880"/>
            <a:ext cx="3993989" cy="70104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Ops &amp; future (L15–L17)</a:t>
            </a:r>
            <a:endParaRPr lang="en-US" sz="1600" dirty="0"/>
          </a:p>
        </p:txBody>
      </p:sp>
      <p:sp>
        <p:nvSpPr>
          <p:cNvPr id="20" name="Text 18"/>
          <p:cNvSpPr txBox="1"/>
          <p:nvPr/>
        </p:nvSpPr>
        <p:spPr>
          <a:xfrm>
            <a:off x="4882174" y="5516880"/>
            <a:ext cx="6623722" cy="701040"/>
          </a:xfrm>
          <a:prstGeom prst="rect">
            <a:avLst/>
          </a:prstGeom>
          <a:noFill/>
          <a:ln/>
        </p:spPr>
        <p:txBody>
          <a:bodyPr wrap="square" lIns="0" tIns="0" rIns="0" bIns="0" rtlCol="0" anchor="ctr"/>
          <a:lstStyle/>
          <a:p>
            <a:pPr marL="0" indent="0">
              <a:buNone/>
            </a:pPr>
            <a:r>
              <a:rPr lang="en-US" sz="1600" dirty="0">
                <a:solidFill>
                  <a:srgbClr val="EAF1F5"/>
                </a:solidFill>
                <a:latin typeface="Calibri" pitchFamily="34" charset="0"/>
                <a:ea typeface="Calibri" pitchFamily="34" charset="-122"/>
                <a:cs typeface="Calibri" pitchFamily="34" charset="-120"/>
              </a:rPr>
              <a:t>Measurement, QUIC &amp; HTTP/3, network design principles</a:t>
            </a:r>
            <a:endParaRPr lang="en-US" sz="1600" dirty="0"/>
          </a:p>
        </p:txBody>
      </p:sp>
      <p:sp>
        <p:nvSpPr>
          <p:cNvPr id="21" name="Text 19"/>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22" name="Text 20"/>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Course roadmap</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The course follows a packet’s life from the end host outwards. We start inside the </a:t>
            </a:r>
            <a:r>
              <a:rPr lang="en-US" sz="2000" b="1" dirty="0">
                <a:solidFill>
                  <a:srgbClr val="1F2A33"/>
                </a:solidFill>
                <a:latin typeface="Calibri" pitchFamily="34" charset="0"/>
                <a:ea typeface="Calibri" pitchFamily="34" charset="-122"/>
                <a:cs typeface="Calibri" pitchFamily="34" charset="-120"/>
              </a:rPr>
              <a:t>transport layer</a:t>
            </a:r>
            <a:r>
              <a:rPr lang="en-US" sz="2000" dirty="0">
                <a:solidFill>
                  <a:srgbClr val="1F2A33"/>
                </a:solidFill>
                <a:latin typeface="Calibri" pitchFamily="34" charset="0"/>
                <a:ea typeface="Calibri" pitchFamily="34" charset="-122"/>
                <a:cs typeface="Calibri" pitchFamily="34" charset="-120"/>
              </a:rPr>
              <a:t> (TCP), because almost every later topic — QoS, measurement, QUIC — reacts to how TCP behaves. Next we look at how the network can </a:t>
            </a:r>
            <a:r>
              <a:rPr lang="en-US" sz="2000" b="1" dirty="0">
                <a:solidFill>
                  <a:srgbClr val="1F2A33"/>
                </a:solidFill>
                <a:latin typeface="Calibri" pitchFamily="34" charset="0"/>
                <a:ea typeface="Calibri" pitchFamily="34" charset="-122"/>
                <a:cs typeface="Calibri" pitchFamily="34" charset="-120"/>
              </a:rPr>
              <a:t>treat traffic differently</a:t>
            </a:r>
            <a:r>
              <a:rPr lang="en-US" sz="2000" dirty="0">
                <a:solidFill>
                  <a:srgbClr val="1F2A33"/>
                </a:solidFill>
                <a:latin typeface="Calibri" pitchFamily="34" charset="0"/>
                <a:ea typeface="Calibri" pitchFamily="34" charset="-122"/>
                <a:cs typeface="Calibri" pitchFamily="34" charset="-120"/>
              </a:rPr>
              <a:t> (QoS), then at how modern networks are </a:t>
            </a:r>
            <a:r>
              <a:rPr lang="en-US" sz="2000" b="1" dirty="0">
                <a:solidFill>
                  <a:srgbClr val="1F2A33"/>
                </a:solidFill>
                <a:latin typeface="Calibri" pitchFamily="34" charset="0"/>
                <a:ea typeface="Calibri" pitchFamily="34" charset="-122"/>
                <a:cs typeface="Calibri" pitchFamily="34" charset="-120"/>
              </a:rPr>
              <a:t>built and programmed in software</a:t>
            </a:r>
            <a:r>
              <a:rPr lang="en-US" sz="2000" dirty="0">
                <a:solidFill>
                  <a:srgbClr val="1F2A33"/>
                </a:solidFill>
                <a:latin typeface="Calibri" pitchFamily="34" charset="0"/>
                <a:ea typeface="Calibri" pitchFamily="34" charset="-122"/>
                <a:cs typeface="Calibri" pitchFamily="34" charset="-120"/>
              </a:rPr>
              <a:t> (NFV and SDN).</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With that foundation we study </a:t>
            </a:r>
            <a:r>
              <a:rPr lang="en-US" sz="2000" b="1" dirty="0">
                <a:solidFill>
                  <a:srgbClr val="1F2A33"/>
                </a:solidFill>
                <a:latin typeface="Calibri" pitchFamily="34" charset="0"/>
                <a:ea typeface="Calibri" pitchFamily="34" charset="-122"/>
                <a:cs typeface="Calibri" pitchFamily="34" charset="-120"/>
              </a:rPr>
              <a:t>how packets find their way</a:t>
            </a:r>
            <a:r>
              <a:rPr lang="en-US" sz="2000" dirty="0">
                <a:solidFill>
                  <a:srgbClr val="1F2A33"/>
                </a:solidFill>
                <a:latin typeface="Calibri" pitchFamily="34" charset="0"/>
                <a:ea typeface="Calibri" pitchFamily="34" charset="-122"/>
                <a:cs typeface="Calibri" pitchFamily="34" charset="-120"/>
              </a:rPr>
              <a:t> between and within organisations (OSPF and BGP), </a:t>
            </a:r>
            <a:r>
              <a:rPr lang="en-US" sz="2000" b="1" dirty="0">
                <a:solidFill>
                  <a:srgbClr val="1F2A33"/>
                </a:solidFill>
                <a:latin typeface="Calibri" pitchFamily="34" charset="0"/>
                <a:ea typeface="Calibri" pitchFamily="34" charset="-122"/>
                <a:cs typeface="Calibri" pitchFamily="34" charset="-120"/>
              </a:rPr>
              <a:t>how they are protected</a:t>
            </a:r>
            <a:r>
              <a:rPr lang="en-US" sz="2000" dirty="0">
                <a:solidFill>
                  <a:srgbClr val="1F2A33"/>
                </a:solidFill>
                <a:latin typeface="Calibri" pitchFamily="34" charset="0"/>
                <a:ea typeface="Calibri" pitchFamily="34" charset="-122"/>
                <a:cs typeface="Calibri" pitchFamily="34" charset="-120"/>
              </a:rPr>
              <a:t> (IPsec and TLS), </a:t>
            </a:r>
            <a:r>
              <a:rPr lang="en-US" sz="2000" b="1" dirty="0">
                <a:solidFill>
                  <a:srgbClr val="1F2A33"/>
                </a:solidFill>
                <a:latin typeface="Calibri" pitchFamily="34" charset="0"/>
                <a:ea typeface="Calibri" pitchFamily="34" charset="-122"/>
                <a:cs typeface="Calibri" pitchFamily="34" charset="-120"/>
              </a:rPr>
              <a:t>how we measure</a:t>
            </a:r>
            <a:r>
              <a:rPr lang="en-US" sz="2000" dirty="0">
                <a:solidFill>
                  <a:srgbClr val="1F2A33"/>
                </a:solidFill>
                <a:latin typeface="Calibri" pitchFamily="34" charset="0"/>
                <a:ea typeface="Calibri" pitchFamily="34" charset="-122"/>
                <a:cs typeface="Calibri" pitchFamily="34" charset="-120"/>
              </a:rPr>
              <a:t> whether all of this works, and finally </a:t>
            </a:r>
            <a:r>
              <a:rPr lang="en-US" sz="2000" b="1" dirty="0">
                <a:solidFill>
                  <a:srgbClr val="1F2A33"/>
                </a:solidFill>
                <a:latin typeface="Calibri" pitchFamily="34" charset="0"/>
                <a:ea typeface="Calibri" pitchFamily="34" charset="-122"/>
                <a:cs typeface="Calibri" pitchFamily="34" charset="-120"/>
              </a:rPr>
              <a:t>where protocols are heading</a:t>
            </a:r>
            <a:r>
              <a:rPr lang="en-US" sz="2000" dirty="0">
                <a:solidFill>
                  <a:srgbClr val="1F2A33"/>
                </a:solidFill>
                <a:latin typeface="Calibri" pitchFamily="34" charset="0"/>
                <a:ea typeface="Calibri" pitchFamily="34" charset="-122"/>
                <a:cs typeface="Calibri" pitchFamily="34" charset="-120"/>
              </a:rPr>
              <a:t> (QUIC, HTTP/3) and </a:t>
            </a:r>
            <a:r>
              <a:rPr lang="en-US" sz="2000" b="1" dirty="0">
                <a:solidFill>
                  <a:srgbClr val="1F2A33"/>
                </a:solidFill>
                <a:latin typeface="Calibri" pitchFamily="34" charset="0"/>
                <a:ea typeface="Calibri" pitchFamily="34" charset="-122"/>
                <a:cs typeface="Calibri" pitchFamily="34" charset="-120"/>
              </a:rPr>
              <a:t>how to design</a:t>
            </a:r>
            <a:r>
              <a:rPr lang="en-US" sz="2000" dirty="0">
                <a:solidFill>
                  <a:srgbClr val="1F2A33"/>
                </a:solidFill>
                <a:latin typeface="Calibri" pitchFamily="34" charset="0"/>
                <a:ea typeface="Calibri" pitchFamily="34" charset="-122"/>
                <a:cs typeface="Calibri" pitchFamily="34" charset="-120"/>
              </a:rPr>
              <a:t> a complete network.</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Each lab is scheduled right after the lectures it supports, so you will always practise a topic within a week or two of seeing it in class.</a:t>
            </a:r>
            <a:endParaRPr lang="en-US" sz="2000" dirty="0"/>
          </a:p>
        </p:txBody>
      </p:sp>
      <p:sp>
        <p:nvSpPr>
          <p:cNvPr id="6" name="Shape 4"/>
          <p:cNvSpPr/>
          <p:nvPr/>
        </p:nvSpPr>
        <p:spPr>
          <a:xfrm>
            <a:off x="8001000" y="1325880"/>
            <a:ext cx="3642055" cy="4892040"/>
          </a:xfrm>
          <a:prstGeom prst="roundRect">
            <a:avLst>
              <a:gd name="adj" fmla="val 2511"/>
            </a:avLst>
          </a:prstGeom>
          <a:solidFill>
            <a:srgbClr val="FDEBDD"/>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8" name="Text 6"/>
          <p:cNvSpPr txBox="1"/>
          <p:nvPr/>
        </p:nvSpPr>
        <p:spPr>
          <a:xfrm>
            <a:off x="8229600" y="1874520"/>
            <a:ext cx="3184855" cy="4206240"/>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Every block builds on the previous one. If TCP congestion control is unclear, QoS and QUIC will be harder — revise L1–L3 early.</a:t>
            </a:r>
            <a:endParaRPr lang="en-US" sz="1700" dirty="0"/>
          </a:p>
        </p:txBody>
      </p:sp>
      <p:sp>
        <p:nvSpPr>
          <p:cNvPr id="9" name="Text 7"/>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222D"/>
        </a:solidFill>
        <a:effectLst/>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marL="0" indent="0">
              <a:buNone/>
            </a:pPr>
            <a:r>
              <a:rPr lang="en-US" sz="9600" b="1" dirty="0">
                <a:solidFill>
                  <a:srgbClr val="E8772E"/>
                </a:solidFill>
                <a:latin typeface="Arial" pitchFamily="34" charset="0"/>
                <a:ea typeface="Arial" pitchFamily="34" charset="-122"/>
                <a:cs typeface="Arial" pitchFamily="34" charset="-120"/>
              </a:rPr>
              <a:t>01</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marL="0" indent="0">
              <a:buNone/>
            </a:pPr>
            <a:r>
              <a:rPr lang="en-US" sz="3600" b="1" dirty="0">
                <a:solidFill>
                  <a:srgbClr val="FFFFFF"/>
                </a:solidFill>
                <a:latin typeface="Arial" pitchFamily="34" charset="0"/>
                <a:ea typeface="Arial" pitchFamily="34" charset="-122"/>
                <a:cs typeface="Arial" pitchFamily="34" charset="-120"/>
              </a:rPr>
              <a:t>The TCP service model</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marL="0" indent="0">
              <a:buNone/>
            </a:pPr>
            <a:r>
              <a:rPr lang="en-US" sz="1800" dirty="0">
                <a:solidFill>
                  <a:srgbClr val="C7D3DC"/>
                </a:solidFill>
                <a:latin typeface="Calibri" pitchFamily="34" charset="0"/>
                <a:ea typeface="Calibri" pitchFamily="34" charset="-122"/>
                <a:cs typeface="Calibri" pitchFamily="34" charset="-120"/>
              </a:rPr>
              <a:t>What TCP promises the application — and what it does not</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9FB0BD"/>
                </a:solidFill>
                <a:latin typeface="Calibri" pitchFamily="34" charset="0"/>
                <a:ea typeface="Calibri" pitchFamily="34" charset="-122"/>
                <a:cs typeface="Calibri" pitchFamily="34" charset="-120"/>
              </a:rPr>
              <a:t>IN403  ·  Lecture 1  ·  TCP Deep Dive I</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9FB0B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TCP vs UDP: two transport contracts</a:t>
            </a:r>
            <a:endParaRPr lang="en-US" sz="3000" dirty="0"/>
          </a:p>
        </p:txBody>
      </p:sp>
      <p:sp>
        <p:nvSpPr>
          <p:cNvPr id="3" name="Shape 1"/>
          <p:cNvSpPr/>
          <p:nvPr/>
        </p:nvSpPr>
        <p:spPr>
          <a:xfrm>
            <a:off x="548640" y="1325880"/>
            <a:ext cx="5364328" cy="4892040"/>
          </a:xfrm>
          <a:prstGeom prst="roundRect">
            <a:avLst>
              <a:gd name="adj" fmla="val 1869"/>
            </a:avLst>
          </a:prstGeom>
          <a:solidFill>
            <a:srgbClr val="F2F5F7"/>
          </a:solidFill>
          <a:ln/>
        </p:spPr>
        <p:txBody>
          <a:bodyPr/>
          <a:lstStyle/>
          <a:p>
            <a:endParaRPr lang="en-LB"/>
          </a:p>
        </p:txBody>
      </p:sp>
      <p:sp>
        <p:nvSpPr>
          <p:cNvPr id="4" name="Shape 2"/>
          <p:cNvSpPr/>
          <p:nvPr/>
        </p:nvSpPr>
        <p:spPr>
          <a:xfrm>
            <a:off x="777240" y="1508760"/>
            <a:ext cx="4907128" cy="548640"/>
          </a:xfrm>
          <a:prstGeom prst="roundRect">
            <a:avLst>
              <a:gd name="adj" fmla="val 16667"/>
            </a:avLst>
          </a:prstGeom>
          <a:solidFill>
            <a:srgbClr val="E8772E"/>
          </a:solidFill>
          <a:ln/>
        </p:spPr>
        <p:txBody>
          <a:bodyPr/>
          <a:lstStyle/>
          <a:p>
            <a:endParaRPr lang="en-LB"/>
          </a:p>
        </p:txBody>
      </p:sp>
      <p:sp>
        <p:nvSpPr>
          <p:cNvPr id="5" name="Text 3"/>
          <p:cNvSpPr txBox="1"/>
          <p:nvPr/>
        </p:nvSpPr>
        <p:spPr>
          <a:xfrm>
            <a:off x="777240" y="1508760"/>
            <a:ext cx="4907128" cy="54864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TCP</a:t>
            </a:r>
            <a:endParaRPr lang="en-US" sz="1800" dirty="0"/>
          </a:p>
        </p:txBody>
      </p:sp>
      <p:sp>
        <p:nvSpPr>
          <p:cNvPr id="6" name="Text 4"/>
          <p:cNvSpPr txBox="1"/>
          <p:nvPr/>
        </p:nvSpPr>
        <p:spPr>
          <a:xfrm>
            <a:off x="822960"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Connection-oriented (3-way handshake)</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Reliable, in-order byte stream</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Flow control (protects the receiver)</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Congestion control (protects the network)</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Full-duplex, point-to-point</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Used by HTTP/1.1–2, SSH, SMTP, BGP</a:t>
            </a:r>
            <a:endParaRPr lang="en-US" sz="2000" dirty="0"/>
          </a:p>
        </p:txBody>
      </p:sp>
      <p:sp>
        <p:nvSpPr>
          <p:cNvPr id="7" name="Shape 5"/>
          <p:cNvSpPr/>
          <p:nvPr/>
        </p:nvSpPr>
        <p:spPr>
          <a:xfrm>
            <a:off x="6278728" y="1325880"/>
            <a:ext cx="5364328" cy="4892040"/>
          </a:xfrm>
          <a:prstGeom prst="roundRect">
            <a:avLst>
              <a:gd name="adj" fmla="val 1869"/>
            </a:avLst>
          </a:prstGeom>
          <a:solidFill>
            <a:srgbClr val="F2F5F7"/>
          </a:solidFill>
          <a:ln/>
        </p:spPr>
        <p:txBody>
          <a:bodyPr/>
          <a:lstStyle/>
          <a:p>
            <a:endParaRPr lang="en-LB"/>
          </a:p>
        </p:txBody>
      </p:sp>
      <p:sp>
        <p:nvSpPr>
          <p:cNvPr id="8" name="Shape 6"/>
          <p:cNvSpPr/>
          <p:nvPr/>
        </p:nvSpPr>
        <p:spPr>
          <a:xfrm>
            <a:off x="6507328" y="1508760"/>
            <a:ext cx="4907128" cy="548640"/>
          </a:xfrm>
          <a:prstGeom prst="roundRect">
            <a:avLst>
              <a:gd name="adj" fmla="val 16667"/>
            </a:avLst>
          </a:prstGeom>
          <a:solidFill>
            <a:srgbClr val="0E8C7F"/>
          </a:solidFill>
          <a:ln/>
        </p:spPr>
        <p:txBody>
          <a:bodyPr/>
          <a:lstStyle/>
          <a:p>
            <a:endParaRPr lang="en-LB"/>
          </a:p>
        </p:txBody>
      </p:sp>
      <p:sp>
        <p:nvSpPr>
          <p:cNvPr id="9" name="Text 7"/>
          <p:cNvSpPr txBox="1"/>
          <p:nvPr/>
        </p:nvSpPr>
        <p:spPr>
          <a:xfrm>
            <a:off x="6507328" y="1508760"/>
            <a:ext cx="4907128" cy="54864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UDP</a:t>
            </a:r>
            <a:endParaRPr lang="en-US" sz="1800" dirty="0"/>
          </a:p>
        </p:txBody>
      </p:sp>
      <p:sp>
        <p:nvSpPr>
          <p:cNvPr id="10" name="Text 8"/>
          <p:cNvSpPr txBox="1"/>
          <p:nvPr/>
        </p:nvSpPr>
        <p:spPr>
          <a:xfrm>
            <a:off x="6553048"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Connectionless, no handshake</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Best-effort datagrams; may be lost or reordered</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No flow or congestion control</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Minimal 8-byte header, low latency</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Supports multicast/broadcast</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Used by DNS, VoIP/RTP, DHCP, QUIC (HTTP/3)</a:t>
            </a:r>
            <a:endParaRPr lang="en-US" sz="2000" dirty="0"/>
          </a:p>
        </p:txBody>
      </p:sp>
      <p:sp>
        <p:nvSpPr>
          <p:cNvPr id="11" name="Text 9"/>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2" name="Text 10"/>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TCP vs UDP: two transport contracts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The transport layer offers applications a </a:t>
            </a:r>
            <a:r>
              <a:rPr lang="en-US" sz="2000" b="1" dirty="0">
                <a:solidFill>
                  <a:srgbClr val="1F2A33"/>
                </a:solidFill>
                <a:latin typeface="Calibri" pitchFamily="34" charset="0"/>
                <a:ea typeface="Calibri" pitchFamily="34" charset="-122"/>
                <a:cs typeface="Calibri" pitchFamily="34" charset="-120"/>
              </a:rPr>
              <a:t>service contract</a:t>
            </a:r>
            <a:r>
              <a:rPr lang="en-US" sz="2000" dirty="0">
                <a:solidFill>
                  <a:srgbClr val="1F2A33"/>
                </a:solidFill>
                <a:latin typeface="Calibri" pitchFamily="34" charset="0"/>
                <a:ea typeface="Calibri" pitchFamily="34" charset="-122"/>
                <a:cs typeface="Calibri" pitchFamily="34" charset="-120"/>
              </a:rPr>
              <a:t>. TCP promises that every byte you write will arrive, exactly once and in order, or that you will be told the connection failed. To keep that promise it needs a connection (state at both ends), sequence numbers, acknowledgments and retransmissions.</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UDP promises almost nothing: each datagram is sent independently and may be lost, duplicated or reordered. In exchange it adds only 8 bytes of header and no set-up delay, which suits short exchanges (DNS) and real-time media where a late packet is as useless as a lost one.</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An important subtlety is that TCP is a </a:t>
            </a:r>
            <a:r>
              <a:rPr lang="en-US" sz="2000" b="1" dirty="0">
                <a:solidFill>
                  <a:srgbClr val="1F2A33"/>
                </a:solidFill>
                <a:latin typeface="Calibri" pitchFamily="34" charset="0"/>
                <a:ea typeface="Calibri" pitchFamily="34" charset="-122"/>
                <a:cs typeface="Calibri" pitchFamily="34" charset="-120"/>
              </a:rPr>
              <a:t>byte stream</a:t>
            </a:r>
            <a:r>
              <a:rPr lang="en-US" sz="2000" dirty="0">
                <a:solidFill>
                  <a:srgbClr val="1F2A33"/>
                </a:solidFill>
                <a:latin typeface="Calibri" pitchFamily="34" charset="0"/>
                <a:ea typeface="Calibri" pitchFamily="34" charset="-122"/>
                <a:cs typeface="Calibri" pitchFamily="34" charset="-120"/>
              </a:rPr>
              <a:t>: if you send two 100-byte messages, the receiver may read 200 bytes at once or 50 bytes at a time. Applications must define their own message boundaries.</a:t>
            </a:r>
            <a:endParaRPr lang="en-US" sz="2000" dirty="0"/>
          </a:p>
        </p:txBody>
      </p:sp>
      <p:sp>
        <p:nvSpPr>
          <p:cNvPr id="6" name="Shape 4"/>
          <p:cNvSpPr/>
          <p:nvPr/>
        </p:nvSpPr>
        <p:spPr>
          <a:xfrm>
            <a:off x="8001000" y="1325880"/>
            <a:ext cx="3642055" cy="2436001"/>
          </a:xfrm>
          <a:prstGeom prst="roundRect">
            <a:avLst>
              <a:gd name="adj" fmla="val 3754"/>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750201"/>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A video call uses UDP (RTP): if a voice packet is lost, retransmitting it 100 ms later is pointless. A file download uses TCP: a single missing byte would corrupt the file.</a:t>
            </a:r>
            <a:endParaRPr lang="en-US" sz="1700" dirty="0"/>
          </a:p>
        </p:txBody>
      </p:sp>
      <p:sp>
        <p:nvSpPr>
          <p:cNvPr id="9" name="Shape 7"/>
          <p:cNvSpPr/>
          <p:nvPr/>
        </p:nvSpPr>
        <p:spPr>
          <a:xfrm>
            <a:off x="8001000" y="3990481"/>
            <a:ext cx="3642055" cy="2227439"/>
          </a:xfrm>
          <a:prstGeom prst="roundRect">
            <a:avLst>
              <a:gd name="adj" fmla="val 4105"/>
            </a:avLst>
          </a:prstGeom>
          <a:solidFill>
            <a:srgbClr val="FDEBDD"/>
          </a:solidFill>
          <a:ln/>
        </p:spPr>
        <p:txBody>
          <a:bodyPr/>
          <a:lstStyle/>
          <a:p>
            <a:endParaRPr lang="en-LB"/>
          </a:p>
        </p:txBody>
      </p:sp>
      <p:sp>
        <p:nvSpPr>
          <p:cNvPr id="10" name="Text 8"/>
          <p:cNvSpPr txBox="1"/>
          <p:nvPr/>
        </p:nvSpPr>
        <p:spPr>
          <a:xfrm>
            <a:off x="8229600" y="4173361"/>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539121"/>
            <a:ext cx="3184855" cy="1541639"/>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TCP = reliable ordered byte stream with flow and congestion control. UDP = best-effort datagrams. QUIC rebuilds TCP-like reliability on top of UDP.</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TCP header: field by field</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773604">
                  <a:extLst>
                    <a:ext uri="{9D8B030D-6E8A-4147-A177-3AD203B41FA5}">
                      <a16:colId xmlns:a16="http://schemas.microsoft.com/office/drawing/2014/main" val="20000"/>
                    </a:ext>
                  </a:extLst>
                </a:gridCol>
                <a:gridCol w="1331330">
                  <a:extLst>
                    <a:ext uri="{9D8B030D-6E8A-4147-A177-3AD203B41FA5}">
                      <a16:colId xmlns:a16="http://schemas.microsoft.com/office/drawing/2014/main" val="20001"/>
                    </a:ext>
                  </a:extLst>
                </a:gridCol>
                <a:gridCol w="6989482">
                  <a:extLst>
                    <a:ext uri="{9D8B030D-6E8A-4147-A177-3AD203B41FA5}">
                      <a16:colId xmlns:a16="http://schemas.microsoft.com/office/drawing/2014/main" val="20002"/>
                    </a:ext>
                  </a:extLst>
                </a:gridCol>
              </a:tblGrid>
              <a:tr h="435864">
                <a:tc>
                  <a:txBody>
                    <a:bodyPr/>
                    <a:lstStyle/>
                    <a:p>
                      <a:pPr marL="0" indent="0">
                        <a:buNone/>
                      </a:pPr>
                      <a:r>
                        <a:rPr lang="en-US" sz="1600" b="1" dirty="0">
                          <a:solidFill>
                            <a:srgbClr val="FFFFFF"/>
                          </a:solidFill>
                          <a:latin typeface="Arial" pitchFamily="34" charset="0"/>
                          <a:ea typeface="Arial" pitchFamily="34" charset="-122"/>
                          <a:cs typeface="Arial" pitchFamily="34" charset="-120"/>
                        </a:rPr>
                        <a:t>Field</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Size</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Purpose</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extLst>
                  <a:ext uri="{0D108BD9-81ED-4DB2-BD59-A6C34878D82A}">
                    <a16:rowId xmlns:a16="http://schemas.microsoft.com/office/drawing/2014/main" val="10000"/>
                  </a:ext>
                </a:extLst>
              </a:tr>
              <a:tr h="725424">
                <a:tc>
                  <a:txBody>
                    <a:bodyPr/>
                    <a:lstStyle/>
                    <a:p>
                      <a:pPr marL="0" indent="0">
                        <a:buNone/>
                      </a:pPr>
                      <a:r>
                        <a:rPr lang="en-US" sz="1900" b="1" dirty="0">
                          <a:solidFill>
                            <a:srgbClr val="1F2A33"/>
                          </a:solidFill>
                          <a:latin typeface="Calibri" pitchFamily="34" charset="0"/>
                          <a:ea typeface="Calibri" pitchFamily="34" charset="-122"/>
                          <a:cs typeface="Calibri" pitchFamily="34" charset="-120"/>
                        </a:rPr>
                        <a:t>Source / Destination port</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16 b each</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Identify the sending and receiving processes (socket demultiplexing)</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extLst>
                  <a:ext uri="{0D108BD9-81ED-4DB2-BD59-A6C34878D82A}">
                    <a16:rowId xmlns:a16="http://schemas.microsoft.com/office/drawing/2014/main" val="10001"/>
                  </a:ext>
                </a:extLst>
              </a:tr>
              <a:tr h="725424">
                <a:tc>
                  <a:txBody>
                    <a:bodyPr/>
                    <a:lstStyle/>
                    <a:p>
                      <a:pPr marL="0" indent="0">
                        <a:buNone/>
                      </a:pPr>
                      <a:r>
                        <a:rPr lang="en-US" sz="1900" b="1" dirty="0">
                          <a:solidFill>
                            <a:srgbClr val="1F2A33"/>
                          </a:solidFill>
                          <a:latin typeface="Calibri" pitchFamily="34" charset="0"/>
                          <a:ea typeface="Calibri" pitchFamily="34" charset="-122"/>
                          <a:cs typeface="Calibri" pitchFamily="34" charset="-120"/>
                        </a:rPr>
                        <a:t>Sequence number</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32 b</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Byte offset of the first data byte in this segment (random ISN)</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5864">
                <a:tc>
                  <a:txBody>
                    <a:bodyPr/>
                    <a:lstStyle/>
                    <a:p>
                      <a:pPr marL="0" indent="0">
                        <a:buNone/>
                      </a:pPr>
                      <a:r>
                        <a:rPr lang="en-US" sz="1900" b="1" dirty="0">
                          <a:solidFill>
                            <a:srgbClr val="1F2A33"/>
                          </a:solidFill>
                          <a:latin typeface="Calibri" pitchFamily="34" charset="0"/>
                          <a:ea typeface="Calibri" pitchFamily="34" charset="-122"/>
                          <a:cs typeface="Calibri" pitchFamily="34" charset="-120"/>
                        </a:rPr>
                        <a:t>Acknowledgment number</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32 b</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Next byte expected from the peer — cumulative ACK</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extLst>
                  <a:ext uri="{0D108BD9-81ED-4DB2-BD59-A6C34878D82A}">
                    <a16:rowId xmlns:a16="http://schemas.microsoft.com/office/drawing/2014/main" val="10003"/>
                  </a:ext>
                </a:extLst>
              </a:tr>
              <a:tr h="435864">
                <a:tc>
                  <a:txBody>
                    <a:bodyPr/>
                    <a:lstStyle/>
                    <a:p>
                      <a:pPr marL="0" indent="0">
                        <a:buNone/>
                      </a:pPr>
                      <a:r>
                        <a:rPr lang="en-US" sz="1900" b="1" dirty="0">
                          <a:solidFill>
                            <a:srgbClr val="1F2A33"/>
                          </a:solidFill>
                          <a:latin typeface="Calibri" pitchFamily="34" charset="0"/>
                          <a:ea typeface="Calibri" pitchFamily="34" charset="-122"/>
                          <a:cs typeface="Calibri" pitchFamily="34" charset="-120"/>
                        </a:rPr>
                        <a:t>Data offset</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4 b</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Header length in 32-bit words (20–60 bytes)</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5864">
                <a:tc>
                  <a:txBody>
                    <a:bodyPr/>
                    <a:lstStyle/>
                    <a:p>
                      <a:pPr marL="0" indent="0">
                        <a:buNone/>
                      </a:pPr>
                      <a:r>
                        <a:rPr lang="en-US" sz="1900" b="1" dirty="0">
                          <a:solidFill>
                            <a:srgbClr val="1F2A33"/>
                          </a:solidFill>
                          <a:latin typeface="Calibri" pitchFamily="34" charset="0"/>
                          <a:ea typeface="Calibri" pitchFamily="34" charset="-122"/>
                          <a:cs typeface="Calibri" pitchFamily="34" charset="-120"/>
                        </a:rPr>
                        <a:t>Flags</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9 b</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CWR, ECE, URG, ACK, PSH, RST, SYN, FIN (+ NS, historic)</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extLst>
                  <a:ext uri="{0D108BD9-81ED-4DB2-BD59-A6C34878D82A}">
                    <a16:rowId xmlns:a16="http://schemas.microsoft.com/office/drawing/2014/main" val="10005"/>
                  </a:ext>
                </a:extLst>
              </a:tr>
              <a:tr h="435864">
                <a:tc>
                  <a:txBody>
                    <a:bodyPr/>
                    <a:lstStyle/>
                    <a:p>
                      <a:pPr marL="0" indent="0">
                        <a:buNone/>
                      </a:pPr>
                      <a:r>
                        <a:rPr lang="en-US" sz="1900" b="1" dirty="0">
                          <a:solidFill>
                            <a:srgbClr val="1F2A33"/>
                          </a:solidFill>
                          <a:latin typeface="Calibri" pitchFamily="34" charset="0"/>
                          <a:ea typeface="Calibri" pitchFamily="34" charset="-122"/>
                          <a:cs typeface="Calibri" pitchFamily="34" charset="-120"/>
                        </a:rPr>
                        <a:t>Window</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16 b</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Receive window advertised to the peer (scaled by option)</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5864">
                <a:tc>
                  <a:txBody>
                    <a:bodyPr/>
                    <a:lstStyle/>
                    <a:p>
                      <a:pPr marL="0" indent="0">
                        <a:buNone/>
                      </a:pPr>
                      <a:r>
                        <a:rPr lang="en-US" sz="1900" b="1" dirty="0">
                          <a:solidFill>
                            <a:srgbClr val="1F2A33"/>
                          </a:solidFill>
                          <a:latin typeface="Calibri" pitchFamily="34" charset="0"/>
                          <a:ea typeface="Calibri" pitchFamily="34" charset="-122"/>
                          <a:cs typeface="Calibri" pitchFamily="34" charset="-120"/>
                        </a:rPr>
                        <a:t>Checksum</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16 b</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Covers header, data and IP pseudo-header</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extLst>
                  <a:ext uri="{0D108BD9-81ED-4DB2-BD59-A6C34878D82A}">
                    <a16:rowId xmlns:a16="http://schemas.microsoft.com/office/drawing/2014/main" val="10007"/>
                  </a:ext>
                </a:extLst>
              </a:tr>
              <a:tr h="725424">
                <a:tc>
                  <a:txBody>
                    <a:bodyPr/>
                    <a:lstStyle/>
                    <a:p>
                      <a:pPr marL="0" indent="0">
                        <a:buNone/>
                      </a:pPr>
                      <a:r>
                        <a:rPr lang="en-US" sz="1900" b="1" dirty="0">
                          <a:solidFill>
                            <a:srgbClr val="1F2A33"/>
                          </a:solidFill>
                          <a:latin typeface="Calibri" pitchFamily="34" charset="0"/>
                          <a:ea typeface="Calibri" pitchFamily="34" charset="-122"/>
                          <a:cs typeface="Calibri" pitchFamily="34" charset="-120"/>
                        </a:rPr>
                        <a:t>Urgent pointer / Options</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16 b / var.</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900" dirty="0">
                          <a:solidFill>
                            <a:srgbClr val="1F2A33"/>
                          </a:solidFill>
                          <a:latin typeface="Calibri" pitchFamily="34" charset="0"/>
                          <a:ea typeface="Calibri" pitchFamily="34" charset="-122"/>
                          <a:cs typeface="Calibri" pitchFamily="34" charset="-120"/>
                        </a:rPr>
                        <a:t>Rarely used urgent data; MSS, WScale, SACK, Timestamps</a:t>
                      </a:r>
                      <a:endParaRPr lang="en-US" sz="19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4" name="Text 1"/>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5" name="Text 2"/>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TCP header: field by field</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Each TCP segment carries a header of 20 bytes plus up to 40 bytes of options. The </a:t>
            </a:r>
            <a:r>
              <a:rPr lang="en-US" sz="1900" b="1" dirty="0">
                <a:solidFill>
                  <a:srgbClr val="1F2A33"/>
                </a:solidFill>
                <a:latin typeface="Calibri" pitchFamily="34" charset="0"/>
                <a:ea typeface="Calibri" pitchFamily="34" charset="-122"/>
                <a:cs typeface="Calibri" pitchFamily="34" charset="-120"/>
              </a:rPr>
              <a:t>port numbers</a:t>
            </a:r>
            <a:r>
              <a:rPr lang="en-US" sz="1900" dirty="0">
                <a:solidFill>
                  <a:srgbClr val="1F2A33"/>
                </a:solidFill>
                <a:latin typeface="Calibri" pitchFamily="34" charset="0"/>
                <a:ea typeface="Calibri" pitchFamily="34" charset="-122"/>
                <a:cs typeface="Calibri" pitchFamily="34" charset="-120"/>
              </a:rPr>
              <a:t> identify the two application processes; together with the two IP addresses they form the 4-tuple that names a connection.</a:t>
            </a:r>
            <a:endParaRPr lang="en-US" sz="1900" dirty="0"/>
          </a:p>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The </a:t>
            </a:r>
            <a:r>
              <a:rPr lang="en-US" sz="1900" b="1" dirty="0">
                <a:solidFill>
                  <a:srgbClr val="1F2A33"/>
                </a:solidFill>
                <a:latin typeface="Calibri" pitchFamily="34" charset="0"/>
                <a:ea typeface="Calibri" pitchFamily="34" charset="-122"/>
                <a:cs typeface="Calibri" pitchFamily="34" charset="-120"/>
              </a:rPr>
              <a:t>sequence number</a:t>
            </a:r>
            <a:r>
              <a:rPr lang="en-US" sz="1900" dirty="0">
                <a:solidFill>
                  <a:srgbClr val="1F2A33"/>
                </a:solidFill>
                <a:latin typeface="Calibri" pitchFamily="34" charset="0"/>
                <a:ea typeface="Calibri" pitchFamily="34" charset="-122"/>
                <a:cs typeface="Calibri" pitchFamily="34" charset="-120"/>
              </a:rPr>
              <a:t> is the position (in bytes) of the first data byte of this segment in the sender’s stream. The </a:t>
            </a:r>
            <a:r>
              <a:rPr lang="en-US" sz="1900" b="1" dirty="0">
                <a:solidFill>
                  <a:srgbClr val="1F2A33"/>
                </a:solidFill>
                <a:latin typeface="Calibri" pitchFamily="34" charset="0"/>
                <a:ea typeface="Calibri" pitchFamily="34" charset="-122"/>
                <a:cs typeface="Calibri" pitchFamily="34" charset="-120"/>
              </a:rPr>
              <a:t>acknowledgment number</a:t>
            </a:r>
            <a:r>
              <a:rPr lang="en-US" sz="1900" dirty="0">
                <a:solidFill>
                  <a:srgbClr val="1F2A33"/>
                </a:solidFill>
                <a:latin typeface="Calibri" pitchFamily="34" charset="0"/>
                <a:ea typeface="Calibri" pitchFamily="34" charset="-122"/>
                <a:cs typeface="Calibri" pitchFamily="34" charset="-120"/>
              </a:rPr>
              <a:t> tells the other side “I have received everything up to this byte; send me this one next”. Because it is cumulative, one ACK can confirm many segments.</a:t>
            </a:r>
            <a:endParaRPr lang="en-US" sz="1900" dirty="0"/>
          </a:p>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The </a:t>
            </a:r>
            <a:r>
              <a:rPr lang="en-US" sz="1900" b="1" dirty="0">
                <a:solidFill>
                  <a:srgbClr val="1F2A33"/>
                </a:solidFill>
                <a:latin typeface="Calibri" pitchFamily="34" charset="0"/>
                <a:ea typeface="Calibri" pitchFamily="34" charset="-122"/>
                <a:cs typeface="Calibri" pitchFamily="34" charset="-120"/>
              </a:rPr>
              <a:t>flags</a:t>
            </a:r>
            <a:r>
              <a:rPr lang="en-US" sz="1900" dirty="0">
                <a:solidFill>
                  <a:srgbClr val="1F2A33"/>
                </a:solidFill>
                <a:latin typeface="Calibri" pitchFamily="34" charset="0"/>
                <a:ea typeface="Calibri" pitchFamily="34" charset="-122"/>
                <a:cs typeface="Calibri" pitchFamily="34" charset="-120"/>
              </a:rPr>
              <a:t> control the connection: SYN opens it, FIN closes it gracefully, RST aborts it, ACK means the acknowledgment field is valid, PSH asks the receiver to deliver data to the application promptly. The </a:t>
            </a:r>
            <a:r>
              <a:rPr lang="en-US" sz="1900" b="1" dirty="0">
                <a:solidFill>
                  <a:srgbClr val="1F2A33"/>
                </a:solidFill>
                <a:latin typeface="Calibri" pitchFamily="34" charset="0"/>
                <a:ea typeface="Calibri" pitchFamily="34" charset="-122"/>
                <a:cs typeface="Calibri" pitchFamily="34" charset="-120"/>
              </a:rPr>
              <a:t>window</a:t>
            </a:r>
            <a:r>
              <a:rPr lang="en-US" sz="1900" dirty="0">
                <a:solidFill>
                  <a:srgbClr val="1F2A33"/>
                </a:solidFill>
                <a:latin typeface="Calibri" pitchFamily="34" charset="0"/>
                <a:ea typeface="Calibri" pitchFamily="34" charset="-122"/>
                <a:cs typeface="Calibri" pitchFamily="34" charset="-120"/>
              </a:rPr>
              <a:t> field is how the receiver says how much more data it can accept — this is the heart of flow control.</a:t>
            </a:r>
            <a:endParaRPr lang="en-US" sz="1900" dirty="0"/>
          </a:p>
        </p:txBody>
      </p:sp>
      <p:sp>
        <p:nvSpPr>
          <p:cNvPr id="6" name="Shape 4"/>
          <p:cNvSpPr/>
          <p:nvPr/>
        </p:nvSpPr>
        <p:spPr>
          <a:xfrm>
            <a:off x="8001000" y="1325880"/>
            <a:ext cx="3642055" cy="2548961"/>
          </a:xfrm>
          <a:prstGeom prst="roundRect">
            <a:avLst>
              <a:gd name="adj" fmla="val 3587"/>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63161"/>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A segment with seq = 5001 carrying 1000 bytes contains bytes 5001–6000. The receiver answers with ack = 6001, meaning “next I expect byte 6001”.</a:t>
            </a:r>
            <a:endParaRPr lang="en-US" sz="1700" dirty="0"/>
          </a:p>
        </p:txBody>
      </p:sp>
      <p:sp>
        <p:nvSpPr>
          <p:cNvPr id="9" name="Shape 7"/>
          <p:cNvSpPr/>
          <p:nvPr/>
        </p:nvSpPr>
        <p:spPr>
          <a:xfrm>
            <a:off x="8001000" y="4103441"/>
            <a:ext cx="3642055" cy="2114479"/>
          </a:xfrm>
          <a:prstGeom prst="roundRect">
            <a:avLst>
              <a:gd name="adj" fmla="val 4324"/>
            </a:avLst>
          </a:prstGeom>
          <a:solidFill>
            <a:srgbClr val="FDEBDD"/>
          </a:solidFill>
          <a:ln/>
        </p:spPr>
        <p:txBody>
          <a:bodyPr/>
          <a:lstStyle/>
          <a:p>
            <a:endParaRPr lang="en-LB"/>
          </a:p>
        </p:txBody>
      </p:sp>
      <p:sp>
        <p:nvSpPr>
          <p:cNvPr id="10" name="Text 8"/>
          <p:cNvSpPr txBox="1"/>
          <p:nvPr/>
        </p:nvSpPr>
        <p:spPr>
          <a:xfrm>
            <a:off x="8229600" y="4286321"/>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52081"/>
            <a:ext cx="3184855" cy="1428679"/>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Sequence and ACK numbers count bytes, not packets. The ACK number is always the next byte expected.</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TCP options that matter for performance</a:t>
            </a:r>
            <a:endParaRPr lang="en-US" sz="3000" dirty="0"/>
          </a:p>
        </p:txBody>
      </p:sp>
      <p:sp>
        <p:nvSpPr>
          <p:cNvPr id="3" name="Shape 1"/>
          <p:cNvSpPr/>
          <p:nvPr/>
        </p:nvSpPr>
        <p:spPr>
          <a:xfrm>
            <a:off x="548640" y="1371600"/>
            <a:ext cx="5410048" cy="2308860"/>
          </a:xfrm>
          <a:prstGeom prst="roundRect">
            <a:avLst>
              <a:gd name="adj" fmla="val 3960"/>
            </a:avLst>
          </a:prstGeom>
          <a:solidFill>
            <a:srgbClr val="F2F5F7"/>
          </a:solidFill>
          <a:ln w="9525">
            <a:solidFill>
              <a:srgbClr val="E1E7EC"/>
            </a:solidFill>
            <a:prstDash val="solid"/>
          </a:ln>
        </p:spPr>
        <p:txBody>
          <a:bodyPr/>
          <a:lstStyle/>
          <a:p>
            <a:endParaRPr lang="en-LB"/>
          </a:p>
        </p:txBody>
      </p:sp>
      <p:sp>
        <p:nvSpPr>
          <p:cNvPr id="4" name="Shape 2"/>
          <p:cNvSpPr/>
          <p:nvPr/>
        </p:nvSpPr>
        <p:spPr>
          <a:xfrm>
            <a:off x="777240" y="1600200"/>
            <a:ext cx="457200" cy="457200"/>
          </a:xfrm>
          <a:prstGeom prst="ellipse">
            <a:avLst/>
          </a:prstGeom>
          <a:solidFill>
            <a:srgbClr val="E8772E"/>
          </a:solidFill>
          <a:ln/>
        </p:spPr>
        <p:txBody>
          <a:bodyPr/>
          <a:lstStyle/>
          <a:p>
            <a:endParaRPr lang="en-LB"/>
          </a:p>
        </p:txBody>
      </p:sp>
      <p:sp>
        <p:nvSpPr>
          <p:cNvPr id="5" name="Text 3"/>
          <p:cNvSpPr txBox="1"/>
          <p:nvPr/>
        </p:nvSpPr>
        <p:spPr>
          <a:xfrm>
            <a:off x="777240" y="16002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M</a:t>
            </a:r>
            <a:endParaRPr lang="en-US" sz="1400" dirty="0"/>
          </a:p>
        </p:txBody>
      </p:sp>
      <p:sp>
        <p:nvSpPr>
          <p:cNvPr id="6" name="Text 4"/>
          <p:cNvSpPr txBox="1"/>
          <p:nvPr/>
        </p:nvSpPr>
        <p:spPr>
          <a:xfrm>
            <a:off x="1371600" y="155448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MSS</a:t>
            </a:r>
            <a:endParaRPr lang="en-US" sz="1700" dirty="0"/>
          </a:p>
        </p:txBody>
      </p:sp>
      <p:sp>
        <p:nvSpPr>
          <p:cNvPr id="7" name="Text 5"/>
          <p:cNvSpPr txBox="1"/>
          <p:nvPr/>
        </p:nvSpPr>
        <p:spPr>
          <a:xfrm>
            <a:off x="777240" y="2240280"/>
            <a:ext cx="4952848" cy="1303020"/>
          </a:xfrm>
          <a:prstGeom prst="rect">
            <a:avLst/>
          </a:prstGeom>
          <a:noFill/>
          <a:ln/>
        </p:spPr>
        <p:txBody>
          <a:bodyPr wrap="square" lIns="0" tIns="0" rIns="0" bIns="0" rtlCol="0" anchor="t"/>
          <a:lstStyle/>
          <a:p>
            <a:pPr marL="0" indent="0">
              <a:buNone/>
            </a:pPr>
            <a:r>
              <a:rPr lang="en-US" sz="1900" dirty="0">
                <a:solidFill>
                  <a:srgbClr val="1F2A33"/>
                </a:solidFill>
                <a:latin typeface="Calibri" pitchFamily="34" charset="0"/>
                <a:ea typeface="Calibri" pitchFamily="34" charset="-122"/>
                <a:cs typeface="Calibri" pitchFamily="34" charset="-120"/>
              </a:rPr>
              <a:t>Maximum Segment Size, announced in the SYN. Typically 1460 bytes on Ethernet (1500 MTU − 40). Avoids IP fragmentation.</a:t>
            </a:r>
            <a:endParaRPr lang="en-US" sz="1900" dirty="0"/>
          </a:p>
        </p:txBody>
      </p:sp>
      <p:sp>
        <p:nvSpPr>
          <p:cNvPr id="8" name="Shape 6"/>
          <p:cNvSpPr/>
          <p:nvPr/>
        </p:nvSpPr>
        <p:spPr>
          <a:xfrm>
            <a:off x="6233008" y="1371600"/>
            <a:ext cx="5410048" cy="2308860"/>
          </a:xfrm>
          <a:prstGeom prst="roundRect">
            <a:avLst>
              <a:gd name="adj" fmla="val 3960"/>
            </a:avLst>
          </a:prstGeom>
          <a:solidFill>
            <a:srgbClr val="F2F5F7"/>
          </a:solidFill>
          <a:ln w="9525">
            <a:solidFill>
              <a:srgbClr val="E1E7EC"/>
            </a:solidFill>
            <a:prstDash val="solid"/>
          </a:ln>
        </p:spPr>
        <p:txBody>
          <a:bodyPr/>
          <a:lstStyle/>
          <a:p>
            <a:endParaRPr lang="en-LB"/>
          </a:p>
        </p:txBody>
      </p:sp>
      <p:sp>
        <p:nvSpPr>
          <p:cNvPr id="9" name="Shape 7"/>
          <p:cNvSpPr/>
          <p:nvPr/>
        </p:nvSpPr>
        <p:spPr>
          <a:xfrm>
            <a:off x="6461608" y="1600200"/>
            <a:ext cx="457200" cy="457200"/>
          </a:xfrm>
          <a:prstGeom prst="ellipse">
            <a:avLst/>
          </a:prstGeom>
          <a:solidFill>
            <a:srgbClr val="0E8C7F"/>
          </a:solidFill>
          <a:ln/>
        </p:spPr>
        <p:txBody>
          <a:bodyPr/>
          <a:lstStyle/>
          <a:p>
            <a:endParaRPr lang="en-LB"/>
          </a:p>
        </p:txBody>
      </p:sp>
      <p:sp>
        <p:nvSpPr>
          <p:cNvPr id="10" name="Text 8"/>
          <p:cNvSpPr txBox="1"/>
          <p:nvPr/>
        </p:nvSpPr>
        <p:spPr>
          <a:xfrm>
            <a:off x="6461608" y="16002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W</a:t>
            </a:r>
            <a:endParaRPr lang="en-US" sz="1400" dirty="0"/>
          </a:p>
        </p:txBody>
      </p:sp>
      <p:sp>
        <p:nvSpPr>
          <p:cNvPr id="11" name="Text 9"/>
          <p:cNvSpPr txBox="1"/>
          <p:nvPr/>
        </p:nvSpPr>
        <p:spPr>
          <a:xfrm>
            <a:off x="7055968" y="155448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Window Scale</a:t>
            </a:r>
            <a:endParaRPr lang="en-US" sz="1700" dirty="0"/>
          </a:p>
        </p:txBody>
      </p:sp>
      <p:sp>
        <p:nvSpPr>
          <p:cNvPr id="12" name="Text 10"/>
          <p:cNvSpPr txBox="1"/>
          <p:nvPr/>
        </p:nvSpPr>
        <p:spPr>
          <a:xfrm>
            <a:off x="6461608" y="2240280"/>
            <a:ext cx="4952848" cy="1303020"/>
          </a:xfrm>
          <a:prstGeom prst="rect">
            <a:avLst/>
          </a:prstGeom>
          <a:noFill/>
          <a:ln/>
        </p:spPr>
        <p:txBody>
          <a:bodyPr wrap="square" lIns="0" tIns="0" rIns="0" bIns="0" rtlCol="0" anchor="t"/>
          <a:lstStyle/>
          <a:p>
            <a:pPr marL="0" indent="0">
              <a:buNone/>
            </a:pPr>
            <a:r>
              <a:rPr lang="en-US" sz="1900" dirty="0">
                <a:solidFill>
                  <a:srgbClr val="1F2A33"/>
                </a:solidFill>
                <a:latin typeface="Calibri" pitchFamily="34" charset="0"/>
                <a:ea typeface="Calibri" pitchFamily="34" charset="-122"/>
                <a:cs typeface="Calibri" pitchFamily="34" charset="-120"/>
              </a:rPr>
              <a:t>Shift count (0–14) applied to the 16-bit window, allowing windows up to 1 GiB. Negotiated only in SYN/SYN-ACK (RFC 7323).</a:t>
            </a:r>
            <a:endParaRPr lang="en-US" sz="1900" dirty="0"/>
          </a:p>
        </p:txBody>
      </p:sp>
      <p:sp>
        <p:nvSpPr>
          <p:cNvPr id="13" name="Shape 11"/>
          <p:cNvSpPr/>
          <p:nvPr/>
        </p:nvSpPr>
        <p:spPr>
          <a:xfrm>
            <a:off x="548640" y="3954780"/>
            <a:ext cx="5410048" cy="2308860"/>
          </a:xfrm>
          <a:prstGeom prst="roundRect">
            <a:avLst>
              <a:gd name="adj" fmla="val 3960"/>
            </a:avLst>
          </a:prstGeom>
          <a:solidFill>
            <a:srgbClr val="F2F5F7"/>
          </a:solidFill>
          <a:ln w="9525">
            <a:solidFill>
              <a:srgbClr val="E1E7EC"/>
            </a:solidFill>
            <a:prstDash val="solid"/>
          </a:ln>
        </p:spPr>
        <p:txBody>
          <a:bodyPr/>
          <a:lstStyle/>
          <a:p>
            <a:endParaRPr lang="en-LB"/>
          </a:p>
        </p:txBody>
      </p:sp>
      <p:sp>
        <p:nvSpPr>
          <p:cNvPr id="14" name="Shape 12"/>
          <p:cNvSpPr/>
          <p:nvPr/>
        </p:nvSpPr>
        <p:spPr>
          <a:xfrm>
            <a:off x="777240" y="4183380"/>
            <a:ext cx="457200" cy="457200"/>
          </a:xfrm>
          <a:prstGeom prst="ellipse">
            <a:avLst/>
          </a:prstGeom>
          <a:solidFill>
            <a:srgbClr val="E8772E"/>
          </a:solidFill>
          <a:ln/>
        </p:spPr>
        <p:txBody>
          <a:bodyPr/>
          <a:lstStyle/>
          <a:p>
            <a:endParaRPr lang="en-LB"/>
          </a:p>
        </p:txBody>
      </p:sp>
      <p:sp>
        <p:nvSpPr>
          <p:cNvPr id="15" name="Text 13"/>
          <p:cNvSpPr txBox="1"/>
          <p:nvPr/>
        </p:nvSpPr>
        <p:spPr>
          <a:xfrm>
            <a:off x="777240" y="41833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a:t>
            </a:r>
            <a:endParaRPr lang="en-US" sz="1400" dirty="0"/>
          </a:p>
        </p:txBody>
      </p:sp>
      <p:sp>
        <p:nvSpPr>
          <p:cNvPr id="16" name="Text 14"/>
          <p:cNvSpPr txBox="1"/>
          <p:nvPr/>
        </p:nvSpPr>
        <p:spPr>
          <a:xfrm>
            <a:off x="1371600" y="413766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SACK</a:t>
            </a:r>
            <a:endParaRPr lang="en-US" sz="1700" dirty="0"/>
          </a:p>
        </p:txBody>
      </p:sp>
      <p:sp>
        <p:nvSpPr>
          <p:cNvPr id="17" name="Text 15"/>
          <p:cNvSpPr txBox="1"/>
          <p:nvPr/>
        </p:nvSpPr>
        <p:spPr>
          <a:xfrm>
            <a:off x="777240" y="4823460"/>
            <a:ext cx="4952848" cy="1303020"/>
          </a:xfrm>
          <a:prstGeom prst="rect">
            <a:avLst/>
          </a:prstGeom>
          <a:noFill/>
          <a:ln/>
        </p:spPr>
        <p:txBody>
          <a:bodyPr wrap="square" lIns="0" tIns="0" rIns="0" bIns="0" rtlCol="0" anchor="t"/>
          <a:lstStyle/>
          <a:p>
            <a:pPr marL="0" indent="0">
              <a:buNone/>
            </a:pPr>
            <a:r>
              <a:rPr lang="en-US" sz="1900" dirty="0">
                <a:solidFill>
                  <a:srgbClr val="1F2A33"/>
                </a:solidFill>
                <a:latin typeface="Calibri" pitchFamily="34" charset="0"/>
                <a:ea typeface="Calibri" pitchFamily="34" charset="-122"/>
                <a:cs typeface="Calibri" pitchFamily="34" charset="-120"/>
              </a:rPr>
              <a:t>Selective Acknowledgment: receiver reports non-contiguous blocks received, so the sender retransmits only the holes (RFC 2018).</a:t>
            </a:r>
            <a:endParaRPr lang="en-US" sz="1900" dirty="0"/>
          </a:p>
        </p:txBody>
      </p:sp>
      <p:sp>
        <p:nvSpPr>
          <p:cNvPr id="18" name="Shape 16"/>
          <p:cNvSpPr/>
          <p:nvPr/>
        </p:nvSpPr>
        <p:spPr>
          <a:xfrm>
            <a:off x="6233008" y="3954780"/>
            <a:ext cx="5410048" cy="2308860"/>
          </a:xfrm>
          <a:prstGeom prst="roundRect">
            <a:avLst>
              <a:gd name="adj" fmla="val 3960"/>
            </a:avLst>
          </a:prstGeom>
          <a:solidFill>
            <a:srgbClr val="F2F5F7"/>
          </a:solidFill>
          <a:ln w="9525">
            <a:solidFill>
              <a:srgbClr val="E1E7EC"/>
            </a:solidFill>
            <a:prstDash val="solid"/>
          </a:ln>
        </p:spPr>
        <p:txBody>
          <a:bodyPr/>
          <a:lstStyle/>
          <a:p>
            <a:endParaRPr lang="en-LB"/>
          </a:p>
        </p:txBody>
      </p:sp>
      <p:sp>
        <p:nvSpPr>
          <p:cNvPr id="19" name="Shape 17"/>
          <p:cNvSpPr/>
          <p:nvPr/>
        </p:nvSpPr>
        <p:spPr>
          <a:xfrm>
            <a:off x="6461608" y="4183380"/>
            <a:ext cx="457200" cy="457200"/>
          </a:xfrm>
          <a:prstGeom prst="ellipse">
            <a:avLst/>
          </a:prstGeom>
          <a:solidFill>
            <a:srgbClr val="0E8C7F"/>
          </a:solidFill>
          <a:ln/>
        </p:spPr>
        <p:txBody>
          <a:bodyPr/>
          <a:lstStyle/>
          <a:p>
            <a:endParaRPr lang="en-LB"/>
          </a:p>
        </p:txBody>
      </p:sp>
      <p:sp>
        <p:nvSpPr>
          <p:cNvPr id="20" name="Text 18"/>
          <p:cNvSpPr txBox="1"/>
          <p:nvPr/>
        </p:nvSpPr>
        <p:spPr>
          <a:xfrm>
            <a:off x="6461608" y="41833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a:t>
            </a:r>
            <a:endParaRPr lang="en-US" sz="1400" dirty="0"/>
          </a:p>
        </p:txBody>
      </p:sp>
      <p:sp>
        <p:nvSpPr>
          <p:cNvPr id="21" name="Text 19"/>
          <p:cNvSpPr txBox="1"/>
          <p:nvPr/>
        </p:nvSpPr>
        <p:spPr>
          <a:xfrm>
            <a:off x="7055968" y="413766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Timestamps</a:t>
            </a:r>
            <a:endParaRPr lang="en-US" sz="1700" dirty="0"/>
          </a:p>
        </p:txBody>
      </p:sp>
      <p:sp>
        <p:nvSpPr>
          <p:cNvPr id="22" name="Text 20"/>
          <p:cNvSpPr txBox="1"/>
          <p:nvPr/>
        </p:nvSpPr>
        <p:spPr>
          <a:xfrm>
            <a:off x="6461608" y="4823460"/>
            <a:ext cx="4952848" cy="1303020"/>
          </a:xfrm>
          <a:prstGeom prst="rect">
            <a:avLst/>
          </a:prstGeom>
          <a:noFill/>
          <a:ln/>
        </p:spPr>
        <p:txBody>
          <a:bodyPr wrap="square" lIns="0" tIns="0" rIns="0" bIns="0" rtlCol="0" anchor="t"/>
          <a:lstStyle/>
          <a:p>
            <a:pPr marL="0" indent="0">
              <a:buNone/>
            </a:pPr>
            <a:r>
              <a:rPr lang="en-US" sz="1900" dirty="0">
                <a:solidFill>
                  <a:srgbClr val="1F2A33"/>
                </a:solidFill>
                <a:latin typeface="Calibri" pitchFamily="34" charset="0"/>
                <a:ea typeface="Calibri" pitchFamily="34" charset="-122"/>
                <a:cs typeface="Calibri" pitchFamily="34" charset="-120"/>
              </a:rPr>
              <a:t>TSval/TSecr enable accurate RTT measurement on every ACK and PAWS protection against wrapped sequence numbers (RFC 7323).</a:t>
            </a:r>
            <a:endParaRPr lang="en-US" sz="1900" dirty="0"/>
          </a:p>
        </p:txBody>
      </p:sp>
      <p:sp>
        <p:nvSpPr>
          <p:cNvPr id="23" name="Text 21"/>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24" name="Text 22"/>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TCP options that matter for performance</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The original TCP header was designed in 1981 for slow links. Options extend it without changing the fixed header. Four options are negotiated in almost every modern connection, and they are only valid if </a:t>
            </a:r>
            <a:r>
              <a:rPr lang="en-US" sz="2000" b="1" dirty="0">
                <a:solidFill>
                  <a:srgbClr val="1F2A33"/>
                </a:solidFill>
                <a:latin typeface="Calibri" pitchFamily="34" charset="0"/>
                <a:ea typeface="Calibri" pitchFamily="34" charset="-122"/>
                <a:cs typeface="Calibri" pitchFamily="34" charset="-120"/>
              </a:rPr>
              <a:t>both</a:t>
            </a:r>
            <a:r>
              <a:rPr lang="en-US" sz="2000" dirty="0">
                <a:solidFill>
                  <a:srgbClr val="1F2A33"/>
                </a:solidFill>
                <a:latin typeface="Calibri" pitchFamily="34" charset="0"/>
                <a:ea typeface="Calibri" pitchFamily="34" charset="-122"/>
                <a:cs typeface="Calibri" pitchFamily="34" charset="-120"/>
              </a:rPr>
              <a:t> SYN and SYN-ACK carry them.</a:t>
            </a:r>
            <a:endParaRPr lang="en-US" sz="2000" dirty="0"/>
          </a:p>
          <a:p>
            <a:pPr marL="0" indent="0">
              <a:spcAft>
                <a:spcPts val="1000"/>
              </a:spcAft>
              <a:buNone/>
            </a:pPr>
            <a:r>
              <a:rPr lang="en-US" sz="2000" b="1" dirty="0">
                <a:solidFill>
                  <a:srgbClr val="1F2A33"/>
                </a:solidFill>
                <a:latin typeface="Calibri" pitchFamily="34" charset="0"/>
                <a:ea typeface="Calibri" pitchFamily="34" charset="-122"/>
                <a:cs typeface="Calibri" pitchFamily="34" charset="-120"/>
              </a:rPr>
              <a:t>MSS</a:t>
            </a:r>
            <a:r>
              <a:rPr lang="en-US" sz="2000" dirty="0">
                <a:solidFill>
                  <a:srgbClr val="1F2A33"/>
                </a:solidFill>
                <a:latin typeface="Calibri" pitchFamily="34" charset="0"/>
                <a:ea typeface="Calibri" pitchFamily="34" charset="-122"/>
                <a:cs typeface="Calibri" pitchFamily="34" charset="-120"/>
              </a:rPr>
              <a:t> tells the peer the largest segment you can receive, avoiding IP fragmentation. </a:t>
            </a:r>
            <a:r>
              <a:rPr lang="en-US" sz="2000" b="1" dirty="0">
                <a:solidFill>
                  <a:srgbClr val="1F2A33"/>
                </a:solidFill>
                <a:latin typeface="Calibri" pitchFamily="34" charset="0"/>
                <a:ea typeface="Calibri" pitchFamily="34" charset="-122"/>
                <a:cs typeface="Calibri" pitchFamily="34" charset="-120"/>
              </a:rPr>
              <a:t>Window Scale</a:t>
            </a:r>
            <a:r>
              <a:rPr lang="en-US" sz="2000" dirty="0">
                <a:solidFill>
                  <a:srgbClr val="1F2A33"/>
                </a:solidFill>
                <a:latin typeface="Calibri" pitchFamily="34" charset="0"/>
                <a:ea typeface="Calibri" pitchFamily="34" charset="-122"/>
                <a:cs typeface="Calibri" pitchFamily="34" charset="-120"/>
              </a:rPr>
              <a:t> multiplies the 16-bit window field by 2^shift so the window can exceed 64 KB — essential on fast, long paths. </a:t>
            </a:r>
            <a:r>
              <a:rPr lang="en-US" sz="2000" b="1" dirty="0">
                <a:solidFill>
                  <a:srgbClr val="1F2A33"/>
                </a:solidFill>
                <a:latin typeface="Calibri" pitchFamily="34" charset="0"/>
                <a:ea typeface="Calibri" pitchFamily="34" charset="-122"/>
                <a:cs typeface="Calibri" pitchFamily="34" charset="-120"/>
              </a:rPr>
              <a:t>SACK</a:t>
            </a:r>
            <a:r>
              <a:rPr lang="en-US" sz="2000" dirty="0">
                <a:solidFill>
                  <a:srgbClr val="1F2A33"/>
                </a:solidFill>
                <a:latin typeface="Calibri" pitchFamily="34" charset="0"/>
                <a:ea typeface="Calibri" pitchFamily="34" charset="-122"/>
                <a:cs typeface="Calibri" pitchFamily="34" charset="-120"/>
              </a:rPr>
              <a:t> lets the receiver report which out-of-order blocks it already has, so only the missing pieces are resent. </a:t>
            </a:r>
            <a:r>
              <a:rPr lang="en-US" sz="2000" b="1" dirty="0">
                <a:solidFill>
                  <a:srgbClr val="1F2A33"/>
                </a:solidFill>
                <a:latin typeface="Calibri" pitchFamily="34" charset="0"/>
                <a:ea typeface="Calibri" pitchFamily="34" charset="-122"/>
                <a:cs typeface="Calibri" pitchFamily="34" charset="-120"/>
              </a:rPr>
              <a:t>Timestamps</a:t>
            </a:r>
            <a:r>
              <a:rPr lang="en-US" sz="2000" dirty="0">
                <a:solidFill>
                  <a:srgbClr val="1F2A33"/>
                </a:solidFill>
                <a:latin typeface="Calibri" pitchFamily="34" charset="0"/>
                <a:ea typeface="Calibri" pitchFamily="34" charset="-122"/>
                <a:cs typeface="Calibri" pitchFamily="34" charset="-120"/>
              </a:rPr>
              <a:t> echo a clock value so the sender can measure RTT on every ACK and detect wrapped sequence numbers on very fast links.</a:t>
            </a:r>
            <a:endParaRPr lang="en-US" sz="2000" dirty="0"/>
          </a:p>
        </p:txBody>
      </p:sp>
      <p:sp>
        <p:nvSpPr>
          <p:cNvPr id="6" name="Shape 4"/>
          <p:cNvSpPr/>
          <p:nvPr/>
        </p:nvSpPr>
        <p:spPr>
          <a:xfrm>
            <a:off x="8001000" y="1325880"/>
            <a:ext cx="3642055" cy="2617324"/>
          </a:xfrm>
          <a:prstGeom prst="roundRect">
            <a:avLst>
              <a:gd name="adj" fmla="val 3494"/>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931524"/>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A firewall that strips the Window Scale option silently limits every connection through it to 64 KB in flight. On a 100 ms path that caps throughput at about 5 Mb/s even on a 1 Gb/s link.</a:t>
            </a:r>
            <a:endParaRPr lang="en-US" sz="1700" dirty="0"/>
          </a:p>
        </p:txBody>
      </p:sp>
      <p:sp>
        <p:nvSpPr>
          <p:cNvPr id="9" name="Shape 7"/>
          <p:cNvSpPr/>
          <p:nvPr/>
        </p:nvSpPr>
        <p:spPr>
          <a:xfrm>
            <a:off x="8001000" y="4171804"/>
            <a:ext cx="3642055" cy="2046116"/>
          </a:xfrm>
          <a:prstGeom prst="roundRect">
            <a:avLst>
              <a:gd name="adj" fmla="val 4469"/>
            </a:avLst>
          </a:prstGeom>
          <a:solidFill>
            <a:srgbClr val="FDEBDD"/>
          </a:solidFill>
          <a:ln/>
        </p:spPr>
        <p:txBody>
          <a:bodyPr/>
          <a:lstStyle/>
          <a:p>
            <a:endParaRPr lang="en-LB"/>
          </a:p>
        </p:txBody>
      </p:sp>
      <p:sp>
        <p:nvSpPr>
          <p:cNvPr id="10" name="Text 8"/>
          <p:cNvSpPr txBox="1"/>
          <p:nvPr/>
        </p:nvSpPr>
        <p:spPr>
          <a:xfrm>
            <a:off x="8229600" y="4354684"/>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720444"/>
            <a:ext cx="3184855" cy="1360316"/>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Options are agreed in the handshake and fixed for the whole connection. Check them first when diagnosing slow transfers.</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222D"/>
        </a:solidFill>
        <a:effectLst/>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marL="0" indent="0">
              <a:buNone/>
            </a:pPr>
            <a:r>
              <a:rPr lang="en-US" sz="9600" b="1" dirty="0">
                <a:solidFill>
                  <a:srgbClr val="E8772E"/>
                </a:solidFill>
                <a:latin typeface="Arial" pitchFamily="34" charset="0"/>
                <a:ea typeface="Arial" pitchFamily="34" charset="-122"/>
                <a:cs typeface="Arial" pitchFamily="34" charset="-120"/>
              </a:rPr>
              <a:t>02</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marL="0" indent="0">
              <a:buNone/>
            </a:pPr>
            <a:r>
              <a:rPr lang="en-US" sz="3600" b="1" dirty="0">
                <a:solidFill>
                  <a:srgbClr val="FFFFFF"/>
                </a:solidFill>
                <a:latin typeface="Arial" pitchFamily="34" charset="0"/>
                <a:ea typeface="Arial" pitchFamily="34" charset="-122"/>
                <a:cs typeface="Arial" pitchFamily="34" charset="-120"/>
              </a:rPr>
              <a:t>Connection management</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marL="0" indent="0">
              <a:buNone/>
            </a:pPr>
            <a:r>
              <a:rPr lang="en-US" sz="1800" dirty="0">
                <a:solidFill>
                  <a:srgbClr val="C7D3DC"/>
                </a:solidFill>
                <a:latin typeface="Calibri" pitchFamily="34" charset="0"/>
                <a:ea typeface="Calibri" pitchFamily="34" charset="-122"/>
                <a:cs typeface="Calibri" pitchFamily="34" charset="-120"/>
              </a:rPr>
              <a:t>Handshake, teardown and the TCP finite state machine</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9FB0BD"/>
                </a:solidFill>
                <a:latin typeface="Calibri" pitchFamily="34" charset="0"/>
                <a:ea typeface="Calibri" pitchFamily="34" charset="-122"/>
                <a:cs typeface="Calibri" pitchFamily="34" charset="-120"/>
              </a:rPr>
              <a:t>IN403  ·  Lecture 1  ·  TCP Deep Dive I</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9FB0B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Three-way handshake and option negotiation</a:t>
            </a:r>
            <a:endParaRPr lang="en-US" sz="3000" dirty="0"/>
          </a:p>
        </p:txBody>
      </p:sp>
      <p:sp>
        <p:nvSpPr>
          <p:cNvPr id="3" name="Shape 1"/>
          <p:cNvSpPr/>
          <p:nvPr/>
        </p:nvSpPr>
        <p:spPr>
          <a:xfrm>
            <a:off x="594360" y="1280160"/>
            <a:ext cx="1554480" cy="457200"/>
          </a:xfrm>
          <a:prstGeom prst="roundRect">
            <a:avLst>
              <a:gd name="adj" fmla="val 16000"/>
            </a:avLst>
          </a:prstGeom>
          <a:solidFill>
            <a:srgbClr val="17222D"/>
          </a:solidFill>
          <a:ln/>
        </p:spPr>
        <p:txBody>
          <a:bodyPr/>
          <a:lstStyle/>
          <a:p>
            <a:endParaRPr lang="en-LB"/>
          </a:p>
        </p:txBody>
      </p:sp>
      <p:sp>
        <p:nvSpPr>
          <p:cNvPr id="4" name="Text 2"/>
          <p:cNvSpPr txBox="1"/>
          <p:nvPr/>
        </p:nvSpPr>
        <p:spPr>
          <a:xfrm>
            <a:off x="594360" y="1280160"/>
            <a:ext cx="1554480" cy="4572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Client</a:t>
            </a:r>
            <a:endParaRPr lang="en-US" sz="1300" dirty="0"/>
          </a:p>
        </p:txBody>
      </p:sp>
      <p:sp>
        <p:nvSpPr>
          <p:cNvPr id="5" name="Shape 3"/>
          <p:cNvSpPr/>
          <p:nvPr/>
        </p:nvSpPr>
        <p:spPr>
          <a:xfrm>
            <a:off x="1371600" y="1737360"/>
            <a:ext cx="0" cy="4480560"/>
          </a:xfrm>
          <a:prstGeom prst="line">
            <a:avLst/>
          </a:prstGeom>
          <a:noFill/>
          <a:ln w="15875">
            <a:solidFill>
              <a:srgbClr val="C9D3DB"/>
            </a:solidFill>
            <a:prstDash val="dash"/>
          </a:ln>
        </p:spPr>
        <p:txBody>
          <a:bodyPr/>
          <a:lstStyle/>
          <a:p>
            <a:endParaRPr lang="en-LB"/>
          </a:p>
        </p:txBody>
      </p:sp>
      <p:sp>
        <p:nvSpPr>
          <p:cNvPr id="6" name="Shape 4"/>
          <p:cNvSpPr/>
          <p:nvPr/>
        </p:nvSpPr>
        <p:spPr>
          <a:xfrm>
            <a:off x="6263640" y="1280160"/>
            <a:ext cx="1554480" cy="457200"/>
          </a:xfrm>
          <a:prstGeom prst="roundRect">
            <a:avLst>
              <a:gd name="adj" fmla="val 16000"/>
            </a:avLst>
          </a:prstGeom>
          <a:solidFill>
            <a:srgbClr val="0E8C7F"/>
          </a:solidFill>
          <a:ln/>
        </p:spPr>
        <p:txBody>
          <a:bodyPr/>
          <a:lstStyle/>
          <a:p>
            <a:endParaRPr lang="en-LB"/>
          </a:p>
        </p:txBody>
      </p:sp>
      <p:sp>
        <p:nvSpPr>
          <p:cNvPr id="7" name="Text 5"/>
          <p:cNvSpPr txBox="1"/>
          <p:nvPr/>
        </p:nvSpPr>
        <p:spPr>
          <a:xfrm>
            <a:off x="6263640" y="1280160"/>
            <a:ext cx="1554480" cy="4572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Server</a:t>
            </a:r>
            <a:endParaRPr lang="en-US" sz="1300" dirty="0"/>
          </a:p>
        </p:txBody>
      </p:sp>
      <p:sp>
        <p:nvSpPr>
          <p:cNvPr id="8" name="Shape 6"/>
          <p:cNvSpPr/>
          <p:nvPr/>
        </p:nvSpPr>
        <p:spPr>
          <a:xfrm>
            <a:off x="7040880" y="1737360"/>
            <a:ext cx="0" cy="4480560"/>
          </a:xfrm>
          <a:prstGeom prst="line">
            <a:avLst/>
          </a:prstGeom>
          <a:noFill/>
          <a:ln w="15875">
            <a:solidFill>
              <a:srgbClr val="C9D3DB"/>
            </a:solidFill>
            <a:prstDash val="dash"/>
          </a:ln>
        </p:spPr>
        <p:txBody>
          <a:bodyPr/>
          <a:lstStyle/>
          <a:p>
            <a:endParaRPr lang="en-LB"/>
          </a:p>
        </p:txBody>
      </p:sp>
      <p:sp>
        <p:nvSpPr>
          <p:cNvPr id="9" name="Shape 7"/>
          <p:cNvSpPr/>
          <p:nvPr/>
        </p:nvSpPr>
        <p:spPr>
          <a:xfrm>
            <a:off x="1371600" y="2484882"/>
            <a:ext cx="5669280" cy="0"/>
          </a:xfrm>
          <a:prstGeom prst="line">
            <a:avLst/>
          </a:prstGeom>
          <a:noFill/>
          <a:ln w="25400">
            <a:solidFill>
              <a:srgbClr val="E8772E"/>
            </a:solidFill>
            <a:prstDash val="solid"/>
            <a:tailEnd type="triangle"/>
          </a:ln>
        </p:spPr>
        <p:txBody>
          <a:bodyPr/>
          <a:lstStyle/>
          <a:p>
            <a:endParaRPr lang="en-LB"/>
          </a:p>
        </p:txBody>
      </p:sp>
      <p:sp>
        <p:nvSpPr>
          <p:cNvPr id="10" name="Text 8"/>
          <p:cNvSpPr txBox="1"/>
          <p:nvPr/>
        </p:nvSpPr>
        <p:spPr>
          <a:xfrm>
            <a:off x="1463040" y="2002993"/>
            <a:ext cx="5486400" cy="450799"/>
          </a:xfrm>
          <a:prstGeom prst="rect">
            <a:avLst/>
          </a:prstGeom>
          <a:noFill/>
          <a:ln/>
        </p:spPr>
        <p:txBody>
          <a:bodyPr wrap="square" lIns="0" tIns="0" rIns="0" bIns="0" rtlCol="0" anchor="b"/>
          <a:lstStyle/>
          <a:p>
            <a:pPr marL="0" indent="0" algn="ctr">
              <a:buNone/>
            </a:pPr>
            <a:r>
              <a:rPr lang="en-US" sz="1300" dirty="0">
                <a:solidFill>
                  <a:srgbClr val="1F2A33"/>
                </a:solidFill>
                <a:latin typeface="Calibri" pitchFamily="34" charset="0"/>
                <a:ea typeface="Calibri" pitchFamily="34" charset="-122"/>
                <a:cs typeface="Calibri" pitchFamily="34" charset="-120"/>
              </a:rPr>
              <a:t>SYN  seq=x  [MSS=1460, WS=7, SACK_PERM, TS]</a:t>
            </a:r>
            <a:endParaRPr lang="en-US" sz="1300" dirty="0"/>
          </a:p>
        </p:txBody>
      </p:sp>
      <p:sp>
        <p:nvSpPr>
          <p:cNvPr id="11" name="Shape 9"/>
          <p:cNvSpPr/>
          <p:nvPr/>
        </p:nvSpPr>
        <p:spPr>
          <a:xfrm flipH="1">
            <a:off x="1371600" y="3262122"/>
            <a:ext cx="5669280" cy="0"/>
          </a:xfrm>
          <a:prstGeom prst="line">
            <a:avLst/>
          </a:prstGeom>
          <a:noFill/>
          <a:ln w="25400">
            <a:solidFill>
              <a:srgbClr val="0E8C7F"/>
            </a:solidFill>
            <a:prstDash val="solid"/>
            <a:tailEnd type="triangle"/>
          </a:ln>
        </p:spPr>
        <p:txBody>
          <a:bodyPr/>
          <a:lstStyle/>
          <a:p>
            <a:endParaRPr lang="en-LB"/>
          </a:p>
        </p:txBody>
      </p:sp>
      <p:sp>
        <p:nvSpPr>
          <p:cNvPr id="12" name="Text 10"/>
          <p:cNvSpPr txBox="1"/>
          <p:nvPr/>
        </p:nvSpPr>
        <p:spPr>
          <a:xfrm>
            <a:off x="1463040" y="2780233"/>
            <a:ext cx="5486400" cy="450799"/>
          </a:xfrm>
          <a:prstGeom prst="rect">
            <a:avLst/>
          </a:prstGeom>
          <a:noFill/>
          <a:ln/>
        </p:spPr>
        <p:txBody>
          <a:bodyPr wrap="square" lIns="0" tIns="0" rIns="0" bIns="0" rtlCol="0" anchor="b"/>
          <a:lstStyle/>
          <a:p>
            <a:pPr marL="0" indent="0" algn="ctr">
              <a:buNone/>
            </a:pPr>
            <a:r>
              <a:rPr lang="en-US" sz="1300" dirty="0">
                <a:solidFill>
                  <a:srgbClr val="1F2A33"/>
                </a:solidFill>
                <a:latin typeface="Calibri" pitchFamily="34" charset="0"/>
                <a:ea typeface="Calibri" pitchFamily="34" charset="-122"/>
                <a:cs typeface="Calibri" pitchFamily="34" charset="-120"/>
              </a:rPr>
              <a:t>SYN-ACK  seq=y  ack=x+1  [MSS, WS=8, SACK_PERM, TS]</a:t>
            </a:r>
            <a:endParaRPr lang="en-US" sz="1300" dirty="0"/>
          </a:p>
        </p:txBody>
      </p:sp>
      <p:sp>
        <p:nvSpPr>
          <p:cNvPr id="13" name="Shape 11"/>
          <p:cNvSpPr/>
          <p:nvPr/>
        </p:nvSpPr>
        <p:spPr>
          <a:xfrm>
            <a:off x="1371600" y="4039362"/>
            <a:ext cx="5669280" cy="0"/>
          </a:xfrm>
          <a:prstGeom prst="line">
            <a:avLst/>
          </a:prstGeom>
          <a:noFill/>
          <a:ln w="25400">
            <a:solidFill>
              <a:srgbClr val="E8772E"/>
            </a:solidFill>
            <a:prstDash val="solid"/>
            <a:tailEnd type="triangle"/>
          </a:ln>
        </p:spPr>
        <p:txBody>
          <a:bodyPr/>
          <a:lstStyle/>
          <a:p>
            <a:endParaRPr lang="en-LB"/>
          </a:p>
        </p:txBody>
      </p:sp>
      <p:sp>
        <p:nvSpPr>
          <p:cNvPr id="14" name="Text 12"/>
          <p:cNvSpPr txBox="1"/>
          <p:nvPr/>
        </p:nvSpPr>
        <p:spPr>
          <a:xfrm>
            <a:off x="1463040" y="3557473"/>
            <a:ext cx="5486400" cy="450799"/>
          </a:xfrm>
          <a:prstGeom prst="rect">
            <a:avLst/>
          </a:prstGeom>
          <a:noFill/>
          <a:ln/>
        </p:spPr>
        <p:txBody>
          <a:bodyPr wrap="square" lIns="0" tIns="0" rIns="0" bIns="0" rtlCol="0" anchor="b"/>
          <a:lstStyle/>
          <a:p>
            <a:pPr marL="0" indent="0" algn="ctr">
              <a:buNone/>
            </a:pPr>
            <a:r>
              <a:rPr lang="en-US" sz="1300" dirty="0">
                <a:solidFill>
                  <a:srgbClr val="1F2A33"/>
                </a:solidFill>
                <a:latin typeface="Calibri" pitchFamily="34" charset="0"/>
                <a:ea typeface="Calibri" pitchFamily="34" charset="-122"/>
                <a:cs typeface="Calibri" pitchFamily="34" charset="-120"/>
              </a:rPr>
              <a:t>ACK  seq=x+1  ack=y+1</a:t>
            </a:r>
            <a:endParaRPr lang="en-US" sz="1300" dirty="0"/>
          </a:p>
        </p:txBody>
      </p:sp>
      <p:sp>
        <p:nvSpPr>
          <p:cNvPr id="15" name="Shape 13"/>
          <p:cNvSpPr/>
          <p:nvPr/>
        </p:nvSpPr>
        <p:spPr>
          <a:xfrm>
            <a:off x="1371600" y="4816602"/>
            <a:ext cx="5669280" cy="0"/>
          </a:xfrm>
          <a:prstGeom prst="line">
            <a:avLst/>
          </a:prstGeom>
          <a:noFill/>
          <a:ln w="25400">
            <a:solidFill>
              <a:srgbClr val="6E8596"/>
            </a:solidFill>
            <a:prstDash val="dash"/>
            <a:tailEnd type="triangle"/>
          </a:ln>
        </p:spPr>
        <p:txBody>
          <a:bodyPr/>
          <a:lstStyle/>
          <a:p>
            <a:endParaRPr lang="en-LB"/>
          </a:p>
        </p:txBody>
      </p:sp>
      <p:sp>
        <p:nvSpPr>
          <p:cNvPr id="16" name="Text 14"/>
          <p:cNvSpPr txBox="1"/>
          <p:nvPr/>
        </p:nvSpPr>
        <p:spPr>
          <a:xfrm>
            <a:off x="1463040" y="4334713"/>
            <a:ext cx="5486400" cy="450799"/>
          </a:xfrm>
          <a:prstGeom prst="rect">
            <a:avLst/>
          </a:prstGeom>
          <a:noFill/>
          <a:ln/>
        </p:spPr>
        <p:txBody>
          <a:bodyPr wrap="square" lIns="0" tIns="0" rIns="0" bIns="0" rtlCol="0" anchor="b"/>
          <a:lstStyle/>
          <a:p>
            <a:pPr marL="0" indent="0" algn="ctr">
              <a:buNone/>
            </a:pPr>
            <a:r>
              <a:rPr lang="en-US" sz="1300" dirty="0">
                <a:solidFill>
                  <a:srgbClr val="1F2A33"/>
                </a:solidFill>
                <a:latin typeface="Calibri" pitchFamily="34" charset="0"/>
                <a:ea typeface="Calibri" pitchFamily="34" charset="-122"/>
                <a:cs typeface="Calibri" pitchFamily="34" charset="-120"/>
              </a:rPr>
              <a:t>Data  seq=x+1 …</a:t>
            </a:r>
            <a:endParaRPr lang="en-US" sz="1300" dirty="0"/>
          </a:p>
        </p:txBody>
      </p:sp>
      <p:sp>
        <p:nvSpPr>
          <p:cNvPr id="17" name="Text 15"/>
          <p:cNvSpPr txBox="1"/>
          <p:nvPr/>
        </p:nvSpPr>
        <p:spPr>
          <a:xfrm>
            <a:off x="8183880" y="1280160"/>
            <a:ext cx="3459175" cy="4937760"/>
          </a:xfrm>
          <a:prstGeom prst="rect">
            <a:avLst/>
          </a:prstGeom>
          <a:noFill/>
          <a:ln/>
        </p:spPr>
        <p:txBody>
          <a:bodyPr wrap="square" lIns="25400" tIns="0" rIns="25400" bIns="25400" rtlCol="0" anchor="t"/>
          <a:lstStyle/>
          <a:p>
            <a:pPr marL="342900" indent="-342900">
              <a:spcAft>
                <a:spcPts val="700"/>
              </a:spcAft>
              <a:buSzPct val="100000"/>
              <a:buChar char="■"/>
            </a:pPr>
            <a:r>
              <a:rPr lang="en-US" sz="1800" dirty="0">
                <a:solidFill>
                  <a:srgbClr val="1F2A33"/>
                </a:solidFill>
                <a:latin typeface="Calibri" pitchFamily="34" charset="0"/>
                <a:ea typeface="Calibri" pitchFamily="34" charset="-122"/>
                <a:cs typeface="Calibri" pitchFamily="34" charset="-120"/>
              </a:rPr>
              <a:t>ISNs are randomised to resist spoofing and old-segment confusion</a:t>
            </a:r>
            <a:endParaRPr lang="en-US" sz="1800" dirty="0"/>
          </a:p>
          <a:p>
            <a:pPr marL="342900" indent="-342900">
              <a:spcAft>
                <a:spcPts val="700"/>
              </a:spcAft>
              <a:buSzPct val="100000"/>
              <a:buChar char="■"/>
            </a:pPr>
            <a:r>
              <a:rPr lang="en-US" sz="1800" dirty="0">
                <a:solidFill>
                  <a:srgbClr val="1F2A33"/>
                </a:solidFill>
                <a:latin typeface="Calibri" pitchFamily="34" charset="0"/>
                <a:ea typeface="Calibri" pitchFamily="34" charset="-122"/>
                <a:cs typeface="Calibri" pitchFamily="34" charset="-120"/>
              </a:rPr>
              <a:t>Options are only honoured if </a:t>
            </a:r>
            <a:r>
              <a:rPr lang="en-US" sz="1800" b="1" dirty="0">
                <a:solidFill>
                  <a:srgbClr val="1F2A33"/>
                </a:solidFill>
                <a:latin typeface="Calibri" pitchFamily="34" charset="0"/>
                <a:ea typeface="Calibri" pitchFamily="34" charset="-122"/>
                <a:cs typeface="Calibri" pitchFamily="34" charset="-120"/>
              </a:rPr>
              <a:t>both</a:t>
            </a:r>
            <a:r>
              <a:rPr lang="en-US" sz="1800" dirty="0">
                <a:solidFill>
                  <a:srgbClr val="1F2A33"/>
                </a:solidFill>
                <a:latin typeface="Calibri" pitchFamily="34" charset="0"/>
                <a:ea typeface="Calibri" pitchFamily="34" charset="-122"/>
                <a:cs typeface="Calibri" pitchFamily="34" charset="-120"/>
              </a:rPr>
              <a:t> sides offer them</a:t>
            </a:r>
            <a:endParaRPr lang="en-US" sz="1800" dirty="0"/>
          </a:p>
          <a:p>
            <a:pPr marL="342900" indent="-342900">
              <a:spcAft>
                <a:spcPts val="700"/>
              </a:spcAft>
              <a:buSzPct val="100000"/>
              <a:buChar char="■"/>
            </a:pPr>
            <a:r>
              <a:rPr lang="en-US" sz="1800" dirty="0">
                <a:solidFill>
                  <a:srgbClr val="1F2A33"/>
                </a:solidFill>
                <a:latin typeface="Calibri" pitchFamily="34" charset="0"/>
                <a:ea typeface="Calibri" pitchFamily="34" charset="-122"/>
                <a:cs typeface="Calibri" pitchFamily="34" charset="-120"/>
              </a:rPr>
              <a:t>SYN and FIN each consume one sequence number</a:t>
            </a:r>
            <a:endParaRPr lang="en-US" sz="1800" dirty="0"/>
          </a:p>
          <a:p>
            <a:pPr marL="342900" indent="-342900">
              <a:spcAft>
                <a:spcPts val="700"/>
              </a:spcAft>
              <a:buSzPct val="100000"/>
              <a:buChar char="■"/>
            </a:pPr>
            <a:r>
              <a:rPr lang="en-US" sz="1800" b="1" dirty="0">
                <a:solidFill>
                  <a:srgbClr val="1F2A33"/>
                </a:solidFill>
                <a:latin typeface="Calibri" pitchFamily="34" charset="0"/>
                <a:ea typeface="Calibri" pitchFamily="34" charset="-122"/>
                <a:cs typeface="Calibri" pitchFamily="34" charset="-120"/>
              </a:rPr>
              <a:t>SYN cookies</a:t>
            </a:r>
            <a:r>
              <a:rPr lang="en-US" sz="1800" dirty="0">
                <a:solidFill>
                  <a:srgbClr val="1F2A33"/>
                </a:solidFill>
                <a:latin typeface="Calibri" pitchFamily="34" charset="0"/>
                <a:ea typeface="Calibri" pitchFamily="34" charset="-122"/>
                <a:cs typeface="Calibri" pitchFamily="34" charset="-120"/>
              </a:rPr>
              <a:t> let a server survive SYN floods without keeping state</a:t>
            </a:r>
            <a:endParaRPr lang="en-US" sz="1800" dirty="0"/>
          </a:p>
        </p:txBody>
      </p:sp>
      <p:sp>
        <p:nvSpPr>
          <p:cNvPr id="18" name="Text 16"/>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9" name="Text 17"/>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Three-way handshake and option negotiation</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Before any data flows, both sides must agree on starting sequence numbers and options. The client sends a </a:t>
            </a:r>
            <a:r>
              <a:rPr lang="en-US" sz="1900" b="1" dirty="0">
                <a:solidFill>
                  <a:srgbClr val="1F2A33"/>
                </a:solidFill>
                <a:latin typeface="Calibri" pitchFamily="34" charset="0"/>
                <a:ea typeface="Calibri" pitchFamily="34" charset="-122"/>
                <a:cs typeface="Calibri" pitchFamily="34" charset="-120"/>
              </a:rPr>
              <a:t>SYN</a:t>
            </a:r>
            <a:r>
              <a:rPr lang="en-US" sz="1900" dirty="0">
                <a:solidFill>
                  <a:srgbClr val="1F2A33"/>
                </a:solidFill>
                <a:latin typeface="Calibri" pitchFamily="34" charset="0"/>
                <a:ea typeface="Calibri" pitchFamily="34" charset="-122"/>
                <a:cs typeface="Calibri" pitchFamily="34" charset="-120"/>
              </a:rPr>
              <a:t> with its initial sequence number x and its options. The server replies with </a:t>
            </a:r>
            <a:r>
              <a:rPr lang="en-US" sz="1900" b="1" dirty="0">
                <a:solidFill>
                  <a:srgbClr val="1F2A33"/>
                </a:solidFill>
                <a:latin typeface="Calibri" pitchFamily="34" charset="0"/>
                <a:ea typeface="Calibri" pitchFamily="34" charset="-122"/>
                <a:cs typeface="Calibri" pitchFamily="34" charset="-120"/>
              </a:rPr>
              <a:t>SYN-ACK</a:t>
            </a:r>
            <a:r>
              <a:rPr lang="en-US" sz="1900" dirty="0">
                <a:solidFill>
                  <a:srgbClr val="1F2A33"/>
                </a:solidFill>
                <a:latin typeface="Calibri" pitchFamily="34" charset="0"/>
                <a:ea typeface="Calibri" pitchFamily="34" charset="-122"/>
                <a:cs typeface="Calibri" pitchFamily="34" charset="-120"/>
              </a:rPr>
              <a:t>: its own initial sequence number y, an acknowledgment of x+1 and its options. The client completes with an </a:t>
            </a:r>
            <a:r>
              <a:rPr lang="en-US" sz="1900" b="1" dirty="0">
                <a:solidFill>
                  <a:srgbClr val="1F2A33"/>
                </a:solidFill>
                <a:latin typeface="Calibri" pitchFamily="34" charset="0"/>
                <a:ea typeface="Calibri" pitchFamily="34" charset="-122"/>
                <a:cs typeface="Calibri" pitchFamily="34" charset="-120"/>
              </a:rPr>
              <a:t>ACK</a:t>
            </a:r>
            <a:r>
              <a:rPr lang="en-US" sz="1900" dirty="0">
                <a:solidFill>
                  <a:srgbClr val="1F2A33"/>
                </a:solidFill>
                <a:latin typeface="Calibri" pitchFamily="34" charset="0"/>
                <a:ea typeface="Calibri" pitchFamily="34" charset="-122"/>
                <a:cs typeface="Calibri" pitchFamily="34" charset="-120"/>
              </a:rPr>
              <a:t> of y+1.</a:t>
            </a:r>
            <a:endParaRPr lang="en-US" sz="1900" dirty="0"/>
          </a:p>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Why three messages and not two? Each side must prove it received the other’s sequence number. Two messages would leave the server unsure that its SYN reached the client. Initial sequence numbers are random so an attacker cannot guess them and so that segments from an old connection are not mistaken for new ones.</a:t>
            </a:r>
            <a:endParaRPr lang="en-US" sz="1900" dirty="0"/>
          </a:p>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Handshake state is a target for attacks: a SYN flood sends many SYNs without completing them, filling the server’s queue. </a:t>
            </a:r>
            <a:r>
              <a:rPr lang="en-US" sz="1900" b="1" dirty="0">
                <a:solidFill>
                  <a:srgbClr val="1F2A33"/>
                </a:solidFill>
                <a:latin typeface="Calibri" pitchFamily="34" charset="0"/>
                <a:ea typeface="Calibri" pitchFamily="34" charset="-122"/>
                <a:cs typeface="Calibri" pitchFamily="34" charset="-120"/>
              </a:rPr>
              <a:t>SYN cookies</a:t>
            </a:r>
            <a:r>
              <a:rPr lang="en-US" sz="1900" dirty="0">
                <a:solidFill>
                  <a:srgbClr val="1F2A33"/>
                </a:solidFill>
                <a:latin typeface="Calibri" pitchFamily="34" charset="0"/>
                <a:ea typeface="Calibri" pitchFamily="34" charset="-122"/>
                <a:cs typeface="Calibri" pitchFamily="34" charset="-120"/>
              </a:rPr>
              <a:t> encode the state inside the server’s ISN so nothing must be stored until the final ACK arrives.</a:t>
            </a:r>
            <a:endParaRPr lang="en-US" sz="1900" dirty="0"/>
          </a:p>
        </p:txBody>
      </p:sp>
      <p:sp>
        <p:nvSpPr>
          <p:cNvPr id="6" name="Shape 4"/>
          <p:cNvSpPr/>
          <p:nvPr/>
        </p:nvSpPr>
        <p:spPr>
          <a:xfrm>
            <a:off x="8001000" y="1325880"/>
            <a:ext cx="3642055" cy="2467776"/>
          </a:xfrm>
          <a:prstGeom prst="roundRect">
            <a:avLst>
              <a:gd name="adj" fmla="val 3705"/>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781976"/>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Client SYN seq=1000, server SYN-ACK seq=5000 ack=1001, client ACK seq=1001 ack=5001. The first data byte from the client will be numbered 1001.</a:t>
            </a:r>
            <a:endParaRPr lang="en-US" sz="1700" dirty="0"/>
          </a:p>
        </p:txBody>
      </p:sp>
      <p:sp>
        <p:nvSpPr>
          <p:cNvPr id="9" name="Shape 7"/>
          <p:cNvSpPr/>
          <p:nvPr/>
        </p:nvSpPr>
        <p:spPr>
          <a:xfrm>
            <a:off x="8001000" y="4022256"/>
            <a:ext cx="3642055" cy="2195664"/>
          </a:xfrm>
          <a:prstGeom prst="roundRect">
            <a:avLst>
              <a:gd name="adj" fmla="val 4165"/>
            </a:avLst>
          </a:prstGeom>
          <a:solidFill>
            <a:srgbClr val="FDEBDD"/>
          </a:solidFill>
          <a:ln/>
        </p:spPr>
        <p:txBody>
          <a:bodyPr/>
          <a:lstStyle/>
          <a:p>
            <a:endParaRPr lang="en-LB"/>
          </a:p>
        </p:txBody>
      </p:sp>
      <p:sp>
        <p:nvSpPr>
          <p:cNvPr id="10" name="Text 8"/>
          <p:cNvSpPr txBox="1"/>
          <p:nvPr/>
        </p:nvSpPr>
        <p:spPr>
          <a:xfrm>
            <a:off x="8229600" y="4205136"/>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570896"/>
            <a:ext cx="3184855" cy="1509864"/>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The handshake costs one RTT before data can be sent. Later lectures (TLS 1.3, QUIC) work hard to reduce this cost.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Connection teardown and TIME_WAIT</a:t>
            </a:r>
            <a:endParaRPr lang="en-US" sz="3000" dirty="0"/>
          </a:p>
        </p:txBody>
      </p:sp>
      <p:sp>
        <p:nvSpPr>
          <p:cNvPr id="3" name="Shape 1"/>
          <p:cNvSpPr/>
          <p:nvPr/>
        </p:nvSpPr>
        <p:spPr>
          <a:xfrm>
            <a:off x="594360" y="1280160"/>
            <a:ext cx="1554480" cy="457200"/>
          </a:xfrm>
          <a:prstGeom prst="roundRect">
            <a:avLst>
              <a:gd name="adj" fmla="val 16000"/>
            </a:avLst>
          </a:prstGeom>
          <a:solidFill>
            <a:srgbClr val="17222D"/>
          </a:solidFill>
          <a:ln/>
        </p:spPr>
        <p:txBody>
          <a:bodyPr/>
          <a:lstStyle/>
          <a:p>
            <a:endParaRPr lang="en-LB"/>
          </a:p>
        </p:txBody>
      </p:sp>
      <p:sp>
        <p:nvSpPr>
          <p:cNvPr id="4" name="Text 2"/>
          <p:cNvSpPr txBox="1"/>
          <p:nvPr/>
        </p:nvSpPr>
        <p:spPr>
          <a:xfrm>
            <a:off x="594360" y="1280160"/>
            <a:ext cx="1554480" cy="4572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Active closer</a:t>
            </a:r>
            <a:endParaRPr lang="en-US" sz="1300" dirty="0"/>
          </a:p>
        </p:txBody>
      </p:sp>
      <p:sp>
        <p:nvSpPr>
          <p:cNvPr id="5" name="Shape 3"/>
          <p:cNvSpPr/>
          <p:nvPr/>
        </p:nvSpPr>
        <p:spPr>
          <a:xfrm>
            <a:off x="1371600" y="1737360"/>
            <a:ext cx="0" cy="4480560"/>
          </a:xfrm>
          <a:prstGeom prst="line">
            <a:avLst/>
          </a:prstGeom>
          <a:noFill/>
          <a:ln w="15875">
            <a:solidFill>
              <a:srgbClr val="C9D3DB"/>
            </a:solidFill>
            <a:prstDash val="dash"/>
          </a:ln>
        </p:spPr>
        <p:txBody>
          <a:bodyPr/>
          <a:lstStyle/>
          <a:p>
            <a:endParaRPr lang="en-LB"/>
          </a:p>
        </p:txBody>
      </p:sp>
      <p:sp>
        <p:nvSpPr>
          <p:cNvPr id="6" name="Shape 4"/>
          <p:cNvSpPr/>
          <p:nvPr/>
        </p:nvSpPr>
        <p:spPr>
          <a:xfrm>
            <a:off x="6263640" y="1280160"/>
            <a:ext cx="1554480" cy="457200"/>
          </a:xfrm>
          <a:prstGeom prst="roundRect">
            <a:avLst>
              <a:gd name="adj" fmla="val 16000"/>
            </a:avLst>
          </a:prstGeom>
          <a:solidFill>
            <a:srgbClr val="0E8C7F"/>
          </a:solidFill>
          <a:ln/>
        </p:spPr>
        <p:txBody>
          <a:bodyPr/>
          <a:lstStyle/>
          <a:p>
            <a:endParaRPr lang="en-LB"/>
          </a:p>
        </p:txBody>
      </p:sp>
      <p:sp>
        <p:nvSpPr>
          <p:cNvPr id="7" name="Text 5"/>
          <p:cNvSpPr txBox="1"/>
          <p:nvPr/>
        </p:nvSpPr>
        <p:spPr>
          <a:xfrm>
            <a:off x="6263640" y="1280160"/>
            <a:ext cx="1554480" cy="4572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Passive closer</a:t>
            </a:r>
            <a:endParaRPr lang="en-US" sz="1300" dirty="0"/>
          </a:p>
        </p:txBody>
      </p:sp>
      <p:sp>
        <p:nvSpPr>
          <p:cNvPr id="8" name="Shape 6"/>
          <p:cNvSpPr/>
          <p:nvPr/>
        </p:nvSpPr>
        <p:spPr>
          <a:xfrm>
            <a:off x="7040880" y="1737360"/>
            <a:ext cx="0" cy="4480560"/>
          </a:xfrm>
          <a:prstGeom prst="line">
            <a:avLst/>
          </a:prstGeom>
          <a:noFill/>
          <a:ln w="15875">
            <a:solidFill>
              <a:srgbClr val="C9D3DB"/>
            </a:solidFill>
            <a:prstDash val="dash"/>
          </a:ln>
        </p:spPr>
        <p:txBody>
          <a:bodyPr/>
          <a:lstStyle/>
          <a:p>
            <a:endParaRPr lang="en-LB"/>
          </a:p>
        </p:txBody>
      </p:sp>
      <p:sp>
        <p:nvSpPr>
          <p:cNvPr id="9" name="Shape 7"/>
          <p:cNvSpPr/>
          <p:nvPr/>
        </p:nvSpPr>
        <p:spPr>
          <a:xfrm>
            <a:off x="1371600" y="2484882"/>
            <a:ext cx="5669280" cy="0"/>
          </a:xfrm>
          <a:prstGeom prst="line">
            <a:avLst/>
          </a:prstGeom>
          <a:noFill/>
          <a:ln w="25400">
            <a:solidFill>
              <a:srgbClr val="E8772E"/>
            </a:solidFill>
            <a:prstDash val="solid"/>
            <a:tailEnd type="triangle"/>
          </a:ln>
        </p:spPr>
        <p:txBody>
          <a:bodyPr/>
          <a:lstStyle/>
          <a:p>
            <a:endParaRPr lang="en-LB"/>
          </a:p>
        </p:txBody>
      </p:sp>
      <p:sp>
        <p:nvSpPr>
          <p:cNvPr id="10" name="Text 8"/>
          <p:cNvSpPr txBox="1"/>
          <p:nvPr/>
        </p:nvSpPr>
        <p:spPr>
          <a:xfrm>
            <a:off x="1463040" y="2002993"/>
            <a:ext cx="5486400" cy="450799"/>
          </a:xfrm>
          <a:prstGeom prst="rect">
            <a:avLst/>
          </a:prstGeom>
          <a:noFill/>
          <a:ln/>
        </p:spPr>
        <p:txBody>
          <a:bodyPr wrap="square" lIns="0" tIns="0" rIns="0" bIns="0" rtlCol="0" anchor="b"/>
          <a:lstStyle/>
          <a:p>
            <a:pPr marL="0" indent="0" algn="ctr">
              <a:buNone/>
            </a:pPr>
            <a:r>
              <a:rPr lang="en-US" sz="1300" dirty="0">
                <a:solidFill>
                  <a:srgbClr val="1F2A33"/>
                </a:solidFill>
                <a:latin typeface="Calibri" pitchFamily="34" charset="0"/>
                <a:ea typeface="Calibri" pitchFamily="34" charset="-122"/>
                <a:cs typeface="Calibri" pitchFamily="34" charset="-120"/>
              </a:rPr>
              <a:t>FIN  (FIN_WAIT_1)</a:t>
            </a:r>
            <a:endParaRPr lang="en-US" sz="1300" dirty="0"/>
          </a:p>
        </p:txBody>
      </p:sp>
      <p:sp>
        <p:nvSpPr>
          <p:cNvPr id="11" name="Shape 9"/>
          <p:cNvSpPr/>
          <p:nvPr/>
        </p:nvSpPr>
        <p:spPr>
          <a:xfrm flipH="1">
            <a:off x="1371600" y="3262122"/>
            <a:ext cx="5669280" cy="0"/>
          </a:xfrm>
          <a:prstGeom prst="line">
            <a:avLst/>
          </a:prstGeom>
          <a:noFill/>
          <a:ln w="25400">
            <a:solidFill>
              <a:srgbClr val="0E8C7F"/>
            </a:solidFill>
            <a:prstDash val="solid"/>
            <a:tailEnd type="triangle"/>
          </a:ln>
        </p:spPr>
        <p:txBody>
          <a:bodyPr/>
          <a:lstStyle/>
          <a:p>
            <a:endParaRPr lang="en-LB"/>
          </a:p>
        </p:txBody>
      </p:sp>
      <p:sp>
        <p:nvSpPr>
          <p:cNvPr id="12" name="Text 10"/>
          <p:cNvSpPr txBox="1"/>
          <p:nvPr/>
        </p:nvSpPr>
        <p:spPr>
          <a:xfrm>
            <a:off x="1463040" y="2780233"/>
            <a:ext cx="5486400" cy="450799"/>
          </a:xfrm>
          <a:prstGeom prst="rect">
            <a:avLst/>
          </a:prstGeom>
          <a:noFill/>
          <a:ln/>
        </p:spPr>
        <p:txBody>
          <a:bodyPr wrap="square" lIns="0" tIns="0" rIns="0" bIns="0" rtlCol="0" anchor="b"/>
          <a:lstStyle/>
          <a:p>
            <a:pPr marL="0" indent="0" algn="ctr">
              <a:buNone/>
            </a:pPr>
            <a:r>
              <a:rPr lang="en-US" sz="1300" dirty="0">
                <a:solidFill>
                  <a:srgbClr val="1F2A33"/>
                </a:solidFill>
                <a:latin typeface="Calibri" pitchFamily="34" charset="0"/>
                <a:ea typeface="Calibri" pitchFamily="34" charset="-122"/>
                <a:cs typeface="Calibri" pitchFamily="34" charset="-120"/>
              </a:rPr>
              <a:t>ACK  (CLOSE_WAIT / FIN_WAIT_2)</a:t>
            </a:r>
            <a:endParaRPr lang="en-US" sz="1300" dirty="0"/>
          </a:p>
        </p:txBody>
      </p:sp>
      <p:sp>
        <p:nvSpPr>
          <p:cNvPr id="13" name="Shape 11"/>
          <p:cNvSpPr/>
          <p:nvPr/>
        </p:nvSpPr>
        <p:spPr>
          <a:xfrm flipH="1">
            <a:off x="1371600" y="4039362"/>
            <a:ext cx="5669280" cy="0"/>
          </a:xfrm>
          <a:prstGeom prst="line">
            <a:avLst/>
          </a:prstGeom>
          <a:noFill/>
          <a:ln w="25400">
            <a:solidFill>
              <a:srgbClr val="6E8596"/>
            </a:solidFill>
            <a:prstDash val="dash"/>
            <a:tailEnd type="triangle"/>
          </a:ln>
        </p:spPr>
        <p:txBody>
          <a:bodyPr/>
          <a:lstStyle/>
          <a:p>
            <a:endParaRPr lang="en-LB"/>
          </a:p>
        </p:txBody>
      </p:sp>
      <p:sp>
        <p:nvSpPr>
          <p:cNvPr id="14" name="Text 12"/>
          <p:cNvSpPr txBox="1"/>
          <p:nvPr/>
        </p:nvSpPr>
        <p:spPr>
          <a:xfrm>
            <a:off x="1463040" y="3557473"/>
            <a:ext cx="5486400" cy="450799"/>
          </a:xfrm>
          <a:prstGeom prst="rect">
            <a:avLst/>
          </a:prstGeom>
          <a:noFill/>
          <a:ln/>
        </p:spPr>
        <p:txBody>
          <a:bodyPr wrap="square" lIns="0" tIns="0" rIns="0" bIns="0" rtlCol="0" anchor="b"/>
          <a:lstStyle/>
          <a:p>
            <a:pPr marL="0" indent="0" algn="ctr">
              <a:buNone/>
            </a:pPr>
            <a:r>
              <a:rPr lang="en-US" sz="1300" dirty="0">
                <a:solidFill>
                  <a:srgbClr val="1F2A33"/>
                </a:solidFill>
                <a:latin typeface="Calibri" pitchFamily="34" charset="0"/>
                <a:ea typeface="Calibri" pitchFamily="34" charset="-122"/>
                <a:cs typeface="Calibri" pitchFamily="34" charset="-120"/>
              </a:rPr>
              <a:t>remaining data …</a:t>
            </a:r>
            <a:endParaRPr lang="en-US" sz="1300" dirty="0"/>
          </a:p>
        </p:txBody>
      </p:sp>
      <p:sp>
        <p:nvSpPr>
          <p:cNvPr id="15" name="Shape 13"/>
          <p:cNvSpPr/>
          <p:nvPr/>
        </p:nvSpPr>
        <p:spPr>
          <a:xfrm flipH="1">
            <a:off x="1371600" y="4816602"/>
            <a:ext cx="5669280" cy="0"/>
          </a:xfrm>
          <a:prstGeom prst="line">
            <a:avLst/>
          </a:prstGeom>
          <a:noFill/>
          <a:ln w="25400">
            <a:solidFill>
              <a:srgbClr val="0E8C7F"/>
            </a:solidFill>
            <a:prstDash val="solid"/>
            <a:tailEnd type="triangle"/>
          </a:ln>
        </p:spPr>
        <p:txBody>
          <a:bodyPr/>
          <a:lstStyle/>
          <a:p>
            <a:endParaRPr lang="en-LB"/>
          </a:p>
        </p:txBody>
      </p:sp>
      <p:sp>
        <p:nvSpPr>
          <p:cNvPr id="16" name="Text 14"/>
          <p:cNvSpPr txBox="1"/>
          <p:nvPr/>
        </p:nvSpPr>
        <p:spPr>
          <a:xfrm>
            <a:off x="1463040" y="4334713"/>
            <a:ext cx="5486400" cy="450799"/>
          </a:xfrm>
          <a:prstGeom prst="rect">
            <a:avLst/>
          </a:prstGeom>
          <a:noFill/>
          <a:ln/>
        </p:spPr>
        <p:txBody>
          <a:bodyPr wrap="square" lIns="0" tIns="0" rIns="0" bIns="0" rtlCol="0" anchor="b"/>
          <a:lstStyle/>
          <a:p>
            <a:pPr marL="0" indent="0" algn="ctr">
              <a:buNone/>
            </a:pPr>
            <a:r>
              <a:rPr lang="en-US" sz="1300" dirty="0">
                <a:solidFill>
                  <a:srgbClr val="1F2A33"/>
                </a:solidFill>
                <a:latin typeface="Calibri" pitchFamily="34" charset="0"/>
                <a:ea typeface="Calibri" pitchFamily="34" charset="-122"/>
                <a:cs typeface="Calibri" pitchFamily="34" charset="-120"/>
              </a:rPr>
              <a:t>FIN  (LAST_ACK)</a:t>
            </a:r>
            <a:endParaRPr lang="en-US" sz="1300" dirty="0"/>
          </a:p>
        </p:txBody>
      </p:sp>
      <p:sp>
        <p:nvSpPr>
          <p:cNvPr id="17" name="Shape 15"/>
          <p:cNvSpPr/>
          <p:nvPr/>
        </p:nvSpPr>
        <p:spPr>
          <a:xfrm>
            <a:off x="1371600" y="5593842"/>
            <a:ext cx="5669280" cy="0"/>
          </a:xfrm>
          <a:prstGeom prst="line">
            <a:avLst/>
          </a:prstGeom>
          <a:noFill/>
          <a:ln w="25400">
            <a:solidFill>
              <a:srgbClr val="E8772E"/>
            </a:solidFill>
            <a:prstDash val="solid"/>
            <a:tailEnd type="triangle"/>
          </a:ln>
        </p:spPr>
        <p:txBody>
          <a:bodyPr/>
          <a:lstStyle/>
          <a:p>
            <a:endParaRPr lang="en-LB"/>
          </a:p>
        </p:txBody>
      </p:sp>
      <p:sp>
        <p:nvSpPr>
          <p:cNvPr id="18" name="Text 16"/>
          <p:cNvSpPr txBox="1"/>
          <p:nvPr/>
        </p:nvSpPr>
        <p:spPr>
          <a:xfrm>
            <a:off x="1463040" y="5111953"/>
            <a:ext cx="5486400" cy="450799"/>
          </a:xfrm>
          <a:prstGeom prst="rect">
            <a:avLst/>
          </a:prstGeom>
          <a:noFill/>
          <a:ln/>
        </p:spPr>
        <p:txBody>
          <a:bodyPr wrap="square" lIns="0" tIns="0" rIns="0" bIns="0" rtlCol="0" anchor="b"/>
          <a:lstStyle/>
          <a:p>
            <a:pPr marL="0" indent="0" algn="ctr">
              <a:buNone/>
            </a:pPr>
            <a:r>
              <a:rPr lang="en-US" sz="1300" dirty="0">
                <a:solidFill>
                  <a:srgbClr val="1F2A33"/>
                </a:solidFill>
                <a:latin typeface="Calibri" pitchFamily="34" charset="0"/>
                <a:ea typeface="Calibri" pitchFamily="34" charset="-122"/>
                <a:cs typeface="Calibri" pitchFamily="34" charset="-120"/>
              </a:rPr>
              <a:t>ACK  → TIME_WAIT for 2×MSL</a:t>
            </a:r>
            <a:endParaRPr lang="en-US" sz="1300" dirty="0"/>
          </a:p>
        </p:txBody>
      </p:sp>
      <p:sp>
        <p:nvSpPr>
          <p:cNvPr id="19" name="Text 17"/>
          <p:cNvSpPr txBox="1"/>
          <p:nvPr/>
        </p:nvSpPr>
        <p:spPr>
          <a:xfrm>
            <a:off x="8183880" y="1280160"/>
            <a:ext cx="3459175" cy="4937760"/>
          </a:xfrm>
          <a:prstGeom prst="rect">
            <a:avLst/>
          </a:prstGeom>
          <a:noFill/>
          <a:ln/>
        </p:spPr>
        <p:txBody>
          <a:bodyPr wrap="square" lIns="25400" tIns="0" rIns="25400" bIns="25400" rtlCol="0" anchor="t"/>
          <a:lstStyle/>
          <a:p>
            <a:pPr marL="342900" indent="-342900">
              <a:spcAft>
                <a:spcPts val="700"/>
              </a:spcAft>
              <a:buSzPct val="100000"/>
              <a:buChar char="■"/>
            </a:pPr>
            <a:r>
              <a:rPr lang="en-US" sz="1800" dirty="0">
                <a:solidFill>
                  <a:srgbClr val="1F2A33"/>
                </a:solidFill>
                <a:latin typeface="Calibri" pitchFamily="34" charset="0"/>
                <a:ea typeface="Calibri" pitchFamily="34" charset="-122"/>
                <a:cs typeface="Calibri" pitchFamily="34" charset="-120"/>
              </a:rPr>
              <a:t>Each direction is closed independently (half-close)</a:t>
            </a:r>
            <a:endParaRPr lang="en-US" sz="1800" dirty="0"/>
          </a:p>
          <a:p>
            <a:pPr marL="342900" indent="-342900">
              <a:spcAft>
                <a:spcPts val="700"/>
              </a:spcAft>
              <a:buSzPct val="100000"/>
              <a:buChar char="■"/>
            </a:pPr>
            <a:r>
              <a:rPr lang="en-US" sz="1800" b="1" dirty="0">
                <a:solidFill>
                  <a:srgbClr val="1F2A33"/>
                </a:solidFill>
                <a:latin typeface="Calibri" pitchFamily="34" charset="0"/>
                <a:ea typeface="Calibri" pitchFamily="34" charset="-122"/>
                <a:cs typeface="Calibri" pitchFamily="34" charset="-120"/>
              </a:rPr>
              <a:t>TIME_WAIT</a:t>
            </a:r>
            <a:r>
              <a:rPr lang="en-US" sz="1800" dirty="0">
                <a:solidFill>
                  <a:srgbClr val="1F2A33"/>
                </a:solidFill>
                <a:latin typeface="Calibri" pitchFamily="34" charset="0"/>
                <a:ea typeface="Calibri" pitchFamily="34" charset="-122"/>
                <a:cs typeface="Calibri" pitchFamily="34" charset="-120"/>
              </a:rPr>
              <a:t> (2×MSL, 60 s on Linux) absorbs late segments and re-sends the final ACK</a:t>
            </a:r>
            <a:endParaRPr lang="en-US" sz="1800" dirty="0"/>
          </a:p>
          <a:p>
            <a:pPr marL="342900" indent="-342900">
              <a:spcAft>
                <a:spcPts val="700"/>
              </a:spcAft>
              <a:buSzPct val="100000"/>
              <a:buChar char="■"/>
            </a:pPr>
            <a:r>
              <a:rPr lang="en-US" sz="1800" dirty="0">
                <a:solidFill>
                  <a:srgbClr val="1F2A33"/>
                </a:solidFill>
                <a:latin typeface="Calibri" pitchFamily="34" charset="0"/>
                <a:ea typeface="Calibri" pitchFamily="34" charset="-122"/>
                <a:cs typeface="Calibri" pitchFamily="34" charset="-120"/>
              </a:rPr>
              <a:t>Busy clients can exhaust ephemeral ports with TIME_WAIT sockets</a:t>
            </a:r>
            <a:endParaRPr lang="en-US" sz="1800" dirty="0"/>
          </a:p>
          <a:p>
            <a:pPr marL="342900" indent="-342900">
              <a:spcAft>
                <a:spcPts val="700"/>
              </a:spcAft>
              <a:buSzPct val="100000"/>
              <a:buChar char="■"/>
            </a:pPr>
            <a:r>
              <a:rPr lang="en-US" sz="1800" b="1" dirty="0">
                <a:solidFill>
                  <a:srgbClr val="1F2A33"/>
                </a:solidFill>
                <a:latin typeface="Calibri" pitchFamily="34" charset="0"/>
                <a:ea typeface="Calibri" pitchFamily="34" charset="-122"/>
                <a:cs typeface="Calibri" pitchFamily="34" charset="-120"/>
              </a:rPr>
              <a:t>RST</a:t>
            </a:r>
            <a:r>
              <a:rPr lang="en-US" sz="1800" dirty="0">
                <a:solidFill>
                  <a:srgbClr val="1F2A33"/>
                </a:solidFill>
                <a:latin typeface="Calibri" pitchFamily="34" charset="0"/>
                <a:ea typeface="Calibri" pitchFamily="34" charset="-122"/>
                <a:cs typeface="Calibri" pitchFamily="34" charset="-120"/>
              </a:rPr>
              <a:t> aborts immediately — no graceful shutdown</a:t>
            </a:r>
            <a:endParaRPr lang="en-US" sz="1800" dirty="0"/>
          </a:p>
        </p:txBody>
      </p:sp>
      <p:sp>
        <p:nvSpPr>
          <p:cNvPr id="20" name="Text 18"/>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21" name="Text 19"/>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Connection teardown and TIME_WAIT</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TCP is full-duplex, so each direction is closed separately. The side that finishes first (the </a:t>
            </a:r>
            <a:r>
              <a:rPr lang="en-US" sz="2000" b="1" dirty="0">
                <a:solidFill>
                  <a:srgbClr val="1F2A33"/>
                </a:solidFill>
                <a:latin typeface="Calibri" pitchFamily="34" charset="0"/>
                <a:ea typeface="Calibri" pitchFamily="34" charset="-122"/>
                <a:cs typeface="Calibri" pitchFamily="34" charset="-120"/>
              </a:rPr>
              <a:t>active closer</a:t>
            </a:r>
            <a:r>
              <a:rPr lang="en-US" sz="2000" dirty="0">
                <a:solidFill>
                  <a:srgbClr val="1F2A33"/>
                </a:solidFill>
                <a:latin typeface="Calibri" pitchFamily="34" charset="0"/>
                <a:ea typeface="Calibri" pitchFamily="34" charset="-122"/>
                <a:cs typeface="Calibri" pitchFamily="34" charset="-120"/>
              </a:rPr>
              <a:t>) sends FIN; the other side acknowledges it but may continue sending its own data (a </a:t>
            </a:r>
            <a:r>
              <a:rPr lang="en-US" sz="2000" b="1" dirty="0">
                <a:solidFill>
                  <a:srgbClr val="1F2A33"/>
                </a:solidFill>
                <a:latin typeface="Calibri" pitchFamily="34" charset="0"/>
                <a:ea typeface="Calibri" pitchFamily="34" charset="-122"/>
                <a:cs typeface="Calibri" pitchFamily="34" charset="-120"/>
              </a:rPr>
              <a:t>half-close</a:t>
            </a:r>
            <a:r>
              <a:rPr lang="en-US" sz="2000" dirty="0">
                <a:solidFill>
                  <a:srgbClr val="1F2A33"/>
                </a:solidFill>
                <a:latin typeface="Calibri" pitchFamily="34" charset="0"/>
                <a:ea typeface="Calibri" pitchFamily="34" charset="-122"/>
                <a:cs typeface="Calibri" pitchFamily="34" charset="-120"/>
              </a:rPr>
              <a:t>). When it is done, it sends its own FIN, which the active closer acknowledges.</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After that last ACK the active closer waits in </a:t>
            </a:r>
            <a:r>
              <a:rPr lang="en-US" sz="2000" b="1" dirty="0">
                <a:solidFill>
                  <a:srgbClr val="1F2A33"/>
                </a:solidFill>
                <a:latin typeface="Calibri" pitchFamily="34" charset="0"/>
                <a:ea typeface="Calibri" pitchFamily="34" charset="-122"/>
                <a:cs typeface="Calibri" pitchFamily="34" charset="-120"/>
              </a:rPr>
              <a:t>TIME_WAIT</a:t>
            </a:r>
            <a:r>
              <a:rPr lang="en-US" sz="2000" dirty="0">
                <a:solidFill>
                  <a:srgbClr val="1F2A33"/>
                </a:solidFill>
                <a:latin typeface="Calibri" pitchFamily="34" charset="0"/>
                <a:ea typeface="Calibri" pitchFamily="34" charset="-122"/>
                <a:cs typeface="Calibri" pitchFamily="34" charset="-120"/>
              </a:rPr>
              <a:t> for twice the Maximum Segment Lifetime. This serves two purposes: if the final ACK was lost, the peer will resend its FIN and we can answer it; and any delayed duplicate segments from this connection will expire before the same 4-tuple can be reused.</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RST is different: it aborts the connection immediately and discards any data still in buffers. It is sent, for example, when a segment arrives for a port with no listening application.</a:t>
            </a:r>
            <a:endParaRPr lang="en-US" sz="2000" dirty="0"/>
          </a:p>
        </p:txBody>
      </p:sp>
      <p:sp>
        <p:nvSpPr>
          <p:cNvPr id="6" name="Shape 4"/>
          <p:cNvSpPr/>
          <p:nvPr/>
        </p:nvSpPr>
        <p:spPr>
          <a:xfrm>
            <a:off x="8001000" y="1325880"/>
            <a:ext cx="3642055" cy="2779595"/>
          </a:xfrm>
          <a:prstGeom prst="roundRect">
            <a:avLst>
              <a:gd name="adj" fmla="val 3290"/>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093795"/>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A load-testing client opening thousands of short connections per second can run out of local ports because each closed connection keeps its port in TIME_WAIT for 60 seconds (Linux).</a:t>
            </a:r>
            <a:endParaRPr lang="en-US" sz="1700" dirty="0"/>
          </a:p>
        </p:txBody>
      </p:sp>
      <p:sp>
        <p:nvSpPr>
          <p:cNvPr id="9" name="Shape 7"/>
          <p:cNvSpPr/>
          <p:nvPr/>
        </p:nvSpPr>
        <p:spPr>
          <a:xfrm>
            <a:off x="8001000" y="4334075"/>
            <a:ext cx="3642055" cy="1883845"/>
          </a:xfrm>
          <a:prstGeom prst="roundRect">
            <a:avLst>
              <a:gd name="adj" fmla="val 4854"/>
            </a:avLst>
          </a:prstGeom>
          <a:solidFill>
            <a:srgbClr val="FDEBDD"/>
          </a:solidFill>
          <a:ln/>
        </p:spPr>
        <p:txBody>
          <a:bodyPr/>
          <a:lstStyle/>
          <a:p>
            <a:endParaRPr lang="en-LB"/>
          </a:p>
        </p:txBody>
      </p:sp>
      <p:sp>
        <p:nvSpPr>
          <p:cNvPr id="10" name="Text 8"/>
          <p:cNvSpPr txBox="1"/>
          <p:nvPr/>
        </p:nvSpPr>
        <p:spPr>
          <a:xfrm>
            <a:off x="8229600" y="4516955"/>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882715"/>
            <a:ext cx="3184855" cy="1198045"/>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Whoever closes first holds TIME_WAIT. Servers usually prefer clients to close first.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The TCP state machine in five phases</a:t>
            </a:r>
            <a:endParaRPr lang="en-US" sz="3000" dirty="0"/>
          </a:p>
        </p:txBody>
      </p:sp>
      <p:sp>
        <p:nvSpPr>
          <p:cNvPr id="3" name="Shape 1"/>
          <p:cNvSpPr/>
          <p:nvPr/>
        </p:nvSpPr>
        <p:spPr>
          <a:xfrm>
            <a:off x="1164306" y="1463040"/>
            <a:ext cx="731520" cy="731520"/>
          </a:xfrm>
          <a:prstGeom prst="ellipse">
            <a:avLst/>
          </a:prstGeom>
          <a:solidFill>
            <a:srgbClr val="E8772E"/>
          </a:solidFill>
          <a:ln/>
        </p:spPr>
        <p:txBody>
          <a:bodyPr/>
          <a:lstStyle/>
          <a:p>
            <a:endParaRPr lang="en-LB"/>
          </a:p>
        </p:txBody>
      </p:sp>
      <p:sp>
        <p:nvSpPr>
          <p:cNvPr id="4" name="Text 2"/>
          <p:cNvSpPr txBox="1"/>
          <p:nvPr/>
        </p:nvSpPr>
        <p:spPr>
          <a:xfrm>
            <a:off x="1164306" y="146304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5" name="Shape 3"/>
          <p:cNvSpPr/>
          <p:nvPr/>
        </p:nvSpPr>
        <p:spPr>
          <a:xfrm>
            <a:off x="1987266" y="1828800"/>
            <a:ext cx="1368491" cy="0"/>
          </a:xfrm>
          <a:prstGeom prst="line">
            <a:avLst/>
          </a:prstGeom>
          <a:noFill/>
          <a:ln w="25400">
            <a:solidFill>
              <a:srgbClr val="C9D3DB"/>
            </a:solidFill>
            <a:prstDash val="solid"/>
            <a:tailEnd type="triangle"/>
          </a:ln>
        </p:spPr>
        <p:txBody>
          <a:bodyPr/>
          <a:lstStyle/>
          <a:p>
            <a:endParaRPr lang="en-LB"/>
          </a:p>
        </p:txBody>
      </p:sp>
      <p:sp>
        <p:nvSpPr>
          <p:cNvPr id="6" name="Shape 4"/>
          <p:cNvSpPr/>
          <p:nvPr/>
        </p:nvSpPr>
        <p:spPr>
          <a:xfrm>
            <a:off x="548640" y="2423160"/>
            <a:ext cx="1962851" cy="3840480"/>
          </a:xfrm>
          <a:prstGeom prst="roundRect">
            <a:avLst>
              <a:gd name="adj" fmla="val 4659"/>
            </a:avLst>
          </a:prstGeom>
          <a:solidFill>
            <a:srgbClr val="F2F5F7"/>
          </a:solidFill>
          <a:ln/>
        </p:spPr>
        <p:txBody>
          <a:bodyPr/>
          <a:lstStyle/>
          <a:p>
            <a:endParaRPr lang="en-LB"/>
          </a:p>
        </p:txBody>
      </p:sp>
      <p:sp>
        <p:nvSpPr>
          <p:cNvPr id="7" name="Text 5"/>
          <p:cNvSpPr txBox="1"/>
          <p:nvPr/>
        </p:nvSpPr>
        <p:spPr>
          <a:xfrm>
            <a:off x="685800" y="2514600"/>
            <a:ext cx="1688531" cy="685800"/>
          </a:xfrm>
          <a:prstGeom prst="rect">
            <a:avLst/>
          </a:prstGeom>
          <a:noFill/>
          <a:ln/>
        </p:spPr>
        <p:txBody>
          <a:bodyPr wrap="square" lIns="0" tIns="0" rIns="0" bIns="0" rtlCol="0" anchor="ctr">
            <a:normAutofit/>
          </a:bodyPr>
          <a:lstStyle/>
          <a:p>
            <a:pPr marL="0" indent="0" algn="ctr">
              <a:buNone/>
            </a:pPr>
            <a:r>
              <a:rPr lang="en-US" sz="1600" b="1" dirty="0">
                <a:solidFill>
                  <a:srgbClr val="17222D"/>
                </a:solidFill>
                <a:latin typeface="Arial" pitchFamily="34" charset="0"/>
                <a:ea typeface="Arial" pitchFamily="34" charset="-122"/>
                <a:cs typeface="Arial" pitchFamily="34" charset="-120"/>
              </a:rPr>
              <a:t>Closed / Listen</a:t>
            </a:r>
            <a:endParaRPr lang="en-US" sz="1600" dirty="0"/>
          </a:p>
        </p:txBody>
      </p:sp>
      <p:sp>
        <p:nvSpPr>
          <p:cNvPr id="8" name="Text 6"/>
          <p:cNvSpPr txBox="1"/>
          <p:nvPr/>
        </p:nvSpPr>
        <p:spPr>
          <a:xfrm>
            <a:off x="731520" y="3246120"/>
            <a:ext cx="1597091" cy="2834640"/>
          </a:xfrm>
          <a:prstGeom prst="rect">
            <a:avLst/>
          </a:prstGeom>
          <a:noFill/>
          <a:ln/>
        </p:spPr>
        <p:txBody>
          <a:bodyPr wrap="square" lIns="0" tIns="0" rIns="0" bIns="0" rtlCol="0" anchor="t"/>
          <a:lstStyle/>
          <a:p>
            <a:pPr marL="0" indent="0">
              <a:buNone/>
            </a:pPr>
            <a:r>
              <a:rPr lang="en-US" sz="1800" dirty="0">
                <a:solidFill>
                  <a:srgbClr val="1F2A33"/>
                </a:solidFill>
                <a:latin typeface="Calibri" pitchFamily="34" charset="0"/>
                <a:ea typeface="Calibri" pitchFamily="34" charset="-122"/>
                <a:cs typeface="Calibri" pitchFamily="34" charset="-120"/>
              </a:rPr>
              <a:t>Server calls listen(); client is CLOSED until connect().</a:t>
            </a:r>
            <a:endParaRPr lang="en-US" sz="1800" dirty="0"/>
          </a:p>
        </p:txBody>
      </p:sp>
      <p:sp>
        <p:nvSpPr>
          <p:cNvPr id="9" name="Shape 7"/>
          <p:cNvSpPr/>
          <p:nvPr/>
        </p:nvSpPr>
        <p:spPr>
          <a:xfrm>
            <a:off x="3447197" y="1463040"/>
            <a:ext cx="731520" cy="731520"/>
          </a:xfrm>
          <a:prstGeom prst="ellipse">
            <a:avLst/>
          </a:prstGeom>
          <a:solidFill>
            <a:srgbClr val="0E8C7F"/>
          </a:solidFill>
          <a:ln/>
        </p:spPr>
        <p:txBody>
          <a:bodyPr/>
          <a:lstStyle/>
          <a:p>
            <a:endParaRPr lang="en-LB"/>
          </a:p>
        </p:txBody>
      </p:sp>
      <p:sp>
        <p:nvSpPr>
          <p:cNvPr id="10" name="Text 8"/>
          <p:cNvSpPr txBox="1"/>
          <p:nvPr/>
        </p:nvSpPr>
        <p:spPr>
          <a:xfrm>
            <a:off x="3447197" y="146304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Shape 9"/>
          <p:cNvSpPr/>
          <p:nvPr/>
        </p:nvSpPr>
        <p:spPr>
          <a:xfrm>
            <a:off x="4270157" y="1828800"/>
            <a:ext cx="1368491" cy="0"/>
          </a:xfrm>
          <a:prstGeom prst="line">
            <a:avLst/>
          </a:prstGeom>
          <a:noFill/>
          <a:ln w="25400">
            <a:solidFill>
              <a:srgbClr val="C9D3DB"/>
            </a:solidFill>
            <a:prstDash val="solid"/>
            <a:tailEnd type="triangle"/>
          </a:ln>
        </p:spPr>
        <p:txBody>
          <a:bodyPr/>
          <a:lstStyle/>
          <a:p>
            <a:endParaRPr lang="en-LB"/>
          </a:p>
        </p:txBody>
      </p:sp>
      <p:sp>
        <p:nvSpPr>
          <p:cNvPr id="12" name="Shape 10"/>
          <p:cNvSpPr/>
          <p:nvPr/>
        </p:nvSpPr>
        <p:spPr>
          <a:xfrm>
            <a:off x="2831531" y="2423160"/>
            <a:ext cx="1962851" cy="3840480"/>
          </a:xfrm>
          <a:prstGeom prst="roundRect">
            <a:avLst>
              <a:gd name="adj" fmla="val 4659"/>
            </a:avLst>
          </a:prstGeom>
          <a:solidFill>
            <a:srgbClr val="F2F5F7"/>
          </a:solidFill>
          <a:ln/>
        </p:spPr>
        <p:txBody>
          <a:bodyPr/>
          <a:lstStyle/>
          <a:p>
            <a:endParaRPr lang="en-LB"/>
          </a:p>
        </p:txBody>
      </p:sp>
      <p:sp>
        <p:nvSpPr>
          <p:cNvPr id="13" name="Text 11"/>
          <p:cNvSpPr txBox="1"/>
          <p:nvPr/>
        </p:nvSpPr>
        <p:spPr>
          <a:xfrm>
            <a:off x="2968691" y="2514600"/>
            <a:ext cx="1688531" cy="685800"/>
          </a:xfrm>
          <a:prstGeom prst="rect">
            <a:avLst/>
          </a:prstGeom>
          <a:noFill/>
          <a:ln/>
        </p:spPr>
        <p:txBody>
          <a:bodyPr wrap="square" lIns="0" tIns="0" rIns="0" bIns="0" rtlCol="0" anchor="ctr">
            <a:normAutofit/>
          </a:bodyPr>
          <a:lstStyle/>
          <a:p>
            <a:pPr marL="0" indent="0" algn="ctr">
              <a:buNone/>
            </a:pPr>
            <a:r>
              <a:rPr lang="en-US" sz="1600" b="1" dirty="0">
                <a:solidFill>
                  <a:srgbClr val="17222D"/>
                </a:solidFill>
                <a:latin typeface="Arial" pitchFamily="34" charset="0"/>
                <a:ea typeface="Arial" pitchFamily="34" charset="-122"/>
                <a:cs typeface="Arial" pitchFamily="34" charset="-120"/>
              </a:rPr>
              <a:t>Opening</a:t>
            </a:r>
            <a:endParaRPr lang="en-US" sz="1600" dirty="0"/>
          </a:p>
        </p:txBody>
      </p:sp>
      <p:sp>
        <p:nvSpPr>
          <p:cNvPr id="14" name="Text 12"/>
          <p:cNvSpPr txBox="1"/>
          <p:nvPr/>
        </p:nvSpPr>
        <p:spPr>
          <a:xfrm>
            <a:off x="3014411" y="3246120"/>
            <a:ext cx="1597091" cy="2834640"/>
          </a:xfrm>
          <a:prstGeom prst="rect">
            <a:avLst/>
          </a:prstGeom>
          <a:noFill/>
          <a:ln/>
        </p:spPr>
        <p:txBody>
          <a:bodyPr wrap="square" lIns="0" tIns="0" rIns="0" bIns="0" rtlCol="0" anchor="t"/>
          <a:lstStyle/>
          <a:p>
            <a:pPr marL="0" indent="0">
              <a:buNone/>
            </a:pPr>
            <a:r>
              <a:rPr lang="en-US" sz="1800" dirty="0">
                <a:solidFill>
                  <a:srgbClr val="1F2A33"/>
                </a:solidFill>
                <a:latin typeface="Calibri" pitchFamily="34" charset="0"/>
                <a:ea typeface="Calibri" pitchFamily="34" charset="-122"/>
                <a:cs typeface="Calibri" pitchFamily="34" charset="-120"/>
              </a:rPr>
              <a:t>SYN_SENT on the client, SYN_RECEIVED on the server while the handshake completes.</a:t>
            </a:r>
            <a:endParaRPr lang="en-US" sz="1800" dirty="0"/>
          </a:p>
        </p:txBody>
      </p:sp>
      <p:sp>
        <p:nvSpPr>
          <p:cNvPr id="15" name="Shape 13"/>
          <p:cNvSpPr/>
          <p:nvPr/>
        </p:nvSpPr>
        <p:spPr>
          <a:xfrm>
            <a:off x="5730088" y="1463040"/>
            <a:ext cx="731520" cy="731520"/>
          </a:xfrm>
          <a:prstGeom prst="ellipse">
            <a:avLst/>
          </a:prstGeom>
          <a:solidFill>
            <a:srgbClr val="E8772E"/>
          </a:solidFill>
          <a:ln/>
        </p:spPr>
        <p:txBody>
          <a:bodyPr/>
          <a:lstStyle/>
          <a:p>
            <a:endParaRPr lang="en-LB"/>
          </a:p>
        </p:txBody>
      </p:sp>
      <p:sp>
        <p:nvSpPr>
          <p:cNvPr id="16" name="Text 14"/>
          <p:cNvSpPr txBox="1"/>
          <p:nvPr/>
        </p:nvSpPr>
        <p:spPr>
          <a:xfrm>
            <a:off x="5730088" y="146304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7" name="Shape 15"/>
          <p:cNvSpPr/>
          <p:nvPr/>
        </p:nvSpPr>
        <p:spPr>
          <a:xfrm>
            <a:off x="6553048" y="1828800"/>
            <a:ext cx="1368491" cy="0"/>
          </a:xfrm>
          <a:prstGeom prst="line">
            <a:avLst/>
          </a:prstGeom>
          <a:noFill/>
          <a:ln w="25400">
            <a:solidFill>
              <a:srgbClr val="C9D3DB"/>
            </a:solidFill>
            <a:prstDash val="solid"/>
            <a:tailEnd type="triangle"/>
          </a:ln>
        </p:spPr>
        <p:txBody>
          <a:bodyPr/>
          <a:lstStyle/>
          <a:p>
            <a:endParaRPr lang="en-LB"/>
          </a:p>
        </p:txBody>
      </p:sp>
      <p:sp>
        <p:nvSpPr>
          <p:cNvPr id="18" name="Shape 16"/>
          <p:cNvSpPr/>
          <p:nvPr/>
        </p:nvSpPr>
        <p:spPr>
          <a:xfrm>
            <a:off x="5114422" y="2423160"/>
            <a:ext cx="1962851" cy="3840480"/>
          </a:xfrm>
          <a:prstGeom prst="roundRect">
            <a:avLst>
              <a:gd name="adj" fmla="val 4659"/>
            </a:avLst>
          </a:prstGeom>
          <a:solidFill>
            <a:srgbClr val="F2F5F7"/>
          </a:solidFill>
          <a:ln/>
        </p:spPr>
        <p:txBody>
          <a:bodyPr/>
          <a:lstStyle/>
          <a:p>
            <a:endParaRPr lang="en-LB"/>
          </a:p>
        </p:txBody>
      </p:sp>
      <p:sp>
        <p:nvSpPr>
          <p:cNvPr id="19" name="Text 17"/>
          <p:cNvSpPr txBox="1"/>
          <p:nvPr/>
        </p:nvSpPr>
        <p:spPr>
          <a:xfrm>
            <a:off x="5251582" y="2514600"/>
            <a:ext cx="1688531" cy="685800"/>
          </a:xfrm>
          <a:prstGeom prst="rect">
            <a:avLst/>
          </a:prstGeom>
          <a:noFill/>
          <a:ln/>
        </p:spPr>
        <p:txBody>
          <a:bodyPr wrap="square" lIns="0" tIns="0" rIns="0" bIns="0" rtlCol="0" anchor="ctr">
            <a:normAutofit/>
          </a:bodyPr>
          <a:lstStyle/>
          <a:p>
            <a:pPr marL="0" indent="0" algn="ctr">
              <a:buNone/>
            </a:pPr>
            <a:r>
              <a:rPr lang="en-US" sz="1600" b="1" dirty="0">
                <a:solidFill>
                  <a:srgbClr val="17222D"/>
                </a:solidFill>
                <a:latin typeface="Arial" pitchFamily="34" charset="0"/>
                <a:ea typeface="Arial" pitchFamily="34" charset="-122"/>
                <a:cs typeface="Arial" pitchFamily="34" charset="-120"/>
              </a:rPr>
              <a:t>Established</a:t>
            </a:r>
            <a:endParaRPr lang="en-US" sz="1600" dirty="0"/>
          </a:p>
        </p:txBody>
      </p:sp>
      <p:sp>
        <p:nvSpPr>
          <p:cNvPr id="20" name="Text 18"/>
          <p:cNvSpPr txBox="1"/>
          <p:nvPr/>
        </p:nvSpPr>
        <p:spPr>
          <a:xfrm>
            <a:off x="5297302" y="3246120"/>
            <a:ext cx="1597091" cy="2834640"/>
          </a:xfrm>
          <a:prstGeom prst="rect">
            <a:avLst/>
          </a:prstGeom>
          <a:noFill/>
          <a:ln/>
        </p:spPr>
        <p:txBody>
          <a:bodyPr wrap="square" lIns="0" tIns="0" rIns="0" bIns="0" rtlCol="0" anchor="t"/>
          <a:lstStyle/>
          <a:p>
            <a:pPr marL="0" indent="0">
              <a:buNone/>
            </a:pPr>
            <a:r>
              <a:rPr lang="en-US" sz="1800" dirty="0">
                <a:solidFill>
                  <a:srgbClr val="1F2A33"/>
                </a:solidFill>
                <a:latin typeface="Calibri" pitchFamily="34" charset="0"/>
                <a:ea typeface="Calibri" pitchFamily="34" charset="-122"/>
                <a:cs typeface="Calibri" pitchFamily="34" charset="-120"/>
              </a:rPr>
              <a:t>Data transfer in both directions; flow and congestion control are active.</a:t>
            </a:r>
            <a:endParaRPr lang="en-US" sz="1800" dirty="0"/>
          </a:p>
        </p:txBody>
      </p:sp>
      <p:sp>
        <p:nvSpPr>
          <p:cNvPr id="21" name="Shape 19"/>
          <p:cNvSpPr/>
          <p:nvPr/>
        </p:nvSpPr>
        <p:spPr>
          <a:xfrm>
            <a:off x="8012979" y="1463040"/>
            <a:ext cx="731520" cy="731520"/>
          </a:xfrm>
          <a:prstGeom prst="ellipse">
            <a:avLst/>
          </a:prstGeom>
          <a:solidFill>
            <a:srgbClr val="0E8C7F"/>
          </a:solidFill>
          <a:ln/>
        </p:spPr>
        <p:txBody>
          <a:bodyPr/>
          <a:lstStyle/>
          <a:p>
            <a:endParaRPr lang="en-LB"/>
          </a:p>
        </p:txBody>
      </p:sp>
      <p:sp>
        <p:nvSpPr>
          <p:cNvPr id="22" name="Text 20"/>
          <p:cNvSpPr txBox="1"/>
          <p:nvPr/>
        </p:nvSpPr>
        <p:spPr>
          <a:xfrm>
            <a:off x="8012979" y="146304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3" name="Shape 21"/>
          <p:cNvSpPr/>
          <p:nvPr/>
        </p:nvSpPr>
        <p:spPr>
          <a:xfrm>
            <a:off x="8835939" y="1828800"/>
            <a:ext cx="1368491" cy="0"/>
          </a:xfrm>
          <a:prstGeom prst="line">
            <a:avLst/>
          </a:prstGeom>
          <a:noFill/>
          <a:ln w="25400">
            <a:solidFill>
              <a:srgbClr val="C9D3DB"/>
            </a:solidFill>
            <a:prstDash val="solid"/>
            <a:tailEnd type="triangle"/>
          </a:ln>
        </p:spPr>
        <p:txBody>
          <a:bodyPr/>
          <a:lstStyle/>
          <a:p>
            <a:endParaRPr lang="en-LB"/>
          </a:p>
        </p:txBody>
      </p:sp>
      <p:sp>
        <p:nvSpPr>
          <p:cNvPr id="24" name="Shape 22"/>
          <p:cNvSpPr/>
          <p:nvPr/>
        </p:nvSpPr>
        <p:spPr>
          <a:xfrm>
            <a:off x="7397313" y="2423160"/>
            <a:ext cx="1962851" cy="3840480"/>
          </a:xfrm>
          <a:prstGeom prst="roundRect">
            <a:avLst>
              <a:gd name="adj" fmla="val 4659"/>
            </a:avLst>
          </a:prstGeom>
          <a:solidFill>
            <a:srgbClr val="F2F5F7"/>
          </a:solidFill>
          <a:ln/>
        </p:spPr>
        <p:txBody>
          <a:bodyPr/>
          <a:lstStyle/>
          <a:p>
            <a:endParaRPr lang="en-LB"/>
          </a:p>
        </p:txBody>
      </p:sp>
      <p:sp>
        <p:nvSpPr>
          <p:cNvPr id="25" name="Text 23"/>
          <p:cNvSpPr txBox="1"/>
          <p:nvPr/>
        </p:nvSpPr>
        <p:spPr>
          <a:xfrm>
            <a:off x="7534473" y="2514600"/>
            <a:ext cx="1688531" cy="685800"/>
          </a:xfrm>
          <a:prstGeom prst="rect">
            <a:avLst/>
          </a:prstGeom>
          <a:noFill/>
          <a:ln/>
        </p:spPr>
        <p:txBody>
          <a:bodyPr wrap="square" lIns="0" tIns="0" rIns="0" bIns="0" rtlCol="0" anchor="ctr">
            <a:normAutofit/>
          </a:bodyPr>
          <a:lstStyle/>
          <a:p>
            <a:pPr marL="0" indent="0" algn="ctr">
              <a:buNone/>
            </a:pPr>
            <a:r>
              <a:rPr lang="en-US" sz="1600" b="1" dirty="0">
                <a:solidFill>
                  <a:srgbClr val="17222D"/>
                </a:solidFill>
                <a:latin typeface="Arial" pitchFamily="34" charset="0"/>
                <a:ea typeface="Arial" pitchFamily="34" charset="-122"/>
                <a:cs typeface="Arial" pitchFamily="34" charset="-120"/>
              </a:rPr>
              <a:t>Closing</a:t>
            </a:r>
            <a:endParaRPr lang="en-US" sz="1600" dirty="0"/>
          </a:p>
        </p:txBody>
      </p:sp>
      <p:sp>
        <p:nvSpPr>
          <p:cNvPr id="26" name="Text 24"/>
          <p:cNvSpPr txBox="1"/>
          <p:nvPr/>
        </p:nvSpPr>
        <p:spPr>
          <a:xfrm>
            <a:off x="7580193" y="3246120"/>
            <a:ext cx="1597091" cy="2834640"/>
          </a:xfrm>
          <a:prstGeom prst="rect">
            <a:avLst/>
          </a:prstGeom>
          <a:noFill/>
          <a:ln/>
        </p:spPr>
        <p:txBody>
          <a:bodyPr wrap="square" lIns="0" tIns="0" rIns="0" bIns="0" rtlCol="0" anchor="t"/>
          <a:lstStyle/>
          <a:p>
            <a:pPr marL="0" indent="0">
              <a:buNone/>
            </a:pPr>
            <a:r>
              <a:rPr lang="en-US" sz="1800" dirty="0">
                <a:solidFill>
                  <a:srgbClr val="1F2A33"/>
                </a:solidFill>
                <a:latin typeface="Calibri" pitchFamily="34" charset="0"/>
                <a:ea typeface="Calibri" pitchFamily="34" charset="-122"/>
                <a:cs typeface="Calibri" pitchFamily="34" charset="-120"/>
              </a:rPr>
              <a:t>FIN_WAIT_1/2, CLOSE_WAIT, CLOSING, LAST_ACK depending on who closes first.</a:t>
            </a:r>
            <a:endParaRPr lang="en-US" sz="1800" dirty="0"/>
          </a:p>
        </p:txBody>
      </p:sp>
      <p:sp>
        <p:nvSpPr>
          <p:cNvPr id="27" name="Shape 25"/>
          <p:cNvSpPr/>
          <p:nvPr/>
        </p:nvSpPr>
        <p:spPr>
          <a:xfrm>
            <a:off x="10295870" y="1463040"/>
            <a:ext cx="731520" cy="731520"/>
          </a:xfrm>
          <a:prstGeom prst="ellipse">
            <a:avLst/>
          </a:prstGeom>
          <a:solidFill>
            <a:srgbClr val="E8772E"/>
          </a:solidFill>
          <a:ln/>
        </p:spPr>
        <p:txBody>
          <a:bodyPr/>
          <a:lstStyle/>
          <a:p>
            <a:endParaRPr lang="en-LB"/>
          </a:p>
        </p:txBody>
      </p:sp>
      <p:sp>
        <p:nvSpPr>
          <p:cNvPr id="28" name="Text 26"/>
          <p:cNvSpPr txBox="1"/>
          <p:nvPr/>
        </p:nvSpPr>
        <p:spPr>
          <a:xfrm>
            <a:off x="10295870" y="146304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9" name="Shape 27"/>
          <p:cNvSpPr/>
          <p:nvPr/>
        </p:nvSpPr>
        <p:spPr>
          <a:xfrm>
            <a:off x="9680204" y="2423160"/>
            <a:ext cx="1962851" cy="3840480"/>
          </a:xfrm>
          <a:prstGeom prst="roundRect">
            <a:avLst>
              <a:gd name="adj" fmla="val 4659"/>
            </a:avLst>
          </a:prstGeom>
          <a:solidFill>
            <a:srgbClr val="F2F5F7"/>
          </a:solidFill>
          <a:ln/>
        </p:spPr>
        <p:txBody>
          <a:bodyPr/>
          <a:lstStyle/>
          <a:p>
            <a:endParaRPr lang="en-LB"/>
          </a:p>
        </p:txBody>
      </p:sp>
      <p:sp>
        <p:nvSpPr>
          <p:cNvPr id="30" name="Text 28"/>
          <p:cNvSpPr txBox="1"/>
          <p:nvPr/>
        </p:nvSpPr>
        <p:spPr>
          <a:xfrm>
            <a:off x="9817364" y="2514600"/>
            <a:ext cx="1688531" cy="685800"/>
          </a:xfrm>
          <a:prstGeom prst="rect">
            <a:avLst/>
          </a:prstGeom>
          <a:noFill/>
          <a:ln/>
        </p:spPr>
        <p:txBody>
          <a:bodyPr wrap="square" lIns="0" tIns="0" rIns="0" bIns="0" rtlCol="0" anchor="ctr">
            <a:normAutofit/>
          </a:bodyPr>
          <a:lstStyle/>
          <a:p>
            <a:pPr marL="0" indent="0" algn="ctr">
              <a:buNone/>
            </a:pPr>
            <a:r>
              <a:rPr lang="en-US" sz="1600" b="1" dirty="0">
                <a:solidFill>
                  <a:srgbClr val="17222D"/>
                </a:solidFill>
                <a:latin typeface="Arial" pitchFamily="34" charset="0"/>
                <a:ea typeface="Arial" pitchFamily="34" charset="-122"/>
                <a:cs typeface="Arial" pitchFamily="34" charset="-120"/>
              </a:rPr>
              <a:t>Time-wait</a:t>
            </a:r>
            <a:endParaRPr lang="en-US" sz="1600" dirty="0"/>
          </a:p>
        </p:txBody>
      </p:sp>
      <p:sp>
        <p:nvSpPr>
          <p:cNvPr id="31" name="Text 29"/>
          <p:cNvSpPr txBox="1"/>
          <p:nvPr/>
        </p:nvSpPr>
        <p:spPr>
          <a:xfrm>
            <a:off x="9863084" y="3246120"/>
            <a:ext cx="1597091" cy="2834640"/>
          </a:xfrm>
          <a:prstGeom prst="rect">
            <a:avLst/>
          </a:prstGeom>
          <a:noFill/>
          <a:ln/>
        </p:spPr>
        <p:txBody>
          <a:bodyPr wrap="square" lIns="0" tIns="0" rIns="0" bIns="0" rtlCol="0" anchor="t"/>
          <a:lstStyle/>
          <a:p>
            <a:pPr marL="0" indent="0">
              <a:buNone/>
            </a:pPr>
            <a:r>
              <a:rPr lang="en-US" sz="1800" dirty="0">
                <a:solidFill>
                  <a:srgbClr val="1F2A33"/>
                </a:solidFill>
                <a:latin typeface="Calibri" pitchFamily="34" charset="0"/>
                <a:ea typeface="Calibri" pitchFamily="34" charset="-122"/>
                <a:cs typeface="Calibri" pitchFamily="34" charset="-120"/>
              </a:rPr>
              <a:t>Active closer waits 2×MSL before returning to CLOSED.</a:t>
            </a:r>
            <a:endParaRPr lang="en-US" sz="1800" dirty="0"/>
          </a:p>
        </p:txBody>
      </p:sp>
      <p:sp>
        <p:nvSpPr>
          <p:cNvPr id="32" name="Text 3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33" name="Text 3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The TCP state machine in five phases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TCP defines eleven states, but they group naturally into five phases. A server starts in </a:t>
            </a:r>
            <a:r>
              <a:rPr lang="en-US" sz="2000" b="1" dirty="0">
                <a:solidFill>
                  <a:srgbClr val="1F2A33"/>
                </a:solidFill>
                <a:latin typeface="Calibri" pitchFamily="34" charset="0"/>
                <a:ea typeface="Calibri" pitchFamily="34" charset="-122"/>
                <a:cs typeface="Calibri" pitchFamily="34" charset="-120"/>
              </a:rPr>
              <a:t>LISTEN</a:t>
            </a:r>
            <a:r>
              <a:rPr lang="en-US" sz="2000" dirty="0">
                <a:solidFill>
                  <a:srgbClr val="1F2A33"/>
                </a:solidFill>
                <a:latin typeface="Calibri" pitchFamily="34" charset="0"/>
                <a:ea typeface="Calibri" pitchFamily="34" charset="-122"/>
                <a:cs typeface="Calibri" pitchFamily="34" charset="-120"/>
              </a:rPr>
              <a:t>; a client moves from CLOSED to </a:t>
            </a:r>
            <a:r>
              <a:rPr lang="en-US" sz="2000" b="1" dirty="0">
                <a:solidFill>
                  <a:srgbClr val="1F2A33"/>
                </a:solidFill>
                <a:latin typeface="Calibri" pitchFamily="34" charset="0"/>
                <a:ea typeface="Calibri" pitchFamily="34" charset="-122"/>
                <a:cs typeface="Calibri" pitchFamily="34" charset="-120"/>
              </a:rPr>
              <a:t>SYN_SENT</a:t>
            </a:r>
            <a:r>
              <a:rPr lang="en-US" sz="2000" dirty="0">
                <a:solidFill>
                  <a:srgbClr val="1F2A33"/>
                </a:solidFill>
                <a:latin typeface="Calibri" pitchFamily="34" charset="0"/>
                <a:ea typeface="Calibri" pitchFamily="34" charset="-122"/>
                <a:cs typeface="Calibri" pitchFamily="34" charset="-120"/>
              </a:rPr>
              <a:t> when it calls connect(). During the handshake the server is in </a:t>
            </a:r>
            <a:r>
              <a:rPr lang="en-US" sz="2000" b="1" dirty="0">
                <a:solidFill>
                  <a:srgbClr val="1F2A33"/>
                </a:solidFill>
                <a:latin typeface="Calibri" pitchFamily="34" charset="0"/>
                <a:ea typeface="Calibri" pitchFamily="34" charset="-122"/>
                <a:cs typeface="Calibri" pitchFamily="34" charset="-120"/>
              </a:rPr>
              <a:t>SYN_RECEIVED</a:t>
            </a:r>
            <a:r>
              <a:rPr lang="en-US" sz="2000" dirty="0">
                <a:solidFill>
                  <a:srgbClr val="1F2A33"/>
                </a:solidFill>
                <a:latin typeface="Calibri" pitchFamily="34" charset="0"/>
                <a:ea typeface="Calibri" pitchFamily="34" charset="-122"/>
                <a:cs typeface="Calibri" pitchFamily="34" charset="-120"/>
              </a:rPr>
              <a:t>. When the handshake completes, both reach </a:t>
            </a:r>
            <a:r>
              <a:rPr lang="en-US" sz="2000" b="1" dirty="0">
                <a:solidFill>
                  <a:srgbClr val="1F2A33"/>
                </a:solidFill>
                <a:latin typeface="Calibri" pitchFamily="34" charset="0"/>
                <a:ea typeface="Calibri" pitchFamily="34" charset="-122"/>
                <a:cs typeface="Calibri" pitchFamily="34" charset="-120"/>
              </a:rPr>
              <a:t>ESTABLISHED</a:t>
            </a:r>
            <a:r>
              <a:rPr lang="en-US" sz="2000" dirty="0">
                <a:solidFill>
                  <a:srgbClr val="1F2A33"/>
                </a:solidFill>
                <a:latin typeface="Calibri" pitchFamily="34" charset="0"/>
                <a:ea typeface="Calibri" pitchFamily="34" charset="-122"/>
                <a:cs typeface="Calibri" pitchFamily="34" charset="-120"/>
              </a:rPr>
              <a:t>, where all data transfer happens.</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Closing involves several intermediate states depending on who closes first and whether both close at the same time: FIN_WAIT_1 and FIN_WAIT_2 for the active closer, CLOSE_WAIT and LAST_ACK for the passive closer, and the rare CLOSING state for simultaneous close. Finally the active side spends time in TIME_WAIT before returning to CLOSED.</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Knowing these states is practical: a server with thousands of sockets in CLOSE_WAIT usually means the application is not calling close() — an application bug, not a network problem.</a:t>
            </a:r>
            <a:endParaRPr lang="en-US" sz="2000" dirty="0"/>
          </a:p>
        </p:txBody>
      </p:sp>
      <p:sp>
        <p:nvSpPr>
          <p:cNvPr id="6" name="Shape 4"/>
          <p:cNvSpPr/>
          <p:nvPr/>
        </p:nvSpPr>
        <p:spPr>
          <a:xfrm>
            <a:off x="8001000" y="1325880"/>
            <a:ext cx="3642055" cy="2386643"/>
          </a:xfrm>
          <a:prstGeom prst="roundRect">
            <a:avLst>
              <a:gd name="adj" fmla="val 3831"/>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700843"/>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Command: ss -tan state close-wait lists connections the remote side has closed but your application has not yet closed.</a:t>
            </a:r>
            <a:endParaRPr lang="en-US" sz="1700" dirty="0"/>
          </a:p>
        </p:txBody>
      </p:sp>
      <p:sp>
        <p:nvSpPr>
          <p:cNvPr id="9" name="Shape 7"/>
          <p:cNvSpPr/>
          <p:nvPr/>
        </p:nvSpPr>
        <p:spPr>
          <a:xfrm>
            <a:off x="8001000" y="3941123"/>
            <a:ext cx="3642055" cy="2276797"/>
          </a:xfrm>
          <a:prstGeom prst="roundRect">
            <a:avLst>
              <a:gd name="adj" fmla="val 4016"/>
            </a:avLst>
          </a:prstGeom>
          <a:solidFill>
            <a:srgbClr val="FDEBDD"/>
          </a:solidFill>
          <a:ln/>
        </p:spPr>
        <p:txBody>
          <a:bodyPr/>
          <a:lstStyle/>
          <a:p>
            <a:endParaRPr lang="en-LB"/>
          </a:p>
        </p:txBody>
      </p:sp>
      <p:sp>
        <p:nvSpPr>
          <p:cNvPr id="10" name="Text 8"/>
          <p:cNvSpPr txBox="1"/>
          <p:nvPr/>
        </p:nvSpPr>
        <p:spPr>
          <a:xfrm>
            <a:off x="8229600" y="4124003"/>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489763"/>
            <a:ext cx="3184855" cy="1590997"/>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ESTABLISHED = data phase. Many CLOSE_WAIT = app bug. Many TIME_WAIT = many short connections from this host.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7222D"/>
        </a:solidFill>
        <a:effectLst/>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marL="0" indent="0">
              <a:buNone/>
            </a:pPr>
            <a:r>
              <a:rPr lang="en-US" sz="9600" b="1" dirty="0">
                <a:solidFill>
                  <a:srgbClr val="E8772E"/>
                </a:solidFill>
                <a:latin typeface="Arial" pitchFamily="34" charset="0"/>
                <a:ea typeface="Arial" pitchFamily="34" charset="-122"/>
                <a:cs typeface="Arial" pitchFamily="34" charset="-120"/>
              </a:rPr>
              <a:t>03</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marL="0" indent="0">
              <a:buNone/>
            </a:pPr>
            <a:r>
              <a:rPr lang="en-US" sz="3600" b="1" dirty="0">
                <a:solidFill>
                  <a:srgbClr val="FFFFFF"/>
                </a:solidFill>
                <a:latin typeface="Arial" pitchFamily="34" charset="0"/>
                <a:ea typeface="Arial" pitchFamily="34" charset="-122"/>
                <a:cs typeface="Arial" pitchFamily="34" charset="-120"/>
              </a:rPr>
              <a:t>Flow control</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marL="0" indent="0">
              <a:buNone/>
            </a:pPr>
            <a:r>
              <a:rPr lang="en-US" sz="1800" dirty="0">
                <a:solidFill>
                  <a:srgbClr val="C7D3DC"/>
                </a:solidFill>
                <a:latin typeface="Calibri" pitchFamily="34" charset="0"/>
                <a:ea typeface="Calibri" pitchFamily="34" charset="-122"/>
                <a:cs typeface="Calibri" pitchFamily="34" charset="-120"/>
              </a:rPr>
              <a:t>Never let a fast sender overrun a slow receiver</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9FB0BD"/>
                </a:solidFill>
                <a:latin typeface="Calibri" pitchFamily="34" charset="0"/>
                <a:ea typeface="Calibri" pitchFamily="34" charset="-122"/>
                <a:cs typeface="Calibri" pitchFamily="34" charset="-120"/>
              </a:rPr>
              <a:t>IN403  ·  Lecture 1  ·  TCP Deep Dive I</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9FB0BD"/>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Sliding-window flow control</a:t>
            </a:r>
            <a:endParaRPr lang="en-US" sz="3000" dirty="0"/>
          </a:p>
        </p:txBody>
      </p:sp>
      <p:sp>
        <p:nvSpPr>
          <p:cNvPr id="3" name="Text 1"/>
          <p:cNvSpPr txBox="1"/>
          <p:nvPr/>
        </p:nvSpPr>
        <p:spPr>
          <a:xfrm>
            <a:off x="548640" y="1325880"/>
            <a:ext cx="7223760" cy="4892040"/>
          </a:xfrm>
          <a:prstGeom prst="rect">
            <a:avLst/>
          </a:prstGeom>
          <a:noFill/>
          <a:ln/>
        </p:spPr>
        <p:txBody>
          <a:bodyPr wrap="square" lIns="50800" tIns="0" rIns="50800" bIns="50800" rtlCol="0" anchor="t"/>
          <a:lstStyle/>
          <a:p>
            <a:pPr marL="342900" indent="-342900">
              <a:spcAft>
                <a:spcPts val="700"/>
              </a:spcAft>
              <a:buSzPct val="100000"/>
              <a:buChar char="■"/>
            </a:pPr>
            <a:r>
              <a:rPr lang="en-US" sz="2400" b="1" dirty="0">
                <a:solidFill>
                  <a:srgbClr val="1F2A33"/>
                </a:solidFill>
                <a:latin typeface="Calibri" pitchFamily="34" charset="0"/>
                <a:ea typeface="Calibri" pitchFamily="34" charset="-122"/>
                <a:cs typeface="Calibri" pitchFamily="34" charset="-120"/>
              </a:rPr>
              <a:t>Receiver buffer:</a:t>
            </a:r>
            <a:r>
              <a:rPr lang="en-US" sz="2400" dirty="0">
                <a:solidFill>
                  <a:srgbClr val="1F2A33"/>
                </a:solidFill>
                <a:latin typeface="Calibri" pitchFamily="34" charset="0"/>
                <a:ea typeface="Calibri" pitchFamily="34" charset="-122"/>
                <a:cs typeface="Calibri" pitchFamily="34" charset="-120"/>
              </a:rPr>
              <a:t> data waits here until the application calls read()</a:t>
            </a:r>
            <a:endParaRPr lang="en-US" sz="2400" dirty="0"/>
          </a:p>
          <a:p>
            <a:pPr marL="342900" indent="-342900">
              <a:spcAft>
                <a:spcPts val="700"/>
              </a:spcAft>
              <a:buSzPct val="100000"/>
              <a:buChar char="■"/>
            </a:pPr>
            <a:r>
              <a:rPr lang="en-US" sz="2400" b="1" dirty="0">
                <a:solidFill>
                  <a:srgbClr val="1F2A33"/>
                </a:solidFill>
                <a:latin typeface="Calibri" pitchFamily="34" charset="0"/>
                <a:ea typeface="Calibri" pitchFamily="34" charset="-122"/>
                <a:cs typeface="Calibri" pitchFamily="34" charset="-120"/>
              </a:rPr>
              <a:t>rwnd</a:t>
            </a:r>
            <a:r>
              <a:rPr lang="en-US" sz="2400" dirty="0">
                <a:solidFill>
                  <a:srgbClr val="1F2A33"/>
                </a:solidFill>
                <a:latin typeface="Calibri" pitchFamily="34" charset="0"/>
                <a:ea typeface="Calibri" pitchFamily="34" charset="-122"/>
                <a:cs typeface="Calibri" pitchFamily="34" charset="-120"/>
              </a:rPr>
              <a:t> = free space in the buffer, advertised in every ACK</a:t>
            </a:r>
            <a:endParaRPr lang="en-US" sz="2400" dirty="0"/>
          </a:p>
          <a:p>
            <a:pPr marL="342900" indent="-342900">
              <a:spcAft>
                <a:spcPts val="700"/>
              </a:spcAft>
              <a:buSzPct val="100000"/>
              <a:buChar char="■"/>
            </a:pPr>
            <a:r>
              <a:rPr lang="en-US" sz="2400" b="1" dirty="0">
                <a:solidFill>
                  <a:srgbClr val="1F2A33"/>
                </a:solidFill>
                <a:latin typeface="Calibri" pitchFamily="34" charset="0"/>
                <a:ea typeface="Calibri" pitchFamily="34" charset="-122"/>
                <a:cs typeface="Calibri" pitchFamily="34" charset="-120"/>
              </a:rPr>
              <a:t>Sender rule:</a:t>
            </a:r>
            <a:r>
              <a:rPr lang="en-US" sz="2400" dirty="0">
                <a:solidFill>
                  <a:srgbClr val="1F2A33"/>
                </a:solidFill>
                <a:latin typeface="Calibri" pitchFamily="34" charset="0"/>
                <a:ea typeface="Calibri" pitchFamily="34" charset="-122"/>
                <a:cs typeface="Calibri" pitchFamily="34" charset="-120"/>
              </a:rPr>
              <a:t> LastByteSent − LastByteAcked ≤ min(rwnd, cwnd)</a:t>
            </a:r>
            <a:endParaRPr lang="en-US" sz="2400" dirty="0"/>
          </a:p>
          <a:p>
            <a:pPr marL="342900" indent="-342900">
              <a:spcAft>
                <a:spcPts val="700"/>
              </a:spcAft>
              <a:buSzPct val="100000"/>
              <a:buChar char="■"/>
            </a:pPr>
            <a:r>
              <a:rPr lang="en-US" sz="2400" b="1" dirty="0">
                <a:solidFill>
                  <a:srgbClr val="1F2A33"/>
                </a:solidFill>
                <a:latin typeface="Calibri" pitchFamily="34" charset="0"/>
                <a:ea typeface="Calibri" pitchFamily="34" charset="-122"/>
                <a:cs typeface="Calibri" pitchFamily="34" charset="-120"/>
              </a:rPr>
              <a:t>Window slides</a:t>
            </a:r>
            <a:r>
              <a:rPr lang="en-US" sz="2400" dirty="0">
                <a:solidFill>
                  <a:srgbClr val="1F2A33"/>
                </a:solidFill>
                <a:latin typeface="Calibri" pitchFamily="34" charset="0"/>
                <a:ea typeface="Calibri" pitchFamily="34" charset="-122"/>
                <a:cs typeface="Calibri" pitchFamily="34" charset="-120"/>
              </a:rPr>
              <a:t> as ACKs arrive</a:t>
            </a:r>
            <a:endParaRPr lang="en-US" sz="2400" dirty="0"/>
          </a:p>
          <a:p>
            <a:pPr marL="685800" lvl="1" indent="-342900">
              <a:spcAft>
                <a:spcPts val="300"/>
              </a:spcAft>
              <a:buSzPct val="100000"/>
              <a:buChar char="–"/>
            </a:pPr>
            <a:r>
              <a:rPr lang="en-US" sz="2200" dirty="0">
                <a:solidFill>
                  <a:srgbClr val="5B6B78"/>
                </a:solidFill>
                <a:latin typeface="Calibri" pitchFamily="34" charset="0"/>
                <a:ea typeface="Calibri" pitchFamily="34" charset="-122"/>
                <a:cs typeface="Calibri" pitchFamily="34" charset="-120"/>
              </a:rPr>
              <a:t>Left edge advances with cumulative ACKs</a:t>
            </a:r>
            <a:endParaRPr lang="en-US" sz="2400" dirty="0"/>
          </a:p>
          <a:p>
            <a:pPr marL="685800" lvl="1" indent="-342900">
              <a:spcAft>
                <a:spcPts val="300"/>
              </a:spcAft>
              <a:buSzPct val="100000"/>
              <a:buChar char="–"/>
            </a:pPr>
            <a:r>
              <a:rPr lang="en-US" sz="2200" dirty="0">
                <a:solidFill>
                  <a:srgbClr val="5B6B78"/>
                </a:solidFill>
                <a:latin typeface="Calibri" pitchFamily="34" charset="0"/>
                <a:ea typeface="Calibri" pitchFamily="34" charset="-122"/>
                <a:cs typeface="Calibri" pitchFamily="34" charset="-120"/>
              </a:rPr>
              <a:t>Right edge advances when the app reads data</a:t>
            </a:r>
            <a:endParaRPr lang="en-US" sz="2400" dirty="0"/>
          </a:p>
          <a:p>
            <a:pPr marL="342900" indent="-342900">
              <a:spcAft>
                <a:spcPts val="700"/>
              </a:spcAft>
              <a:buSzPct val="100000"/>
              <a:buChar char="■"/>
            </a:pPr>
            <a:r>
              <a:rPr lang="en-US" sz="2400" b="1" dirty="0">
                <a:solidFill>
                  <a:srgbClr val="1F2A33"/>
                </a:solidFill>
                <a:latin typeface="Calibri" pitchFamily="34" charset="0"/>
                <a:ea typeface="Calibri" pitchFamily="34" charset="-122"/>
                <a:cs typeface="Calibri" pitchFamily="34" charset="-120"/>
              </a:rPr>
              <a:t>Throughput bound:</a:t>
            </a:r>
            <a:r>
              <a:rPr lang="en-US" sz="2400" dirty="0">
                <a:solidFill>
                  <a:srgbClr val="1F2A33"/>
                </a:solidFill>
                <a:latin typeface="Calibri" pitchFamily="34" charset="0"/>
                <a:ea typeface="Calibri" pitchFamily="34" charset="-122"/>
                <a:cs typeface="Calibri" pitchFamily="34" charset="-120"/>
              </a:rPr>
              <a:t> Throughput ≤ Window / RTT</a:t>
            </a:r>
            <a:endParaRPr lang="en-US" sz="2400" dirty="0"/>
          </a:p>
        </p:txBody>
      </p:sp>
      <p:sp>
        <p:nvSpPr>
          <p:cNvPr id="4" name="Shape 2"/>
          <p:cNvSpPr/>
          <p:nvPr/>
        </p:nvSpPr>
        <p:spPr>
          <a:xfrm>
            <a:off x="8138160" y="1371600"/>
            <a:ext cx="3504895" cy="4754880"/>
          </a:xfrm>
          <a:prstGeom prst="roundRect">
            <a:avLst>
              <a:gd name="adj" fmla="val 3131"/>
            </a:avLst>
          </a:prstGeom>
          <a:solidFill>
            <a:srgbClr val="D7EFEC"/>
          </a:solidFill>
          <a:ln/>
        </p:spPr>
        <p:txBody>
          <a:bodyPr/>
          <a:lstStyle/>
          <a:p>
            <a:endParaRPr lang="en-LB"/>
          </a:p>
        </p:txBody>
      </p:sp>
      <p:sp>
        <p:nvSpPr>
          <p:cNvPr id="5" name="Shape 3"/>
          <p:cNvSpPr/>
          <p:nvPr/>
        </p:nvSpPr>
        <p:spPr>
          <a:xfrm>
            <a:off x="8412480" y="1645920"/>
            <a:ext cx="548640" cy="548640"/>
          </a:xfrm>
          <a:prstGeom prst="ellipse">
            <a:avLst/>
          </a:prstGeom>
          <a:solidFill>
            <a:srgbClr val="0E8C7F"/>
          </a:solidFill>
          <a:ln/>
        </p:spPr>
        <p:txBody>
          <a:bodyPr/>
          <a:lstStyle/>
          <a:p>
            <a:endParaRPr lang="en-LB"/>
          </a:p>
        </p:txBody>
      </p:sp>
      <p:sp>
        <p:nvSpPr>
          <p:cNvPr id="6" name="Text 4"/>
          <p:cNvSpPr txBox="1"/>
          <p:nvPr/>
        </p:nvSpPr>
        <p:spPr>
          <a:xfrm>
            <a:off x="8412480" y="16459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7" name="Text 5"/>
          <p:cNvSpPr txBox="1"/>
          <p:nvPr/>
        </p:nvSpPr>
        <p:spPr>
          <a:xfrm>
            <a:off x="8412480" y="2331720"/>
            <a:ext cx="2956255" cy="731520"/>
          </a:xfrm>
          <a:prstGeom prst="rect">
            <a:avLst/>
          </a:prstGeom>
          <a:noFill/>
          <a:ln/>
        </p:spPr>
        <p:txBody>
          <a:bodyPr wrap="square" lIns="0" tIns="0" rIns="0" bIns="0" rtlCol="0" anchor="t"/>
          <a:lstStyle/>
          <a:p>
            <a:pPr marL="0" indent="0">
              <a:buNone/>
            </a:pPr>
            <a:r>
              <a:rPr lang="en-US" sz="1800" b="1" dirty="0">
                <a:solidFill>
                  <a:srgbClr val="17222D"/>
                </a:solidFill>
                <a:latin typeface="Arial" pitchFamily="34" charset="0"/>
                <a:ea typeface="Arial" pitchFamily="34" charset="-122"/>
                <a:cs typeface="Arial" pitchFamily="34" charset="-120"/>
              </a:rPr>
              <a:t>Worked example</a:t>
            </a:r>
            <a:endParaRPr lang="en-US" sz="1800" dirty="0"/>
          </a:p>
        </p:txBody>
      </p:sp>
      <p:sp>
        <p:nvSpPr>
          <p:cNvPr id="8" name="Text 6"/>
          <p:cNvSpPr txBox="1"/>
          <p:nvPr/>
        </p:nvSpPr>
        <p:spPr>
          <a:xfrm>
            <a:off x="8412480" y="3108960"/>
            <a:ext cx="2956255" cy="2834640"/>
          </a:xfrm>
          <a:prstGeom prst="rect">
            <a:avLst/>
          </a:prstGeom>
          <a:noFill/>
          <a:ln/>
        </p:spPr>
        <p:txBody>
          <a:bodyPr wrap="square" lIns="0" tIns="0" rIns="0" bIns="0" rtlCol="0" anchor="t"/>
          <a:lstStyle/>
          <a:p>
            <a:pPr marL="0" indent="0">
              <a:buNone/>
            </a:pPr>
            <a:r>
              <a:rPr lang="en-US" sz="1800" dirty="0">
                <a:solidFill>
                  <a:srgbClr val="1F2A33"/>
                </a:solidFill>
                <a:latin typeface="Calibri" pitchFamily="34" charset="0"/>
                <a:ea typeface="Calibri" pitchFamily="34" charset="-122"/>
                <a:cs typeface="Calibri" pitchFamily="34" charset="-120"/>
              </a:rPr>
              <a:t>With a 64 KB window and a 100 ms RTT, the maximum throughput is 65 535 × 8 / 0.1 ≈ 5.2 Mb/s — no matter how fast the link is. This is why window scaling exists.</a:t>
            </a:r>
            <a:endParaRPr lang="en-US" sz="1800" dirty="0"/>
          </a:p>
        </p:txBody>
      </p:sp>
      <p:sp>
        <p:nvSpPr>
          <p:cNvPr id="9" name="Text 7"/>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Sliding-window flow control</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The receiver stores incoming data in a buffer until the application reads it. If the sender transmitted faster than the application reads, this buffer would overflow and data would be lost. </a:t>
            </a:r>
            <a:r>
              <a:rPr lang="en-US" sz="1900" b="1" dirty="0">
                <a:solidFill>
                  <a:srgbClr val="1F2A33"/>
                </a:solidFill>
                <a:latin typeface="Calibri" pitchFamily="34" charset="0"/>
                <a:ea typeface="Calibri" pitchFamily="34" charset="-122"/>
                <a:cs typeface="Calibri" pitchFamily="34" charset="-120"/>
              </a:rPr>
              <a:t>Flow control</a:t>
            </a:r>
            <a:r>
              <a:rPr lang="en-US" sz="1900" dirty="0">
                <a:solidFill>
                  <a:srgbClr val="1F2A33"/>
                </a:solidFill>
                <a:latin typeface="Calibri" pitchFamily="34" charset="0"/>
                <a:ea typeface="Calibri" pitchFamily="34" charset="-122"/>
                <a:cs typeface="Calibri" pitchFamily="34" charset="-120"/>
              </a:rPr>
              <a:t> prevents that: in every segment the receiver advertises </a:t>
            </a:r>
            <a:r>
              <a:rPr lang="en-US" sz="1900" b="1" dirty="0">
                <a:solidFill>
                  <a:srgbClr val="1F2A33"/>
                </a:solidFill>
                <a:latin typeface="Calibri" pitchFamily="34" charset="0"/>
                <a:ea typeface="Calibri" pitchFamily="34" charset="-122"/>
                <a:cs typeface="Calibri" pitchFamily="34" charset="-120"/>
              </a:rPr>
              <a:t>rwnd</a:t>
            </a:r>
            <a:r>
              <a:rPr lang="en-US" sz="1900" dirty="0">
                <a:solidFill>
                  <a:srgbClr val="1F2A33"/>
                </a:solidFill>
                <a:latin typeface="Calibri" pitchFamily="34" charset="0"/>
                <a:ea typeface="Calibri" pitchFamily="34" charset="-122"/>
                <a:cs typeface="Calibri" pitchFamily="34" charset="-120"/>
              </a:rPr>
              <a:t>, the free space left in its buffer.</a:t>
            </a:r>
            <a:endParaRPr lang="en-US" sz="1900" dirty="0"/>
          </a:p>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The sender may have at most rwnd bytes “in flight” (sent but not yet acknowledged). As acknowledgments arrive the left edge of the window moves forward; as the application reads data the receiver advertises more space and the right edge moves forward. The window therefore </a:t>
            </a:r>
            <a:r>
              <a:rPr lang="en-US" sz="1900" b="1" dirty="0">
                <a:solidFill>
                  <a:srgbClr val="1F2A33"/>
                </a:solidFill>
                <a:latin typeface="Calibri" pitchFamily="34" charset="0"/>
                <a:ea typeface="Calibri" pitchFamily="34" charset="-122"/>
                <a:cs typeface="Calibri" pitchFamily="34" charset="-120"/>
              </a:rPr>
              <a:t>slides</a:t>
            </a:r>
            <a:r>
              <a:rPr lang="en-US" sz="1900" dirty="0">
                <a:solidFill>
                  <a:srgbClr val="1F2A33"/>
                </a:solidFill>
                <a:latin typeface="Calibri" pitchFamily="34" charset="0"/>
                <a:ea typeface="Calibri" pitchFamily="34" charset="-122"/>
                <a:cs typeface="Calibri" pitchFamily="34" charset="-120"/>
              </a:rPr>
              <a:t> along the byte stream.</a:t>
            </a:r>
            <a:endParaRPr lang="en-US" sz="1900" dirty="0"/>
          </a:p>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Because the sender must wait for ACKs, at most one window of data can be delivered per round-trip time. This gives the fundamental limit: </a:t>
            </a:r>
            <a:r>
              <a:rPr lang="en-US" sz="1900" b="1" dirty="0">
                <a:solidFill>
                  <a:srgbClr val="1F2A33"/>
                </a:solidFill>
                <a:latin typeface="Calibri" pitchFamily="34" charset="0"/>
                <a:ea typeface="Calibri" pitchFamily="34" charset="-122"/>
                <a:cs typeface="Calibri" pitchFamily="34" charset="-120"/>
              </a:rPr>
              <a:t>Throughput ≤ Window / RTT</a:t>
            </a:r>
            <a:r>
              <a:rPr lang="en-US" sz="1900" dirty="0">
                <a:solidFill>
                  <a:srgbClr val="1F2A33"/>
                </a:solidFill>
                <a:latin typeface="Calibri" pitchFamily="34" charset="0"/>
                <a:ea typeface="Calibri" pitchFamily="34" charset="-122"/>
                <a:cs typeface="Calibri" pitchFamily="34" charset="-120"/>
              </a:rPr>
              <a:t>. The faster or longer the path, the bigger the window must be.</a:t>
            </a:r>
            <a:endParaRPr lang="en-US" sz="1900" dirty="0"/>
          </a:p>
        </p:txBody>
      </p:sp>
      <p:sp>
        <p:nvSpPr>
          <p:cNvPr id="6" name="Shape 4"/>
          <p:cNvSpPr/>
          <p:nvPr/>
        </p:nvSpPr>
        <p:spPr>
          <a:xfrm>
            <a:off x="8001000" y="1325880"/>
            <a:ext cx="3642055" cy="2578162"/>
          </a:xfrm>
          <a:prstGeom prst="roundRect">
            <a:avLst>
              <a:gd name="adj" fmla="val 3547"/>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92362"/>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With rwnd = 64 KB and RTT = 100 ms: 65 535 × 8 bits / 0.1 s ≈ 5.2 Mb/s. Doubling the window to 128 KB doubles the maximum throughput to about 10.5 Mb/s.</a:t>
            </a:r>
            <a:endParaRPr lang="en-US" sz="1700" dirty="0"/>
          </a:p>
        </p:txBody>
      </p:sp>
      <p:sp>
        <p:nvSpPr>
          <p:cNvPr id="9" name="Shape 7"/>
          <p:cNvSpPr/>
          <p:nvPr/>
        </p:nvSpPr>
        <p:spPr>
          <a:xfrm>
            <a:off x="8001000" y="4132642"/>
            <a:ext cx="3642055" cy="2085278"/>
          </a:xfrm>
          <a:prstGeom prst="roundRect">
            <a:avLst>
              <a:gd name="adj" fmla="val 4385"/>
            </a:avLst>
          </a:prstGeom>
          <a:solidFill>
            <a:srgbClr val="FDEBDD"/>
          </a:solidFill>
          <a:ln/>
        </p:spPr>
        <p:txBody>
          <a:bodyPr/>
          <a:lstStyle/>
          <a:p>
            <a:endParaRPr lang="en-LB"/>
          </a:p>
        </p:txBody>
      </p:sp>
      <p:sp>
        <p:nvSpPr>
          <p:cNvPr id="10" name="Text 8"/>
          <p:cNvSpPr txBox="1"/>
          <p:nvPr/>
        </p:nvSpPr>
        <p:spPr>
          <a:xfrm>
            <a:off x="8229600" y="4315522"/>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81282"/>
            <a:ext cx="3184855" cy="1399478"/>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The sender obeys min(rwnd, cwnd). rwnd protects the receiver; cwnd (Lecture 2) protects the network.</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Sender’s view of the byte stream</a:t>
            </a:r>
            <a:endParaRPr lang="en-US" sz="3000" dirty="0"/>
          </a:p>
        </p:txBody>
      </p:sp>
      <p:sp>
        <p:nvSpPr>
          <p:cNvPr id="3" name="Shape 1"/>
          <p:cNvSpPr/>
          <p:nvPr/>
        </p:nvSpPr>
        <p:spPr>
          <a:xfrm>
            <a:off x="548640" y="1325880"/>
            <a:ext cx="6583680" cy="1097280"/>
          </a:xfrm>
          <a:prstGeom prst="roundRect">
            <a:avLst>
              <a:gd name="adj" fmla="val 6667"/>
            </a:avLst>
          </a:prstGeom>
          <a:solidFill>
            <a:srgbClr val="6E8596"/>
          </a:solidFill>
          <a:ln/>
        </p:spPr>
        <p:txBody>
          <a:bodyPr/>
          <a:lstStyle/>
          <a:p>
            <a:endParaRPr lang="en-LB"/>
          </a:p>
        </p:txBody>
      </p:sp>
      <p:sp>
        <p:nvSpPr>
          <p:cNvPr id="4" name="Text 2"/>
          <p:cNvSpPr txBox="1"/>
          <p:nvPr/>
        </p:nvSpPr>
        <p:spPr>
          <a:xfrm>
            <a:off x="777240" y="1325880"/>
            <a:ext cx="2370125" cy="109728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Sent &amp; acknowledged</a:t>
            </a:r>
            <a:endParaRPr lang="en-US" sz="1600" dirty="0"/>
          </a:p>
        </p:txBody>
      </p:sp>
      <p:sp>
        <p:nvSpPr>
          <p:cNvPr id="5" name="Text 3"/>
          <p:cNvSpPr txBox="1"/>
          <p:nvPr/>
        </p:nvSpPr>
        <p:spPr>
          <a:xfrm>
            <a:off x="3213202" y="1325880"/>
            <a:ext cx="3781958" cy="1097280"/>
          </a:xfrm>
          <a:prstGeom prst="rect">
            <a:avLst/>
          </a:prstGeom>
          <a:noFill/>
          <a:ln/>
        </p:spPr>
        <p:txBody>
          <a:bodyPr wrap="square" lIns="0" tIns="0" rIns="0" bIns="0" rtlCol="0" anchor="ctr"/>
          <a:lstStyle/>
          <a:p>
            <a:pPr marL="0" indent="0">
              <a:buNone/>
            </a:pPr>
            <a:r>
              <a:rPr lang="en-US" sz="1600" dirty="0">
                <a:solidFill>
                  <a:srgbClr val="EAF1F5"/>
                </a:solidFill>
                <a:latin typeface="Calibri" pitchFamily="34" charset="0"/>
                <a:ea typeface="Calibri" pitchFamily="34" charset="-122"/>
                <a:cs typeface="Calibri" pitchFamily="34" charset="-120"/>
              </a:rPr>
              <a:t>Bytes left of the window — buffer space can be freed</a:t>
            </a:r>
            <a:endParaRPr lang="en-US" sz="1600" dirty="0"/>
          </a:p>
        </p:txBody>
      </p:sp>
      <p:sp>
        <p:nvSpPr>
          <p:cNvPr id="6" name="Shape 4"/>
          <p:cNvSpPr/>
          <p:nvPr/>
        </p:nvSpPr>
        <p:spPr>
          <a:xfrm>
            <a:off x="548640" y="2560320"/>
            <a:ext cx="6583680" cy="1097280"/>
          </a:xfrm>
          <a:prstGeom prst="roundRect">
            <a:avLst>
              <a:gd name="adj" fmla="val 6667"/>
            </a:avLst>
          </a:prstGeom>
          <a:solidFill>
            <a:srgbClr val="E8772E"/>
          </a:solidFill>
          <a:ln/>
        </p:spPr>
        <p:txBody>
          <a:bodyPr/>
          <a:lstStyle/>
          <a:p>
            <a:endParaRPr lang="en-LB"/>
          </a:p>
        </p:txBody>
      </p:sp>
      <p:sp>
        <p:nvSpPr>
          <p:cNvPr id="7" name="Text 5"/>
          <p:cNvSpPr txBox="1"/>
          <p:nvPr/>
        </p:nvSpPr>
        <p:spPr>
          <a:xfrm>
            <a:off x="777240" y="2560320"/>
            <a:ext cx="2370125" cy="109728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Sent, not yet ACKed</a:t>
            </a:r>
            <a:endParaRPr lang="en-US" sz="1600" dirty="0"/>
          </a:p>
        </p:txBody>
      </p:sp>
      <p:sp>
        <p:nvSpPr>
          <p:cNvPr id="8" name="Text 6"/>
          <p:cNvSpPr txBox="1"/>
          <p:nvPr/>
        </p:nvSpPr>
        <p:spPr>
          <a:xfrm>
            <a:off x="3213202" y="2560320"/>
            <a:ext cx="3781958" cy="1097280"/>
          </a:xfrm>
          <a:prstGeom prst="rect">
            <a:avLst/>
          </a:prstGeom>
          <a:noFill/>
          <a:ln/>
        </p:spPr>
        <p:txBody>
          <a:bodyPr wrap="square" lIns="0" tIns="0" rIns="0" bIns="0" rtlCol="0" anchor="ctr"/>
          <a:lstStyle/>
          <a:p>
            <a:pPr marL="0" indent="0">
              <a:buNone/>
            </a:pPr>
            <a:r>
              <a:rPr lang="en-US" sz="1600" dirty="0">
                <a:solidFill>
                  <a:srgbClr val="EAF1F5"/>
                </a:solidFill>
                <a:latin typeface="Calibri" pitchFamily="34" charset="0"/>
                <a:ea typeface="Calibri" pitchFamily="34" charset="-122"/>
                <a:cs typeface="Calibri" pitchFamily="34" charset="-120"/>
              </a:rPr>
              <a:t>“In flight” — must be kept for possible retransmission</a:t>
            </a:r>
            <a:endParaRPr lang="en-US" sz="1600" dirty="0"/>
          </a:p>
        </p:txBody>
      </p:sp>
      <p:sp>
        <p:nvSpPr>
          <p:cNvPr id="9" name="Shape 7"/>
          <p:cNvSpPr/>
          <p:nvPr/>
        </p:nvSpPr>
        <p:spPr>
          <a:xfrm>
            <a:off x="548640" y="3794760"/>
            <a:ext cx="6583680" cy="1097280"/>
          </a:xfrm>
          <a:prstGeom prst="roundRect">
            <a:avLst>
              <a:gd name="adj" fmla="val 6667"/>
            </a:avLst>
          </a:prstGeom>
          <a:solidFill>
            <a:srgbClr val="0E8C7F"/>
          </a:solidFill>
          <a:ln/>
        </p:spPr>
        <p:txBody>
          <a:bodyPr/>
          <a:lstStyle/>
          <a:p>
            <a:endParaRPr lang="en-LB"/>
          </a:p>
        </p:txBody>
      </p:sp>
      <p:sp>
        <p:nvSpPr>
          <p:cNvPr id="10" name="Text 8"/>
          <p:cNvSpPr txBox="1"/>
          <p:nvPr/>
        </p:nvSpPr>
        <p:spPr>
          <a:xfrm>
            <a:off x="777240" y="3794760"/>
            <a:ext cx="2370125" cy="109728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Usable window</a:t>
            </a:r>
            <a:endParaRPr lang="en-US" sz="1600" dirty="0"/>
          </a:p>
        </p:txBody>
      </p:sp>
      <p:sp>
        <p:nvSpPr>
          <p:cNvPr id="11" name="Text 9"/>
          <p:cNvSpPr txBox="1"/>
          <p:nvPr/>
        </p:nvSpPr>
        <p:spPr>
          <a:xfrm>
            <a:off x="3213202" y="3794760"/>
            <a:ext cx="3781958" cy="1097280"/>
          </a:xfrm>
          <a:prstGeom prst="rect">
            <a:avLst/>
          </a:prstGeom>
          <a:noFill/>
          <a:ln/>
        </p:spPr>
        <p:txBody>
          <a:bodyPr wrap="square" lIns="0" tIns="0" rIns="0" bIns="0" rtlCol="0" anchor="ctr"/>
          <a:lstStyle/>
          <a:p>
            <a:pPr marL="0" indent="0">
              <a:buNone/>
            </a:pPr>
            <a:r>
              <a:rPr lang="en-US" sz="1600" dirty="0">
                <a:solidFill>
                  <a:srgbClr val="EAF1F5"/>
                </a:solidFill>
                <a:latin typeface="Calibri" pitchFamily="34" charset="0"/>
                <a:ea typeface="Calibri" pitchFamily="34" charset="-122"/>
                <a:cs typeface="Calibri" pitchFamily="34" charset="-120"/>
              </a:rPr>
              <a:t>Can be sent now without waiting for any ACK</a:t>
            </a:r>
            <a:endParaRPr lang="en-US" sz="1600" dirty="0"/>
          </a:p>
        </p:txBody>
      </p:sp>
      <p:sp>
        <p:nvSpPr>
          <p:cNvPr id="12" name="Shape 10"/>
          <p:cNvSpPr/>
          <p:nvPr/>
        </p:nvSpPr>
        <p:spPr>
          <a:xfrm>
            <a:off x="548640" y="5029200"/>
            <a:ext cx="6583680" cy="1097280"/>
          </a:xfrm>
          <a:prstGeom prst="roundRect">
            <a:avLst>
              <a:gd name="adj" fmla="val 6667"/>
            </a:avLst>
          </a:prstGeom>
          <a:solidFill>
            <a:srgbClr val="17222D"/>
          </a:solidFill>
          <a:ln/>
        </p:spPr>
        <p:txBody>
          <a:bodyPr/>
          <a:lstStyle/>
          <a:p>
            <a:endParaRPr lang="en-LB"/>
          </a:p>
        </p:txBody>
      </p:sp>
      <p:sp>
        <p:nvSpPr>
          <p:cNvPr id="13" name="Text 11"/>
          <p:cNvSpPr txBox="1"/>
          <p:nvPr/>
        </p:nvSpPr>
        <p:spPr>
          <a:xfrm>
            <a:off x="777240" y="5029200"/>
            <a:ext cx="2370125" cy="109728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Outside window</a:t>
            </a:r>
            <a:endParaRPr lang="en-US" sz="1600" dirty="0"/>
          </a:p>
        </p:txBody>
      </p:sp>
      <p:sp>
        <p:nvSpPr>
          <p:cNvPr id="14" name="Text 12"/>
          <p:cNvSpPr txBox="1"/>
          <p:nvPr/>
        </p:nvSpPr>
        <p:spPr>
          <a:xfrm>
            <a:off x="3213202" y="5029200"/>
            <a:ext cx="3781958" cy="1097280"/>
          </a:xfrm>
          <a:prstGeom prst="rect">
            <a:avLst/>
          </a:prstGeom>
          <a:noFill/>
          <a:ln/>
        </p:spPr>
        <p:txBody>
          <a:bodyPr wrap="square" lIns="0" tIns="0" rIns="0" bIns="0" rtlCol="0" anchor="ctr"/>
          <a:lstStyle/>
          <a:p>
            <a:pPr marL="0" indent="0">
              <a:buNone/>
            </a:pPr>
            <a:r>
              <a:rPr lang="en-US" sz="1600" dirty="0">
                <a:solidFill>
                  <a:srgbClr val="EAF1F5"/>
                </a:solidFill>
                <a:latin typeface="Calibri" pitchFamily="34" charset="0"/>
                <a:ea typeface="Calibri" pitchFamily="34" charset="-122"/>
                <a:cs typeface="Calibri" pitchFamily="34" charset="-120"/>
              </a:rPr>
              <a:t>Cannot be sent until the window slides right</a:t>
            </a:r>
            <a:endParaRPr lang="en-US" sz="1600" dirty="0"/>
          </a:p>
        </p:txBody>
      </p:sp>
      <p:sp>
        <p:nvSpPr>
          <p:cNvPr id="15" name="Text 13"/>
          <p:cNvSpPr txBox="1"/>
          <p:nvPr/>
        </p:nvSpPr>
        <p:spPr>
          <a:xfrm>
            <a:off x="7498080" y="1325880"/>
            <a:ext cx="4144975" cy="4892040"/>
          </a:xfrm>
          <a:prstGeom prst="rect">
            <a:avLst/>
          </a:prstGeom>
          <a:noFill/>
          <a:ln/>
        </p:spPr>
        <p:txBody>
          <a:bodyPr wrap="square" lIns="25400" tIns="0" rIns="25400" bIns="25400" rtlCol="0" anchor="t"/>
          <a:lstStyle/>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Window size = in flight + usable</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A new ACK moves the left edge; a larger rwnd moves the right edge</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If rwnd shrinks to 0 the sender stops and starts the </a:t>
            </a:r>
            <a:r>
              <a:rPr lang="en-US" sz="2000" b="1" dirty="0">
                <a:solidFill>
                  <a:srgbClr val="1F2A33"/>
                </a:solidFill>
                <a:latin typeface="Calibri" pitchFamily="34" charset="0"/>
                <a:ea typeface="Calibri" pitchFamily="34" charset="-122"/>
                <a:cs typeface="Calibri" pitchFamily="34" charset="-120"/>
              </a:rPr>
              <a:t>persist timer</a:t>
            </a:r>
            <a:endParaRPr lang="en-US" sz="2000" dirty="0"/>
          </a:p>
        </p:txBody>
      </p:sp>
      <p:sp>
        <p:nvSpPr>
          <p:cNvPr id="16" name="Text 14"/>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7" name="Text 15"/>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Sender’s view of the byte stream</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Picture the sender’s data as a long line of numbered bytes divided into four regions. On the far left are bytes already </a:t>
            </a:r>
            <a:r>
              <a:rPr lang="en-US" sz="2000" b="1" dirty="0">
                <a:solidFill>
                  <a:srgbClr val="1F2A33"/>
                </a:solidFill>
                <a:latin typeface="Calibri" pitchFamily="34" charset="0"/>
                <a:ea typeface="Calibri" pitchFamily="34" charset="-122"/>
                <a:cs typeface="Calibri" pitchFamily="34" charset="-120"/>
              </a:rPr>
              <a:t>sent and acknowledged</a:t>
            </a:r>
            <a:r>
              <a:rPr lang="en-US" sz="2000" dirty="0">
                <a:solidFill>
                  <a:srgbClr val="1F2A33"/>
                </a:solidFill>
                <a:latin typeface="Calibri" pitchFamily="34" charset="0"/>
                <a:ea typeface="Calibri" pitchFamily="34" charset="-122"/>
                <a:cs typeface="Calibri" pitchFamily="34" charset="-120"/>
              </a:rPr>
              <a:t>: the sender can free that buffer space. Next come bytes </a:t>
            </a:r>
            <a:r>
              <a:rPr lang="en-US" sz="2000" b="1" dirty="0">
                <a:solidFill>
                  <a:srgbClr val="1F2A33"/>
                </a:solidFill>
                <a:latin typeface="Calibri" pitchFamily="34" charset="0"/>
                <a:ea typeface="Calibri" pitchFamily="34" charset="-122"/>
                <a:cs typeface="Calibri" pitchFamily="34" charset="-120"/>
              </a:rPr>
              <a:t>sent but not yet acknowledged</a:t>
            </a:r>
            <a:r>
              <a:rPr lang="en-US" sz="2000" dirty="0">
                <a:solidFill>
                  <a:srgbClr val="1F2A33"/>
                </a:solidFill>
                <a:latin typeface="Calibri" pitchFamily="34" charset="0"/>
                <a:ea typeface="Calibri" pitchFamily="34" charset="-122"/>
                <a:cs typeface="Calibri" pitchFamily="34" charset="-120"/>
              </a:rPr>
              <a:t>: they must be kept in case they need retransmitting.</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Then comes the </a:t>
            </a:r>
            <a:r>
              <a:rPr lang="en-US" sz="2000" b="1" dirty="0">
                <a:solidFill>
                  <a:srgbClr val="1F2A33"/>
                </a:solidFill>
                <a:latin typeface="Calibri" pitchFamily="34" charset="0"/>
                <a:ea typeface="Calibri" pitchFamily="34" charset="-122"/>
                <a:cs typeface="Calibri" pitchFamily="34" charset="-120"/>
              </a:rPr>
              <a:t>usable window</a:t>
            </a:r>
            <a:r>
              <a:rPr lang="en-US" sz="2000" dirty="0">
                <a:solidFill>
                  <a:srgbClr val="1F2A33"/>
                </a:solidFill>
                <a:latin typeface="Calibri" pitchFamily="34" charset="0"/>
                <a:ea typeface="Calibri" pitchFamily="34" charset="-122"/>
                <a:cs typeface="Calibri" pitchFamily="34" charset="-120"/>
              </a:rPr>
              <a:t>: bytes the sender is allowed to send right now without waiting. Everything to the right is </a:t>
            </a:r>
            <a:r>
              <a:rPr lang="en-US" sz="2000" b="1" dirty="0">
                <a:solidFill>
                  <a:srgbClr val="1F2A33"/>
                </a:solidFill>
                <a:latin typeface="Calibri" pitchFamily="34" charset="0"/>
                <a:ea typeface="Calibri" pitchFamily="34" charset="-122"/>
                <a:cs typeface="Calibri" pitchFamily="34" charset="-120"/>
              </a:rPr>
              <a:t>outside the window</a:t>
            </a:r>
            <a:r>
              <a:rPr lang="en-US" sz="2000" dirty="0">
                <a:solidFill>
                  <a:srgbClr val="1F2A33"/>
                </a:solidFill>
                <a:latin typeface="Calibri" pitchFamily="34" charset="0"/>
                <a:ea typeface="Calibri" pitchFamily="34" charset="-122"/>
                <a:cs typeface="Calibri" pitchFamily="34" charset="-120"/>
              </a:rPr>
              <a:t> and must wait. The window size equals the in-flight bytes plus the usable bytes.</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When an ACK arrives, the boundary between the first two regions moves right and the usable window grows. If the receiver advertises a smaller window, the right edge stops moving; if it advertises zero, the sender stops completely and starts the persist timer.</a:t>
            </a:r>
            <a:endParaRPr lang="en-US" sz="2000" dirty="0"/>
          </a:p>
        </p:txBody>
      </p:sp>
      <p:sp>
        <p:nvSpPr>
          <p:cNvPr id="6" name="Shape 4"/>
          <p:cNvSpPr/>
          <p:nvPr/>
        </p:nvSpPr>
        <p:spPr>
          <a:xfrm>
            <a:off x="8001000" y="1325880"/>
            <a:ext cx="3642055" cy="2556111"/>
          </a:xfrm>
          <a:prstGeom prst="roundRect">
            <a:avLst>
              <a:gd name="adj" fmla="val 3577"/>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70311"/>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Window = 10 000 bytes, 6 000 in flight ⇒ 4 000 usable. An ACK for 3 000 bytes arrives with the same window ⇒ 3 000 in flight and 7 000 usable.</a:t>
            </a:r>
            <a:endParaRPr lang="en-US" sz="1700" dirty="0"/>
          </a:p>
        </p:txBody>
      </p:sp>
      <p:sp>
        <p:nvSpPr>
          <p:cNvPr id="9" name="Shape 7"/>
          <p:cNvSpPr/>
          <p:nvPr/>
        </p:nvSpPr>
        <p:spPr>
          <a:xfrm>
            <a:off x="8001000" y="4110591"/>
            <a:ext cx="3642055" cy="2107329"/>
          </a:xfrm>
          <a:prstGeom prst="roundRect">
            <a:avLst>
              <a:gd name="adj" fmla="val 4339"/>
            </a:avLst>
          </a:prstGeom>
          <a:solidFill>
            <a:srgbClr val="FDEBDD"/>
          </a:solidFill>
          <a:ln/>
        </p:spPr>
        <p:txBody>
          <a:bodyPr/>
          <a:lstStyle/>
          <a:p>
            <a:endParaRPr lang="en-LB"/>
          </a:p>
        </p:txBody>
      </p:sp>
      <p:sp>
        <p:nvSpPr>
          <p:cNvPr id="10" name="Text 8"/>
          <p:cNvSpPr txBox="1"/>
          <p:nvPr/>
        </p:nvSpPr>
        <p:spPr>
          <a:xfrm>
            <a:off x="8229600" y="4293471"/>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59231"/>
            <a:ext cx="3184855" cy="1421529"/>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Window = in flight + usable. ACKs move the left edge; window advertisements move the right edge.</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Bandwidth-Delay Product (BDP)</a:t>
            </a:r>
            <a:endParaRPr lang="en-US" sz="3000" dirty="0"/>
          </a:p>
        </p:txBody>
      </p:sp>
      <p:sp>
        <p:nvSpPr>
          <p:cNvPr id="3" name="Shape 1"/>
          <p:cNvSpPr/>
          <p:nvPr/>
        </p:nvSpPr>
        <p:spPr>
          <a:xfrm>
            <a:off x="548640" y="1554480"/>
            <a:ext cx="2533574" cy="3108960"/>
          </a:xfrm>
          <a:prstGeom prst="roundRect">
            <a:avLst>
              <a:gd name="adj" fmla="val 3609"/>
            </a:avLst>
          </a:prstGeom>
          <a:solidFill>
            <a:srgbClr val="F2F5F7"/>
          </a:solidFill>
          <a:ln/>
        </p:spPr>
        <p:txBody>
          <a:bodyPr/>
          <a:lstStyle/>
          <a:p>
            <a:endParaRPr lang="en-LB"/>
          </a:p>
        </p:txBody>
      </p:sp>
      <p:sp>
        <p:nvSpPr>
          <p:cNvPr id="4" name="Text 2"/>
          <p:cNvSpPr txBox="1"/>
          <p:nvPr/>
        </p:nvSpPr>
        <p:spPr>
          <a:xfrm>
            <a:off x="731520" y="1783080"/>
            <a:ext cx="2167814" cy="1280160"/>
          </a:xfrm>
          <a:prstGeom prst="rect">
            <a:avLst/>
          </a:prstGeom>
          <a:noFill/>
          <a:ln/>
        </p:spPr>
        <p:txBody>
          <a:bodyPr wrap="square" lIns="0" tIns="0" rIns="0" bIns="0" rtlCol="0" anchor="ctr">
            <a:normAutofit/>
          </a:bodyPr>
          <a:lstStyle/>
          <a:p>
            <a:pPr marL="0" indent="0" algn="ctr">
              <a:buNone/>
            </a:pPr>
            <a:r>
              <a:rPr lang="en-US" sz="5400" b="1" dirty="0">
                <a:solidFill>
                  <a:srgbClr val="E8772E"/>
                </a:solidFill>
                <a:latin typeface="Arial" pitchFamily="34" charset="0"/>
                <a:ea typeface="Arial" pitchFamily="34" charset="-122"/>
                <a:cs typeface="Arial" pitchFamily="34" charset="-120"/>
              </a:rPr>
              <a:t>1 Gb/s</a:t>
            </a:r>
            <a:endParaRPr lang="en-US" sz="5400" dirty="0"/>
          </a:p>
        </p:txBody>
      </p:sp>
      <p:sp>
        <p:nvSpPr>
          <p:cNvPr id="5" name="Text 3"/>
          <p:cNvSpPr txBox="1"/>
          <p:nvPr/>
        </p:nvSpPr>
        <p:spPr>
          <a:xfrm>
            <a:off x="777240" y="3154680"/>
            <a:ext cx="2076374" cy="1371600"/>
          </a:xfrm>
          <a:prstGeom prst="rect">
            <a:avLst/>
          </a:prstGeom>
          <a:noFill/>
          <a:ln/>
        </p:spPr>
        <p:txBody>
          <a:bodyPr wrap="square" lIns="0" tIns="0" rIns="0" bIns="0" rtlCol="0" anchor="t"/>
          <a:lstStyle/>
          <a:p>
            <a:pPr marL="0" indent="0" algn="ctr">
              <a:buNone/>
            </a:pPr>
            <a:r>
              <a:rPr lang="en-US" sz="1600" dirty="0">
                <a:solidFill>
                  <a:srgbClr val="1F2A33"/>
                </a:solidFill>
                <a:latin typeface="Calibri" pitchFamily="34" charset="0"/>
                <a:ea typeface="Calibri" pitchFamily="34" charset="-122"/>
                <a:cs typeface="Calibri" pitchFamily="34" charset="-120"/>
              </a:rPr>
              <a:t>Link capacity</a:t>
            </a:r>
            <a:endParaRPr lang="en-US" sz="1600" dirty="0"/>
          </a:p>
        </p:txBody>
      </p:sp>
      <p:sp>
        <p:nvSpPr>
          <p:cNvPr id="6" name="Shape 4"/>
          <p:cNvSpPr/>
          <p:nvPr/>
        </p:nvSpPr>
        <p:spPr>
          <a:xfrm>
            <a:off x="3402254" y="1554480"/>
            <a:ext cx="2533574" cy="3108960"/>
          </a:xfrm>
          <a:prstGeom prst="roundRect">
            <a:avLst>
              <a:gd name="adj" fmla="val 3609"/>
            </a:avLst>
          </a:prstGeom>
          <a:solidFill>
            <a:srgbClr val="F2F5F7"/>
          </a:solidFill>
          <a:ln/>
        </p:spPr>
        <p:txBody>
          <a:bodyPr/>
          <a:lstStyle/>
          <a:p>
            <a:endParaRPr lang="en-LB"/>
          </a:p>
        </p:txBody>
      </p:sp>
      <p:sp>
        <p:nvSpPr>
          <p:cNvPr id="7" name="Text 5"/>
          <p:cNvSpPr txBox="1"/>
          <p:nvPr/>
        </p:nvSpPr>
        <p:spPr>
          <a:xfrm>
            <a:off x="3585134" y="1783080"/>
            <a:ext cx="2167814" cy="1280160"/>
          </a:xfrm>
          <a:prstGeom prst="rect">
            <a:avLst/>
          </a:prstGeom>
          <a:noFill/>
          <a:ln/>
        </p:spPr>
        <p:txBody>
          <a:bodyPr wrap="square" lIns="0" tIns="0" rIns="0" bIns="0" rtlCol="0" anchor="ctr">
            <a:normAutofit/>
          </a:bodyPr>
          <a:lstStyle/>
          <a:p>
            <a:pPr marL="0" indent="0" algn="ctr">
              <a:buNone/>
            </a:pPr>
            <a:r>
              <a:rPr lang="en-US" sz="5400" b="1" dirty="0">
                <a:solidFill>
                  <a:srgbClr val="0E8C7F"/>
                </a:solidFill>
                <a:latin typeface="Arial" pitchFamily="34" charset="0"/>
                <a:ea typeface="Arial" pitchFamily="34" charset="-122"/>
                <a:cs typeface="Arial" pitchFamily="34" charset="-120"/>
              </a:rPr>
              <a:t>80 ms</a:t>
            </a:r>
            <a:endParaRPr lang="en-US" sz="5400" dirty="0"/>
          </a:p>
        </p:txBody>
      </p:sp>
      <p:sp>
        <p:nvSpPr>
          <p:cNvPr id="8" name="Text 6"/>
          <p:cNvSpPr txBox="1"/>
          <p:nvPr/>
        </p:nvSpPr>
        <p:spPr>
          <a:xfrm>
            <a:off x="3630854" y="3154680"/>
            <a:ext cx="2076374" cy="1371600"/>
          </a:xfrm>
          <a:prstGeom prst="rect">
            <a:avLst/>
          </a:prstGeom>
          <a:noFill/>
          <a:ln/>
        </p:spPr>
        <p:txBody>
          <a:bodyPr wrap="square" lIns="0" tIns="0" rIns="0" bIns="0" rtlCol="0" anchor="t"/>
          <a:lstStyle/>
          <a:p>
            <a:pPr marL="0" indent="0" algn="ctr">
              <a:buNone/>
            </a:pPr>
            <a:r>
              <a:rPr lang="en-US" sz="1600" dirty="0">
                <a:solidFill>
                  <a:srgbClr val="1F2A33"/>
                </a:solidFill>
                <a:latin typeface="Calibri" pitchFamily="34" charset="0"/>
                <a:ea typeface="Calibri" pitchFamily="34" charset="-122"/>
                <a:cs typeface="Calibri" pitchFamily="34" charset="-120"/>
              </a:rPr>
              <a:t>Round-trip time</a:t>
            </a:r>
            <a:endParaRPr lang="en-US" sz="1600" dirty="0"/>
          </a:p>
        </p:txBody>
      </p:sp>
      <p:sp>
        <p:nvSpPr>
          <p:cNvPr id="9" name="Shape 7"/>
          <p:cNvSpPr/>
          <p:nvPr/>
        </p:nvSpPr>
        <p:spPr>
          <a:xfrm>
            <a:off x="6255868" y="1554480"/>
            <a:ext cx="2533574" cy="3108960"/>
          </a:xfrm>
          <a:prstGeom prst="roundRect">
            <a:avLst>
              <a:gd name="adj" fmla="val 3609"/>
            </a:avLst>
          </a:prstGeom>
          <a:solidFill>
            <a:srgbClr val="F2F5F7"/>
          </a:solidFill>
          <a:ln/>
        </p:spPr>
        <p:txBody>
          <a:bodyPr/>
          <a:lstStyle/>
          <a:p>
            <a:endParaRPr lang="en-LB"/>
          </a:p>
        </p:txBody>
      </p:sp>
      <p:sp>
        <p:nvSpPr>
          <p:cNvPr id="10" name="Text 8"/>
          <p:cNvSpPr txBox="1"/>
          <p:nvPr/>
        </p:nvSpPr>
        <p:spPr>
          <a:xfrm>
            <a:off x="6438748" y="1783080"/>
            <a:ext cx="2167814" cy="1280160"/>
          </a:xfrm>
          <a:prstGeom prst="rect">
            <a:avLst/>
          </a:prstGeom>
          <a:noFill/>
          <a:ln/>
        </p:spPr>
        <p:txBody>
          <a:bodyPr wrap="square" lIns="0" tIns="0" rIns="0" bIns="0" rtlCol="0" anchor="ctr">
            <a:normAutofit/>
          </a:bodyPr>
          <a:lstStyle/>
          <a:p>
            <a:pPr marL="0" indent="0" algn="ctr">
              <a:buNone/>
            </a:pPr>
            <a:r>
              <a:rPr lang="en-US" sz="5400" b="1" dirty="0">
                <a:solidFill>
                  <a:srgbClr val="E8772E"/>
                </a:solidFill>
                <a:latin typeface="Arial" pitchFamily="34" charset="0"/>
                <a:ea typeface="Arial" pitchFamily="34" charset="-122"/>
                <a:cs typeface="Arial" pitchFamily="34" charset="-120"/>
              </a:rPr>
              <a:t>10 MB</a:t>
            </a:r>
            <a:endParaRPr lang="en-US" sz="5400" dirty="0"/>
          </a:p>
        </p:txBody>
      </p:sp>
      <p:sp>
        <p:nvSpPr>
          <p:cNvPr id="11" name="Text 9"/>
          <p:cNvSpPr txBox="1"/>
          <p:nvPr/>
        </p:nvSpPr>
        <p:spPr>
          <a:xfrm>
            <a:off x="6484468" y="3154680"/>
            <a:ext cx="2076374" cy="1371600"/>
          </a:xfrm>
          <a:prstGeom prst="rect">
            <a:avLst/>
          </a:prstGeom>
          <a:noFill/>
          <a:ln/>
        </p:spPr>
        <p:txBody>
          <a:bodyPr wrap="square" lIns="0" tIns="0" rIns="0" bIns="0" rtlCol="0" anchor="t"/>
          <a:lstStyle/>
          <a:p>
            <a:pPr marL="0" indent="0" algn="ctr">
              <a:buNone/>
            </a:pPr>
            <a:r>
              <a:rPr lang="en-US" sz="1600" dirty="0">
                <a:solidFill>
                  <a:srgbClr val="1F2A33"/>
                </a:solidFill>
                <a:latin typeface="Calibri" pitchFamily="34" charset="0"/>
                <a:ea typeface="Calibri" pitchFamily="34" charset="-122"/>
                <a:cs typeface="Calibri" pitchFamily="34" charset="-120"/>
              </a:rPr>
              <a:t>BDP = bytes that must be in flight to fill the pipe</a:t>
            </a:r>
            <a:endParaRPr lang="en-US" sz="1600" dirty="0"/>
          </a:p>
        </p:txBody>
      </p:sp>
      <p:sp>
        <p:nvSpPr>
          <p:cNvPr id="12" name="Shape 10"/>
          <p:cNvSpPr/>
          <p:nvPr/>
        </p:nvSpPr>
        <p:spPr>
          <a:xfrm>
            <a:off x="9109481" y="1554480"/>
            <a:ext cx="2533574" cy="3108960"/>
          </a:xfrm>
          <a:prstGeom prst="roundRect">
            <a:avLst>
              <a:gd name="adj" fmla="val 3609"/>
            </a:avLst>
          </a:prstGeom>
          <a:solidFill>
            <a:srgbClr val="F2F5F7"/>
          </a:solidFill>
          <a:ln/>
        </p:spPr>
        <p:txBody>
          <a:bodyPr/>
          <a:lstStyle/>
          <a:p>
            <a:endParaRPr lang="en-LB"/>
          </a:p>
        </p:txBody>
      </p:sp>
      <p:sp>
        <p:nvSpPr>
          <p:cNvPr id="13" name="Text 11"/>
          <p:cNvSpPr txBox="1"/>
          <p:nvPr/>
        </p:nvSpPr>
        <p:spPr>
          <a:xfrm>
            <a:off x="9292361" y="1783080"/>
            <a:ext cx="2167814" cy="1280160"/>
          </a:xfrm>
          <a:prstGeom prst="rect">
            <a:avLst/>
          </a:prstGeom>
          <a:noFill/>
          <a:ln/>
        </p:spPr>
        <p:txBody>
          <a:bodyPr wrap="square" lIns="0" tIns="0" rIns="0" bIns="0" rtlCol="0" anchor="ctr">
            <a:normAutofit/>
          </a:bodyPr>
          <a:lstStyle/>
          <a:p>
            <a:pPr marL="0" indent="0" algn="ctr">
              <a:buNone/>
            </a:pPr>
            <a:r>
              <a:rPr lang="en-US" sz="5400" b="1" dirty="0">
                <a:solidFill>
                  <a:srgbClr val="0E8C7F"/>
                </a:solidFill>
                <a:latin typeface="Arial" pitchFamily="34" charset="0"/>
                <a:ea typeface="Arial" pitchFamily="34" charset="-122"/>
                <a:cs typeface="Arial" pitchFamily="34" charset="-120"/>
              </a:rPr>
              <a:t>×153</a:t>
            </a:r>
            <a:endParaRPr lang="en-US" sz="5400" dirty="0"/>
          </a:p>
        </p:txBody>
      </p:sp>
      <p:sp>
        <p:nvSpPr>
          <p:cNvPr id="14" name="Text 12"/>
          <p:cNvSpPr txBox="1"/>
          <p:nvPr/>
        </p:nvSpPr>
        <p:spPr>
          <a:xfrm>
            <a:off x="9338081" y="3154680"/>
            <a:ext cx="2076374" cy="1371600"/>
          </a:xfrm>
          <a:prstGeom prst="rect">
            <a:avLst/>
          </a:prstGeom>
          <a:noFill/>
          <a:ln/>
        </p:spPr>
        <p:txBody>
          <a:bodyPr wrap="square" lIns="0" tIns="0" rIns="0" bIns="0" rtlCol="0" anchor="t"/>
          <a:lstStyle/>
          <a:p>
            <a:pPr marL="0" indent="0" algn="ctr">
              <a:buNone/>
            </a:pPr>
            <a:r>
              <a:rPr lang="en-US" sz="1600" dirty="0">
                <a:solidFill>
                  <a:srgbClr val="1F2A33"/>
                </a:solidFill>
                <a:latin typeface="Calibri" pitchFamily="34" charset="0"/>
                <a:ea typeface="Calibri" pitchFamily="34" charset="-122"/>
                <a:cs typeface="Calibri" pitchFamily="34" charset="-120"/>
              </a:rPr>
              <a:t>How much larger than the unscaled 64 KB window</a:t>
            </a:r>
            <a:endParaRPr lang="en-US" sz="1600" dirty="0"/>
          </a:p>
        </p:txBody>
      </p:sp>
      <p:sp>
        <p:nvSpPr>
          <p:cNvPr id="15" name="Text 13"/>
          <p:cNvSpPr txBox="1"/>
          <p:nvPr/>
        </p:nvSpPr>
        <p:spPr>
          <a:xfrm>
            <a:off x="548640" y="4983480"/>
            <a:ext cx="11094415" cy="1188720"/>
          </a:xfrm>
          <a:prstGeom prst="rect">
            <a:avLst/>
          </a:prstGeom>
          <a:noFill/>
          <a:ln/>
        </p:spPr>
        <p:txBody>
          <a:bodyPr wrap="square" lIns="0" tIns="0" rIns="0" bIns="0" rtlCol="0" anchor="t"/>
          <a:lstStyle/>
          <a:p>
            <a:pPr marL="0" indent="0">
              <a:buNone/>
            </a:pPr>
            <a:r>
              <a:rPr lang="en-US" sz="1600" dirty="0">
                <a:solidFill>
                  <a:srgbClr val="5B6B78"/>
                </a:solidFill>
                <a:latin typeface="Calibri" pitchFamily="34" charset="0"/>
                <a:ea typeface="Calibri" pitchFamily="34" charset="-122"/>
                <a:cs typeface="Calibri" pitchFamily="34" charset="-120"/>
              </a:rPr>
              <a:t>BDP = Capacity × RTT = 10⁹ b/s × 0.08 s = 80 Mb = 10 MB. The receive window (and socket buffers) must be at least the BDP to use the link fully — this requires a window-scale factor of at least 8.</a:t>
            </a:r>
            <a:endParaRPr lang="en-US" sz="1600" dirty="0"/>
          </a:p>
        </p:txBody>
      </p:sp>
      <p:sp>
        <p:nvSpPr>
          <p:cNvPr id="16" name="Text 14"/>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7" name="Text 15"/>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Bandwidth-Delay Product (BDP)</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The bandwidth-delay product is the amount of data that fits “in the pipe” between sender and receiver: link capacity multiplied by round-trip time. To keep a link busy, the sender must have at least one BDP of data in flight at all times; otherwise it will sit idle waiting for ACKs.</a:t>
            </a:r>
            <a:endParaRPr lang="en-US" sz="1900" dirty="0"/>
          </a:p>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The BDP grows with both speed and distance. A 10 Mb/s link with a 20 ms RTT has a BDP of only 25 KB, but a 1 Gb/s link across a continent (80 ms) has a BDP of 10 MB — more than 150 times the maximum unscaled TCP window.</a:t>
            </a:r>
            <a:endParaRPr lang="en-US" sz="1900" dirty="0"/>
          </a:p>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This is why window scaling exists and why operating systems auto-tune socket buffers. If either the sender’s send buffer or the receiver’s receive buffer is smaller than the BDP, throughput will be limited no matter how much capacity the network has. Such paths are called </a:t>
            </a:r>
            <a:r>
              <a:rPr lang="en-US" sz="1900" b="1" dirty="0">
                <a:solidFill>
                  <a:srgbClr val="1F2A33"/>
                </a:solidFill>
                <a:latin typeface="Calibri" pitchFamily="34" charset="0"/>
                <a:ea typeface="Calibri" pitchFamily="34" charset="-122"/>
                <a:cs typeface="Calibri" pitchFamily="34" charset="-120"/>
              </a:rPr>
              <a:t>long fat networks (LFNs)</a:t>
            </a:r>
            <a:r>
              <a:rPr lang="en-US" sz="1900" dirty="0">
                <a:solidFill>
                  <a:srgbClr val="1F2A33"/>
                </a:solidFill>
                <a:latin typeface="Calibri" pitchFamily="34" charset="0"/>
                <a:ea typeface="Calibri" pitchFamily="34" charset="-122"/>
                <a:cs typeface="Calibri" pitchFamily="34" charset="-120"/>
              </a:rPr>
              <a:t>.</a:t>
            </a:r>
            <a:endParaRPr lang="en-US" sz="1900" dirty="0"/>
          </a:p>
        </p:txBody>
      </p:sp>
      <p:sp>
        <p:nvSpPr>
          <p:cNvPr id="6" name="Shape 4"/>
          <p:cNvSpPr/>
          <p:nvPr/>
        </p:nvSpPr>
        <p:spPr>
          <a:xfrm>
            <a:off x="8001000" y="1325880"/>
            <a:ext cx="3642055" cy="2471408"/>
          </a:xfrm>
          <a:prstGeom prst="roundRect">
            <a:avLst>
              <a:gd name="adj" fmla="val 3700"/>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785608"/>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1 Gb/s × 0.08 s = 80 000 000 bits = 10 MB. Needed window-scale shift: 10 MB / 64 KB ≈ 153 ⇒ shift of 8 (×256).</a:t>
            </a:r>
            <a:endParaRPr lang="en-US" sz="1700" dirty="0"/>
          </a:p>
        </p:txBody>
      </p:sp>
      <p:sp>
        <p:nvSpPr>
          <p:cNvPr id="9" name="Shape 7"/>
          <p:cNvSpPr/>
          <p:nvPr/>
        </p:nvSpPr>
        <p:spPr>
          <a:xfrm>
            <a:off x="8001000" y="4025888"/>
            <a:ext cx="3642055" cy="2192032"/>
          </a:xfrm>
          <a:prstGeom prst="roundRect">
            <a:avLst>
              <a:gd name="adj" fmla="val 4171"/>
            </a:avLst>
          </a:prstGeom>
          <a:solidFill>
            <a:srgbClr val="FDEBDD"/>
          </a:solidFill>
          <a:ln/>
        </p:spPr>
        <p:txBody>
          <a:bodyPr/>
          <a:lstStyle/>
          <a:p>
            <a:endParaRPr lang="en-LB"/>
          </a:p>
        </p:txBody>
      </p:sp>
      <p:sp>
        <p:nvSpPr>
          <p:cNvPr id="10" name="Text 8"/>
          <p:cNvSpPr txBox="1"/>
          <p:nvPr/>
        </p:nvSpPr>
        <p:spPr>
          <a:xfrm>
            <a:off x="8229600" y="4208768"/>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574528"/>
            <a:ext cx="3184855" cy="1506232"/>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BDP = capacity × RTT. Buffers and windows must be at least the BDP to fill the link.</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Zero window and the persist timer</a:t>
            </a:r>
            <a:endParaRPr lang="en-US" sz="3000" dirty="0"/>
          </a:p>
        </p:txBody>
      </p:sp>
      <p:sp>
        <p:nvSpPr>
          <p:cNvPr id="3" name="Shape 1"/>
          <p:cNvSpPr/>
          <p:nvPr/>
        </p:nvSpPr>
        <p:spPr>
          <a:xfrm>
            <a:off x="548640" y="1325880"/>
            <a:ext cx="5364328" cy="4892040"/>
          </a:xfrm>
          <a:prstGeom prst="roundRect">
            <a:avLst>
              <a:gd name="adj" fmla="val 1869"/>
            </a:avLst>
          </a:prstGeom>
          <a:solidFill>
            <a:srgbClr val="F2F5F7"/>
          </a:solidFill>
          <a:ln/>
        </p:spPr>
        <p:txBody>
          <a:bodyPr/>
          <a:lstStyle/>
          <a:p>
            <a:endParaRPr lang="en-LB"/>
          </a:p>
        </p:txBody>
      </p:sp>
      <p:sp>
        <p:nvSpPr>
          <p:cNvPr id="4" name="Shape 2"/>
          <p:cNvSpPr/>
          <p:nvPr/>
        </p:nvSpPr>
        <p:spPr>
          <a:xfrm>
            <a:off x="777240" y="1508760"/>
            <a:ext cx="4907128" cy="548640"/>
          </a:xfrm>
          <a:prstGeom prst="roundRect">
            <a:avLst>
              <a:gd name="adj" fmla="val 16667"/>
            </a:avLst>
          </a:prstGeom>
          <a:solidFill>
            <a:srgbClr val="E8772E"/>
          </a:solidFill>
          <a:ln/>
        </p:spPr>
        <p:txBody>
          <a:bodyPr/>
          <a:lstStyle/>
          <a:p>
            <a:endParaRPr lang="en-LB"/>
          </a:p>
        </p:txBody>
      </p:sp>
      <p:sp>
        <p:nvSpPr>
          <p:cNvPr id="5" name="Text 3"/>
          <p:cNvSpPr txBox="1"/>
          <p:nvPr/>
        </p:nvSpPr>
        <p:spPr>
          <a:xfrm>
            <a:off x="777240" y="1508760"/>
            <a:ext cx="4907128" cy="54864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What happens</a:t>
            </a:r>
            <a:endParaRPr lang="en-US" sz="1800" dirty="0"/>
          </a:p>
        </p:txBody>
      </p:sp>
      <p:sp>
        <p:nvSpPr>
          <p:cNvPr id="6" name="Text 4"/>
          <p:cNvSpPr txBox="1"/>
          <p:nvPr/>
        </p:nvSpPr>
        <p:spPr>
          <a:xfrm>
            <a:off x="822960"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App stops reading → buffer fills</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Receiver advertises rwnd = 0</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Sender stops sending data</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Window update could be lost → deadlock risk</a:t>
            </a:r>
            <a:endParaRPr lang="en-US" sz="2200" dirty="0"/>
          </a:p>
        </p:txBody>
      </p:sp>
      <p:sp>
        <p:nvSpPr>
          <p:cNvPr id="7" name="Shape 5"/>
          <p:cNvSpPr/>
          <p:nvPr/>
        </p:nvSpPr>
        <p:spPr>
          <a:xfrm>
            <a:off x="6278728" y="1325880"/>
            <a:ext cx="5364328" cy="4892040"/>
          </a:xfrm>
          <a:prstGeom prst="roundRect">
            <a:avLst>
              <a:gd name="adj" fmla="val 1869"/>
            </a:avLst>
          </a:prstGeom>
          <a:solidFill>
            <a:srgbClr val="F2F5F7"/>
          </a:solidFill>
          <a:ln/>
        </p:spPr>
        <p:txBody>
          <a:bodyPr/>
          <a:lstStyle/>
          <a:p>
            <a:endParaRPr lang="en-LB"/>
          </a:p>
        </p:txBody>
      </p:sp>
      <p:sp>
        <p:nvSpPr>
          <p:cNvPr id="8" name="Shape 6"/>
          <p:cNvSpPr/>
          <p:nvPr/>
        </p:nvSpPr>
        <p:spPr>
          <a:xfrm>
            <a:off x="6507328" y="1508760"/>
            <a:ext cx="4907128" cy="548640"/>
          </a:xfrm>
          <a:prstGeom prst="roundRect">
            <a:avLst>
              <a:gd name="adj" fmla="val 16667"/>
            </a:avLst>
          </a:prstGeom>
          <a:solidFill>
            <a:srgbClr val="0E8C7F"/>
          </a:solidFill>
          <a:ln/>
        </p:spPr>
        <p:txBody>
          <a:bodyPr/>
          <a:lstStyle/>
          <a:p>
            <a:endParaRPr lang="en-LB"/>
          </a:p>
        </p:txBody>
      </p:sp>
      <p:sp>
        <p:nvSpPr>
          <p:cNvPr id="9" name="Text 7"/>
          <p:cNvSpPr txBox="1"/>
          <p:nvPr/>
        </p:nvSpPr>
        <p:spPr>
          <a:xfrm>
            <a:off x="6507328" y="1508760"/>
            <a:ext cx="4907128" cy="54864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How TCP recovers</a:t>
            </a:r>
            <a:endParaRPr lang="en-US" sz="1800" dirty="0"/>
          </a:p>
        </p:txBody>
      </p:sp>
      <p:sp>
        <p:nvSpPr>
          <p:cNvPr id="10" name="Text 8"/>
          <p:cNvSpPr txBox="1"/>
          <p:nvPr/>
        </p:nvSpPr>
        <p:spPr>
          <a:xfrm>
            <a:off x="6553048"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Sender starts the </a:t>
            </a:r>
            <a:r>
              <a:rPr lang="en-US" sz="2200" b="1" dirty="0">
                <a:solidFill>
                  <a:srgbClr val="1F2A33"/>
                </a:solidFill>
                <a:latin typeface="Calibri" pitchFamily="34" charset="0"/>
                <a:ea typeface="Calibri" pitchFamily="34" charset="-122"/>
                <a:cs typeface="Calibri" pitchFamily="34" charset="-120"/>
              </a:rPr>
              <a:t>persist timer</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Sends 1-byte </a:t>
            </a:r>
            <a:r>
              <a:rPr lang="en-US" sz="2200" b="1" dirty="0">
                <a:solidFill>
                  <a:srgbClr val="1F2A33"/>
                </a:solidFill>
                <a:latin typeface="Calibri" pitchFamily="34" charset="0"/>
                <a:ea typeface="Calibri" pitchFamily="34" charset="-122"/>
                <a:cs typeface="Calibri" pitchFamily="34" charset="-120"/>
              </a:rPr>
              <a:t>zero-window probes</a:t>
            </a:r>
            <a:r>
              <a:rPr lang="en-US" sz="2200" dirty="0">
                <a:solidFill>
                  <a:srgbClr val="1F2A33"/>
                </a:solidFill>
                <a:latin typeface="Calibri" pitchFamily="34" charset="0"/>
                <a:ea typeface="Calibri" pitchFamily="34" charset="-122"/>
                <a:cs typeface="Calibri" pitchFamily="34" charset="-120"/>
              </a:rPr>
              <a:t> with exponential back-off</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Receiver answers with its current window</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Wireshark flags: TCP ZeroWindow, ZeroWindowProbe, Window Update</a:t>
            </a:r>
            <a:endParaRPr lang="en-US" sz="2200" dirty="0"/>
          </a:p>
        </p:txBody>
      </p:sp>
      <p:sp>
        <p:nvSpPr>
          <p:cNvPr id="11" name="Text 9"/>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2" name="Text 10"/>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Zero window and the persist timer</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If the receiving application stops reading (it is busy, blocked or slow), the receive buffer fills up and the receiver advertises </a:t>
            </a:r>
            <a:r>
              <a:rPr lang="en-US" sz="2000" b="1" dirty="0">
                <a:solidFill>
                  <a:srgbClr val="1F2A33"/>
                </a:solidFill>
                <a:latin typeface="Calibri" pitchFamily="34" charset="0"/>
                <a:ea typeface="Calibri" pitchFamily="34" charset="-122"/>
                <a:cs typeface="Calibri" pitchFamily="34" charset="-120"/>
              </a:rPr>
              <a:t>rwnd = 0</a:t>
            </a:r>
            <a:r>
              <a:rPr lang="en-US" sz="2000" dirty="0">
                <a:solidFill>
                  <a:srgbClr val="1F2A33"/>
                </a:solidFill>
                <a:latin typeface="Calibri" pitchFamily="34" charset="0"/>
                <a:ea typeface="Calibri" pitchFamily="34" charset="-122"/>
                <a:cs typeface="Calibri" pitchFamily="34" charset="-120"/>
              </a:rPr>
              <a:t>. The sender must then stop sending data entirely.</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There is a danger here: when the application finally reads data, the receiver sends a window update. That update is a pure ACK with no data, and TCP never retransmits pure ACKs. If it is lost, the sender waits for a window that never comes and the receiver waits for data that never comes — a </a:t>
            </a:r>
            <a:r>
              <a:rPr lang="en-US" sz="2000" b="1" dirty="0">
                <a:solidFill>
                  <a:srgbClr val="1F2A33"/>
                </a:solidFill>
                <a:latin typeface="Calibri" pitchFamily="34" charset="0"/>
                <a:ea typeface="Calibri" pitchFamily="34" charset="-122"/>
                <a:cs typeface="Calibri" pitchFamily="34" charset="-120"/>
              </a:rPr>
              <a:t>deadlock</a:t>
            </a:r>
            <a:r>
              <a:rPr lang="en-US" sz="2000" dirty="0">
                <a:solidFill>
                  <a:srgbClr val="1F2A33"/>
                </a:solidFill>
                <a:latin typeface="Calibri" pitchFamily="34" charset="0"/>
                <a:ea typeface="Calibri" pitchFamily="34" charset="-122"/>
                <a:cs typeface="Calibri" pitchFamily="34" charset="-120"/>
              </a:rPr>
              <a:t>.</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To prevent this the sender starts a </a:t>
            </a:r>
            <a:r>
              <a:rPr lang="en-US" sz="2000" b="1" dirty="0">
                <a:solidFill>
                  <a:srgbClr val="1F2A33"/>
                </a:solidFill>
                <a:latin typeface="Calibri" pitchFamily="34" charset="0"/>
                <a:ea typeface="Calibri" pitchFamily="34" charset="-122"/>
                <a:cs typeface="Calibri" pitchFamily="34" charset="-120"/>
              </a:rPr>
              <a:t>persist timer</a:t>
            </a:r>
            <a:r>
              <a:rPr lang="en-US" sz="2000" dirty="0">
                <a:solidFill>
                  <a:srgbClr val="1F2A33"/>
                </a:solidFill>
                <a:latin typeface="Calibri" pitchFamily="34" charset="0"/>
                <a:ea typeface="Calibri" pitchFamily="34" charset="-122"/>
                <a:cs typeface="Calibri" pitchFamily="34" charset="-120"/>
              </a:rPr>
              <a:t> and periodically sends a tiny </a:t>
            </a:r>
            <a:r>
              <a:rPr lang="en-US" sz="2000" b="1" dirty="0">
                <a:solidFill>
                  <a:srgbClr val="1F2A33"/>
                </a:solidFill>
                <a:latin typeface="Calibri" pitchFamily="34" charset="0"/>
                <a:ea typeface="Calibri" pitchFamily="34" charset="-122"/>
                <a:cs typeface="Calibri" pitchFamily="34" charset="-120"/>
              </a:rPr>
              <a:t>zero-window probe</a:t>
            </a:r>
            <a:r>
              <a:rPr lang="en-US" sz="2000" dirty="0">
                <a:solidFill>
                  <a:srgbClr val="1F2A33"/>
                </a:solidFill>
                <a:latin typeface="Calibri" pitchFamily="34" charset="0"/>
                <a:ea typeface="Calibri" pitchFamily="34" charset="-122"/>
                <a:cs typeface="Calibri" pitchFamily="34" charset="-120"/>
              </a:rPr>
              <a:t>. The receiver must answer each probe with its current window, so the sender eventually learns that space is available. The probe interval grows exponentially to avoid wasting bandwidth.</a:t>
            </a:r>
            <a:endParaRPr lang="en-US" sz="2000" dirty="0"/>
          </a:p>
        </p:txBody>
      </p:sp>
      <p:sp>
        <p:nvSpPr>
          <p:cNvPr id="6" name="Shape 4"/>
          <p:cNvSpPr/>
          <p:nvPr/>
        </p:nvSpPr>
        <p:spPr>
          <a:xfrm>
            <a:off x="8001000" y="1325880"/>
            <a:ext cx="3642055" cy="2860000"/>
          </a:xfrm>
          <a:prstGeom prst="roundRect">
            <a:avLst>
              <a:gd name="adj" fmla="val 3197"/>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174200"/>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In Wireshark you will see “TCP ZeroWindow” from the receiver, then “TCP ZeroWindowProbe” from the sender every 0.2, 0.4, 0.8 s…, followed by “TCP Window Update” when the application reads again.</a:t>
            </a:r>
            <a:endParaRPr lang="en-US" sz="1700" dirty="0"/>
          </a:p>
        </p:txBody>
      </p:sp>
      <p:sp>
        <p:nvSpPr>
          <p:cNvPr id="9" name="Shape 7"/>
          <p:cNvSpPr/>
          <p:nvPr/>
        </p:nvSpPr>
        <p:spPr>
          <a:xfrm>
            <a:off x="8001000" y="4414480"/>
            <a:ext cx="3642055" cy="1803440"/>
          </a:xfrm>
          <a:prstGeom prst="roundRect">
            <a:avLst>
              <a:gd name="adj" fmla="val 5070"/>
            </a:avLst>
          </a:prstGeom>
          <a:solidFill>
            <a:srgbClr val="FDEBDD"/>
          </a:solidFill>
          <a:ln/>
        </p:spPr>
        <p:txBody>
          <a:bodyPr/>
          <a:lstStyle/>
          <a:p>
            <a:endParaRPr lang="en-LB"/>
          </a:p>
        </p:txBody>
      </p:sp>
      <p:sp>
        <p:nvSpPr>
          <p:cNvPr id="10" name="Text 8"/>
          <p:cNvSpPr txBox="1"/>
          <p:nvPr/>
        </p:nvSpPr>
        <p:spPr>
          <a:xfrm>
            <a:off x="8229600" y="4597360"/>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963120"/>
            <a:ext cx="3184855" cy="1117640"/>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Zero windows point to a slow receiving application, not to network congestion.</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Silly Window Syndrome and its cures</a:t>
            </a:r>
            <a:endParaRPr lang="en-US" sz="3000" dirty="0"/>
          </a:p>
        </p:txBody>
      </p:sp>
      <p:sp>
        <p:nvSpPr>
          <p:cNvPr id="3" name="Shape 1"/>
          <p:cNvSpPr/>
          <p:nvPr/>
        </p:nvSpPr>
        <p:spPr>
          <a:xfrm>
            <a:off x="548640" y="1371600"/>
            <a:ext cx="5410048" cy="2308860"/>
          </a:xfrm>
          <a:prstGeom prst="roundRect">
            <a:avLst>
              <a:gd name="adj" fmla="val 3960"/>
            </a:avLst>
          </a:prstGeom>
          <a:solidFill>
            <a:srgbClr val="F2F5F7"/>
          </a:solidFill>
          <a:ln w="9525">
            <a:solidFill>
              <a:srgbClr val="E1E7EC"/>
            </a:solidFill>
            <a:prstDash val="solid"/>
          </a:ln>
        </p:spPr>
        <p:txBody>
          <a:bodyPr/>
          <a:lstStyle/>
          <a:p>
            <a:endParaRPr lang="en-LB"/>
          </a:p>
        </p:txBody>
      </p:sp>
      <p:sp>
        <p:nvSpPr>
          <p:cNvPr id="4" name="Shape 2"/>
          <p:cNvSpPr/>
          <p:nvPr/>
        </p:nvSpPr>
        <p:spPr>
          <a:xfrm>
            <a:off x="777240" y="1600200"/>
            <a:ext cx="457200" cy="457200"/>
          </a:xfrm>
          <a:prstGeom prst="ellipse">
            <a:avLst/>
          </a:prstGeom>
          <a:solidFill>
            <a:srgbClr val="E8772E"/>
          </a:solidFill>
          <a:ln/>
        </p:spPr>
        <p:txBody>
          <a:bodyPr/>
          <a:lstStyle/>
          <a:p>
            <a:endParaRPr lang="en-LB"/>
          </a:p>
        </p:txBody>
      </p:sp>
      <p:sp>
        <p:nvSpPr>
          <p:cNvPr id="5" name="Text 3"/>
          <p:cNvSpPr txBox="1"/>
          <p:nvPr/>
        </p:nvSpPr>
        <p:spPr>
          <a:xfrm>
            <a:off x="777240" y="16002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371600" y="155448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The problem</a:t>
            </a:r>
            <a:endParaRPr lang="en-US" sz="1700" dirty="0"/>
          </a:p>
        </p:txBody>
      </p:sp>
      <p:sp>
        <p:nvSpPr>
          <p:cNvPr id="7" name="Text 5"/>
          <p:cNvSpPr txBox="1"/>
          <p:nvPr/>
        </p:nvSpPr>
        <p:spPr>
          <a:xfrm>
            <a:off x="777240" y="2240280"/>
            <a:ext cx="4952848" cy="1303020"/>
          </a:xfrm>
          <a:prstGeom prst="rect">
            <a:avLst/>
          </a:prstGeom>
          <a:noFill/>
          <a:ln/>
        </p:spPr>
        <p:txBody>
          <a:bodyPr wrap="square" lIns="0" tIns="0" rIns="0" bIns="0" rtlCol="0" anchor="t"/>
          <a:lstStyle/>
          <a:p>
            <a:pPr marL="0" indent="0">
              <a:buNone/>
            </a:pPr>
            <a:r>
              <a:rPr lang="en-US" sz="1900" dirty="0">
                <a:solidFill>
                  <a:srgbClr val="1F2A33"/>
                </a:solidFill>
                <a:latin typeface="Calibri" pitchFamily="34" charset="0"/>
                <a:ea typeface="Calibri" pitchFamily="34" charset="-122"/>
                <a:cs typeface="Calibri" pitchFamily="34" charset="-120"/>
              </a:rPr>
              <a:t>Tiny windows or tiny writes cause many segments carrying a few bytes each, with a 40-byte header — wasting bandwidth and CPU.</a:t>
            </a:r>
            <a:endParaRPr lang="en-US" sz="1900" dirty="0"/>
          </a:p>
        </p:txBody>
      </p:sp>
      <p:sp>
        <p:nvSpPr>
          <p:cNvPr id="8" name="Shape 6"/>
          <p:cNvSpPr/>
          <p:nvPr/>
        </p:nvSpPr>
        <p:spPr>
          <a:xfrm>
            <a:off x="6233008" y="1371600"/>
            <a:ext cx="5410048" cy="2308860"/>
          </a:xfrm>
          <a:prstGeom prst="roundRect">
            <a:avLst>
              <a:gd name="adj" fmla="val 3960"/>
            </a:avLst>
          </a:prstGeom>
          <a:solidFill>
            <a:srgbClr val="F2F5F7"/>
          </a:solidFill>
          <a:ln w="9525">
            <a:solidFill>
              <a:srgbClr val="E1E7EC"/>
            </a:solidFill>
            <a:prstDash val="solid"/>
          </a:ln>
        </p:spPr>
        <p:txBody>
          <a:bodyPr/>
          <a:lstStyle/>
          <a:p>
            <a:endParaRPr lang="en-LB"/>
          </a:p>
        </p:txBody>
      </p:sp>
      <p:sp>
        <p:nvSpPr>
          <p:cNvPr id="9" name="Shape 7"/>
          <p:cNvSpPr/>
          <p:nvPr/>
        </p:nvSpPr>
        <p:spPr>
          <a:xfrm>
            <a:off x="6461608" y="1600200"/>
            <a:ext cx="457200" cy="457200"/>
          </a:xfrm>
          <a:prstGeom prst="ellipse">
            <a:avLst/>
          </a:prstGeom>
          <a:solidFill>
            <a:srgbClr val="0E8C7F"/>
          </a:solidFill>
          <a:ln/>
        </p:spPr>
        <p:txBody>
          <a:bodyPr/>
          <a:lstStyle/>
          <a:p>
            <a:endParaRPr lang="en-LB"/>
          </a:p>
        </p:txBody>
      </p:sp>
      <p:sp>
        <p:nvSpPr>
          <p:cNvPr id="10" name="Text 8"/>
          <p:cNvSpPr txBox="1"/>
          <p:nvPr/>
        </p:nvSpPr>
        <p:spPr>
          <a:xfrm>
            <a:off x="6461608" y="16002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7055968" y="155448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Receiver fix (Clark)</a:t>
            </a:r>
            <a:endParaRPr lang="en-US" sz="1700" dirty="0"/>
          </a:p>
        </p:txBody>
      </p:sp>
      <p:sp>
        <p:nvSpPr>
          <p:cNvPr id="12" name="Text 10"/>
          <p:cNvSpPr txBox="1"/>
          <p:nvPr/>
        </p:nvSpPr>
        <p:spPr>
          <a:xfrm>
            <a:off x="6461608" y="2240280"/>
            <a:ext cx="4952848" cy="1303020"/>
          </a:xfrm>
          <a:prstGeom prst="rect">
            <a:avLst/>
          </a:prstGeom>
          <a:noFill/>
          <a:ln/>
        </p:spPr>
        <p:txBody>
          <a:bodyPr wrap="square" lIns="0" tIns="0" rIns="0" bIns="0" rtlCol="0" anchor="t"/>
          <a:lstStyle/>
          <a:p>
            <a:pPr marL="0" indent="0">
              <a:buNone/>
            </a:pPr>
            <a:r>
              <a:rPr lang="en-US" sz="1900" dirty="0">
                <a:solidFill>
                  <a:srgbClr val="1F2A33"/>
                </a:solidFill>
                <a:latin typeface="Calibri" pitchFamily="34" charset="0"/>
                <a:ea typeface="Calibri" pitchFamily="34" charset="-122"/>
                <a:cs typeface="Calibri" pitchFamily="34" charset="-120"/>
              </a:rPr>
              <a:t>Do not advertise a small window increase; wait until the window is ≥ 1 MSS or half the buffer.</a:t>
            </a:r>
            <a:endParaRPr lang="en-US" sz="1900" dirty="0"/>
          </a:p>
        </p:txBody>
      </p:sp>
      <p:sp>
        <p:nvSpPr>
          <p:cNvPr id="13" name="Shape 11"/>
          <p:cNvSpPr/>
          <p:nvPr/>
        </p:nvSpPr>
        <p:spPr>
          <a:xfrm>
            <a:off x="548640" y="3954780"/>
            <a:ext cx="5410048" cy="2308860"/>
          </a:xfrm>
          <a:prstGeom prst="roundRect">
            <a:avLst>
              <a:gd name="adj" fmla="val 3960"/>
            </a:avLst>
          </a:prstGeom>
          <a:solidFill>
            <a:srgbClr val="F2F5F7"/>
          </a:solidFill>
          <a:ln w="9525">
            <a:solidFill>
              <a:srgbClr val="E1E7EC"/>
            </a:solidFill>
            <a:prstDash val="solid"/>
          </a:ln>
        </p:spPr>
        <p:txBody>
          <a:bodyPr/>
          <a:lstStyle/>
          <a:p>
            <a:endParaRPr lang="en-LB"/>
          </a:p>
        </p:txBody>
      </p:sp>
      <p:sp>
        <p:nvSpPr>
          <p:cNvPr id="14" name="Shape 12"/>
          <p:cNvSpPr/>
          <p:nvPr/>
        </p:nvSpPr>
        <p:spPr>
          <a:xfrm>
            <a:off x="777240" y="4183380"/>
            <a:ext cx="457200" cy="457200"/>
          </a:xfrm>
          <a:prstGeom prst="ellipse">
            <a:avLst/>
          </a:prstGeom>
          <a:solidFill>
            <a:srgbClr val="E8772E"/>
          </a:solidFill>
          <a:ln/>
        </p:spPr>
        <p:txBody>
          <a:bodyPr/>
          <a:lstStyle/>
          <a:p>
            <a:endParaRPr lang="en-LB"/>
          </a:p>
        </p:txBody>
      </p:sp>
      <p:sp>
        <p:nvSpPr>
          <p:cNvPr id="15" name="Text 13"/>
          <p:cNvSpPr txBox="1"/>
          <p:nvPr/>
        </p:nvSpPr>
        <p:spPr>
          <a:xfrm>
            <a:off x="777240" y="41833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1371600" y="413766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Sender fix (Nagle)</a:t>
            </a:r>
            <a:endParaRPr lang="en-US" sz="1700" dirty="0"/>
          </a:p>
        </p:txBody>
      </p:sp>
      <p:sp>
        <p:nvSpPr>
          <p:cNvPr id="17" name="Text 15"/>
          <p:cNvSpPr txBox="1"/>
          <p:nvPr/>
        </p:nvSpPr>
        <p:spPr>
          <a:xfrm>
            <a:off x="777240" y="4823460"/>
            <a:ext cx="4952848" cy="1303020"/>
          </a:xfrm>
          <a:prstGeom prst="rect">
            <a:avLst/>
          </a:prstGeom>
          <a:noFill/>
          <a:ln/>
        </p:spPr>
        <p:txBody>
          <a:bodyPr wrap="square" lIns="0" tIns="0" rIns="0" bIns="0" rtlCol="0" anchor="t"/>
          <a:lstStyle/>
          <a:p>
            <a:pPr marL="0" indent="0">
              <a:buNone/>
            </a:pPr>
            <a:r>
              <a:rPr lang="en-US" sz="1900" dirty="0">
                <a:solidFill>
                  <a:srgbClr val="1F2A33"/>
                </a:solidFill>
                <a:latin typeface="Calibri" pitchFamily="34" charset="0"/>
                <a:ea typeface="Calibri" pitchFamily="34" charset="-122"/>
                <a:cs typeface="Calibri" pitchFamily="34" charset="-120"/>
              </a:rPr>
              <a:t>If unacknowledged data is outstanding, buffer small writes until a full MSS accumulates or an ACK arrives.</a:t>
            </a:r>
            <a:endParaRPr lang="en-US" sz="1900" dirty="0"/>
          </a:p>
        </p:txBody>
      </p:sp>
      <p:sp>
        <p:nvSpPr>
          <p:cNvPr id="18" name="Shape 16"/>
          <p:cNvSpPr/>
          <p:nvPr/>
        </p:nvSpPr>
        <p:spPr>
          <a:xfrm>
            <a:off x="6233008" y="3954780"/>
            <a:ext cx="5410048" cy="2308860"/>
          </a:xfrm>
          <a:prstGeom prst="roundRect">
            <a:avLst>
              <a:gd name="adj" fmla="val 3960"/>
            </a:avLst>
          </a:prstGeom>
          <a:solidFill>
            <a:srgbClr val="F2F5F7"/>
          </a:solidFill>
          <a:ln w="9525">
            <a:solidFill>
              <a:srgbClr val="E1E7EC"/>
            </a:solidFill>
            <a:prstDash val="solid"/>
          </a:ln>
        </p:spPr>
        <p:txBody>
          <a:bodyPr/>
          <a:lstStyle/>
          <a:p>
            <a:endParaRPr lang="en-LB"/>
          </a:p>
        </p:txBody>
      </p:sp>
      <p:sp>
        <p:nvSpPr>
          <p:cNvPr id="19" name="Shape 17"/>
          <p:cNvSpPr/>
          <p:nvPr/>
        </p:nvSpPr>
        <p:spPr>
          <a:xfrm>
            <a:off x="6461608" y="4183380"/>
            <a:ext cx="457200" cy="457200"/>
          </a:xfrm>
          <a:prstGeom prst="ellipse">
            <a:avLst/>
          </a:prstGeom>
          <a:solidFill>
            <a:srgbClr val="0E8C7F"/>
          </a:solidFill>
          <a:ln/>
        </p:spPr>
        <p:txBody>
          <a:bodyPr/>
          <a:lstStyle/>
          <a:p>
            <a:endParaRPr lang="en-LB"/>
          </a:p>
        </p:txBody>
      </p:sp>
      <p:sp>
        <p:nvSpPr>
          <p:cNvPr id="20" name="Text 18"/>
          <p:cNvSpPr txBox="1"/>
          <p:nvPr/>
        </p:nvSpPr>
        <p:spPr>
          <a:xfrm>
            <a:off x="6461608" y="41833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txBox="1"/>
          <p:nvPr/>
        </p:nvSpPr>
        <p:spPr>
          <a:xfrm>
            <a:off x="7055968" y="4137660"/>
            <a:ext cx="4404208" cy="548640"/>
          </a:xfrm>
          <a:prstGeom prst="rect">
            <a:avLst/>
          </a:prstGeom>
          <a:noFill/>
          <a:ln/>
        </p:spPr>
        <p:txBody>
          <a:bodyPr wrap="square" lIns="0" tIns="0" rIns="0" bIns="0" rtlCol="0" anchor="ctr">
            <a:normAutofit/>
          </a:bodyPr>
          <a:lstStyle/>
          <a:p>
            <a:pPr marL="0" indent="0">
              <a:buNone/>
            </a:pPr>
            <a:r>
              <a:rPr lang="en-US" sz="1700" b="1" dirty="0">
                <a:solidFill>
                  <a:srgbClr val="17222D"/>
                </a:solidFill>
                <a:latin typeface="Arial" pitchFamily="34" charset="0"/>
                <a:ea typeface="Arial" pitchFamily="34" charset="-122"/>
                <a:cs typeface="Arial" pitchFamily="34" charset="-120"/>
              </a:rPr>
              <a:t>Nagle + delayed ACK</a:t>
            </a:r>
            <a:endParaRPr lang="en-US" sz="1700" dirty="0"/>
          </a:p>
        </p:txBody>
      </p:sp>
      <p:sp>
        <p:nvSpPr>
          <p:cNvPr id="22" name="Text 20"/>
          <p:cNvSpPr txBox="1"/>
          <p:nvPr/>
        </p:nvSpPr>
        <p:spPr>
          <a:xfrm>
            <a:off x="6461608" y="4823460"/>
            <a:ext cx="4952848" cy="1303020"/>
          </a:xfrm>
          <a:prstGeom prst="rect">
            <a:avLst/>
          </a:prstGeom>
          <a:noFill/>
          <a:ln/>
        </p:spPr>
        <p:txBody>
          <a:bodyPr wrap="square" lIns="0" tIns="0" rIns="0" bIns="0" rtlCol="0" anchor="t"/>
          <a:lstStyle/>
          <a:p>
            <a:pPr marL="0" indent="0">
              <a:buNone/>
            </a:pPr>
            <a:r>
              <a:rPr lang="en-US" sz="1900" dirty="0">
                <a:solidFill>
                  <a:srgbClr val="1F2A33"/>
                </a:solidFill>
                <a:latin typeface="Calibri" pitchFamily="34" charset="0"/>
                <a:ea typeface="Calibri" pitchFamily="34" charset="-122"/>
                <a:cs typeface="Calibri" pitchFamily="34" charset="-120"/>
              </a:rPr>
              <a:t>Combined they can add ~40–200 ms stalls for request/response traffic. Interactive apps set TCP_NODELAY.</a:t>
            </a:r>
            <a:endParaRPr lang="en-US" sz="1900" dirty="0"/>
          </a:p>
        </p:txBody>
      </p:sp>
      <p:sp>
        <p:nvSpPr>
          <p:cNvPr id="23" name="Text 21"/>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24" name="Text 22"/>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Silly Window Syndrome and its cures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Silly Window Syndrome happens when TCP ends up sending lots of tiny segments. On the receiver side, an application that reads one byte at a time causes the receiver to advertise a one-byte window; on the sender side, an application that writes one byte at a time causes one-byte segments. Each carries 40 bytes of headers, so efficiency collapses.</a:t>
            </a:r>
            <a:endParaRPr lang="en-US" sz="1900" dirty="0"/>
          </a:p>
          <a:p>
            <a:pPr marL="0" indent="0">
              <a:spcAft>
                <a:spcPts val="1000"/>
              </a:spcAft>
              <a:buNone/>
            </a:pPr>
            <a:r>
              <a:rPr lang="en-US" sz="1900" b="1" dirty="0">
                <a:solidFill>
                  <a:srgbClr val="1F2A33"/>
                </a:solidFill>
                <a:latin typeface="Calibri" pitchFamily="34" charset="0"/>
                <a:ea typeface="Calibri" pitchFamily="34" charset="-122"/>
                <a:cs typeface="Calibri" pitchFamily="34" charset="-120"/>
              </a:rPr>
              <a:t>Clark’s rule</a:t>
            </a:r>
            <a:r>
              <a:rPr lang="en-US" sz="1900" dirty="0">
                <a:solidFill>
                  <a:srgbClr val="1F2A33"/>
                </a:solidFill>
                <a:latin typeface="Calibri" pitchFamily="34" charset="0"/>
                <a:ea typeface="Calibri" pitchFamily="34" charset="-122"/>
                <a:cs typeface="Calibri" pitchFamily="34" charset="-120"/>
              </a:rPr>
              <a:t> fixes the receiver side: do not advertise a window increase until it is at least one MSS or half the buffer. </a:t>
            </a:r>
            <a:r>
              <a:rPr lang="en-US" sz="1900" b="1" dirty="0">
                <a:solidFill>
                  <a:srgbClr val="1F2A33"/>
                </a:solidFill>
                <a:latin typeface="Calibri" pitchFamily="34" charset="0"/>
                <a:ea typeface="Calibri" pitchFamily="34" charset="-122"/>
                <a:cs typeface="Calibri" pitchFamily="34" charset="-120"/>
              </a:rPr>
              <a:t>Nagle’s algorithm</a:t>
            </a:r>
            <a:r>
              <a:rPr lang="en-US" sz="1900" dirty="0">
                <a:solidFill>
                  <a:srgbClr val="1F2A33"/>
                </a:solidFill>
                <a:latin typeface="Calibri" pitchFamily="34" charset="0"/>
                <a:ea typeface="Calibri" pitchFamily="34" charset="-122"/>
                <a:cs typeface="Calibri" pitchFamily="34" charset="-120"/>
              </a:rPr>
              <a:t> fixes the sender side: while any data is unacknowledged, collect small writes into one segment instead of sending each immediately.</a:t>
            </a:r>
            <a:endParaRPr lang="en-US" sz="1900" dirty="0"/>
          </a:p>
          <a:p>
            <a:pPr marL="0" indent="0">
              <a:spcAft>
                <a:spcPts val="1000"/>
              </a:spcAft>
              <a:buNone/>
            </a:pPr>
            <a:r>
              <a:rPr lang="en-US" sz="1900" dirty="0">
                <a:solidFill>
                  <a:srgbClr val="1F2A33"/>
                </a:solidFill>
                <a:latin typeface="Calibri" pitchFamily="34" charset="0"/>
                <a:ea typeface="Calibri" pitchFamily="34" charset="-122"/>
                <a:cs typeface="Calibri" pitchFamily="34" charset="-120"/>
              </a:rPr>
              <a:t>Nagle interacts badly with </a:t>
            </a:r>
            <a:r>
              <a:rPr lang="en-US" sz="1900" b="1" dirty="0">
                <a:solidFill>
                  <a:srgbClr val="1F2A33"/>
                </a:solidFill>
                <a:latin typeface="Calibri" pitchFamily="34" charset="0"/>
                <a:ea typeface="Calibri" pitchFamily="34" charset="-122"/>
                <a:cs typeface="Calibri" pitchFamily="34" charset="-120"/>
              </a:rPr>
              <a:t>delayed ACKs</a:t>
            </a:r>
            <a:r>
              <a:rPr lang="en-US" sz="1900" dirty="0">
                <a:solidFill>
                  <a:srgbClr val="1F2A33"/>
                </a:solidFill>
                <a:latin typeface="Calibri" pitchFamily="34" charset="0"/>
                <a:ea typeface="Calibri" pitchFamily="34" charset="-122"/>
                <a:cs typeface="Calibri" pitchFamily="34" charset="-120"/>
              </a:rPr>
              <a:t> (receivers wait up to 40–200 ms hoping to piggy-back the ACK on data). A request split into two small writes can then stall until the delayed ACK fires. Latency-sensitive applications (SSH, games, RPC) disable Nagle with the </a:t>
            </a:r>
            <a:r>
              <a:rPr lang="en-US" sz="1900" b="1" dirty="0">
                <a:solidFill>
                  <a:srgbClr val="1F2A33"/>
                </a:solidFill>
                <a:latin typeface="Calibri" pitchFamily="34" charset="0"/>
                <a:ea typeface="Calibri" pitchFamily="34" charset="-122"/>
                <a:cs typeface="Calibri" pitchFamily="34" charset="-120"/>
              </a:rPr>
              <a:t>TCP_NODELAY</a:t>
            </a:r>
            <a:r>
              <a:rPr lang="en-US" sz="1900" dirty="0">
                <a:solidFill>
                  <a:srgbClr val="1F2A33"/>
                </a:solidFill>
                <a:latin typeface="Calibri" pitchFamily="34" charset="0"/>
                <a:ea typeface="Calibri" pitchFamily="34" charset="-122"/>
                <a:cs typeface="Calibri" pitchFamily="34" charset="-120"/>
              </a:rPr>
              <a:t> socket option.</a:t>
            </a:r>
            <a:endParaRPr lang="en-US" sz="1900" dirty="0"/>
          </a:p>
        </p:txBody>
      </p:sp>
      <p:sp>
        <p:nvSpPr>
          <p:cNvPr id="6" name="Shape 4"/>
          <p:cNvSpPr/>
          <p:nvPr/>
        </p:nvSpPr>
        <p:spPr>
          <a:xfrm>
            <a:off x="8001000" y="1325880"/>
            <a:ext cx="3642055" cy="2697480"/>
          </a:xfrm>
          <a:prstGeom prst="roundRect">
            <a:avLst>
              <a:gd name="adj" fmla="val 3390"/>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011680"/>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Typing in an SSH session sends one keystroke per segment — a 41-byte packet carrying 1 byte of data. With Nagle, keystrokes typed during one RTT are combined into one segment.</a:t>
            </a:r>
            <a:endParaRPr lang="en-US" sz="1700" dirty="0"/>
          </a:p>
        </p:txBody>
      </p:sp>
      <p:sp>
        <p:nvSpPr>
          <p:cNvPr id="9" name="Shape 7"/>
          <p:cNvSpPr/>
          <p:nvPr/>
        </p:nvSpPr>
        <p:spPr>
          <a:xfrm>
            <a:off x="8001000" y="4251960"/>
            <a:ext cx="3642055" cy="1965960"/>
          </a:xfrm>
          <a:prstGeom prst="roundRect">
            <a:avLst>
              <a:gd name="adj" fmla="val 4651"/>
            </a:avLst>
          </a:prstGeom>
          <a:solidFill>
            <a:srgbClr val="FDEBDD"/>
          </a:solidFill>
          <a:ln/>
        </p:spPr>
        <p:txBody>
          <a:bodyPr/>
          <a:lstStyle/>
          <a:p>
            <a:endParaRPr lang="en-LB"/>
          </a:p>
        </p:txBody>
      </p:sp>
      <p:sp>
        <p:nvSpPr>
          <p:cNvPr id="10" name="Text 8"/>
          <p:cNvSpPr txBox="1"/>
          <p:nvPr/>
        </p:nvSpPr>
        <p:spPr>
          <a:xfrm>
            <a:off x="8229600" y="4434840"/>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800600"/>
            <a:ext cx="3184855" cy="1280160"/>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Small writes + Nagle + delayed ACK = mysterious 40–200 ms delays. TCP_NODELAY is the usual fix.</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Observing flow control on Linux</a:t>
            </a:r>
            <a:endParaRPr lang="en-US" sz="3000" dirty="0"/>
          </a:p>
        </p:txBody>
      </p:sp>
      <p:sp>
        <p:nvSpPr>
          <p:cNvPr id="3" name="Shape 1"/>
          <p:cNvSpPr/>
          <p:nvPr/>
        </p:nvSpPr>
        <p:spPr>
          <a:xfrm>
            <a:off x="548640" y="1325880"/>
            <a:ext cx="6766560" cy="4892040"/>
          </a:xfrm>
          <a:prstGeom prst="roundRect">
            <a:avLst>
              <a:gd name="adj" fmla="val 1495"/>
            </a:avLst>
          </a:prstGeom>
          <a:solidFill>
            <a:srgbClr val="0F1B24"/>
          </a:solidFill>
          <a:ln/>
        </p:spPr>
        <p:txBody>
          <a:bodyPr/>
          <a:lstStyle/>
          <a:p>
            <a:endParaRPr lang="en-LB"/>
          </a:p>
        </p:txBody>
      </p:sp>
      <p:sp>
        <p:nvSpPr>
          <p:cNvPr id="4" name="Text 2"/>
          <p:cNvSpPr txBox="1"/>
          <p:nvPr/>
        </p:nvSpPr>
        <p:spPr>
          <a:xfrm>
            <a:off x="777240" y="1463040"/>
            <a:ext cx="6309360" cy="4617720"/>
          </a:xfrm>
          <a:prstGeom prst="rect">
            <a:avLst/>
          </a:prstGeom>
          <a:noFill/>
          <a:ln/>
        </p:spPr>
        <p:txBody>
          <a:bodyPr wrap="square" lIns="0" tIns="0" rIns="0" bIns="0" rtlCol="0" anchor="t"/>
          <a:lstStyle/>
          <a:p>
            <a:pPr marL="0" indent="0">
              <a:buNone/>
            </a:pPr>
            <a:r>
              <a:rPr lang="en-US" sz="1500" dirty="0">
                <a:solidFill>
                  <a:srgbClr val="D8E6EE"/>
                </a:solidFill>
                <a:latin typeface="Courier New" pitchFamily="34" charset="0"/>
                <a:ea typeface="Courier New" pitchFamily="34" charset="-122"/>
                <a:cs typeface="Courier New" pitchFamily="34" charset="-120"/>
              </a:rPr>
              <a:t># Live socket info: rwnd, cwnd, rtt, wscale</a:t>
            </a:r>
            <a:endParaRPr lang="en-US" sz="1500" dirty="0"/>
          </a:p>
          <a:p>
            <a:pPr marL="0" indent="0">
              <a:buNone/>
            </a:pPr>
            <a:r>
              <a:rPr lang="en-US" sz="1500" dirty="0">
                <a:solidFill>
                  <a:srgbClr val="D8E6EE"/>
                </a:solidFill>
                <a:latin typeface="Courier New" pitchFamily="34" charset="0"/>
                <a:ea typeface="Courier New" pitchFamily="34" charset="-122"/>
                <a:cs typeface="Courier New" pitchFamily="34" charset="-120"/>
              </a:rPr>
              <a:t>ss -tin dst 203.0.113.10</a:t>
            </a:r>
            <a:endParaRPr lang="en-US" sz="1500" dirty="0"/>
          </a:p>
          <a:p>
            <a:pPr marL="0" indent="0">
              <a:buNone/>
            </a:pPr>
            <a:endParaRPr lang="en-US" sz="1500" dirty="0"/>
          </a:p>
          <a:p>
            <a:pPr marL="0" indent="0">
              <a:buNone/>
            </a:pPr>
            <a:r>
              <a:rPr lang="en-US" sz="1500" dirty="0">
                <a:solidFill>
                  <a:srgbClr val="D8E6EE"/>
                </a:solidFill>
                <a:latin typeface="Courier New" pitchFamily="34" charset="0"/>
                <a:ea typeface="Courier New" pitchFamily="34" charset="-122"/>
                <a:cs typeface="Courier New" pitchFamily="34" charset="-120"/>
              </a:rPr>
              <a:t># Receive / send buffer autotuning (min default max)</a:t>
            </a:r>
            <a:endParaRPr lang="en-US" sz="1500" dirty="0"/>
          </a:p>
          <a:p>
            <a:pPr marL="0" indent="0">
              <a:buNone/>
            </a:pPr>
            <a:r>
              <a:rPr lang="en-US" sz="1500" dirty="0">
                <a:solidFill>
                  <a:srgbClr val="D8E6EE"/>
                </a:solidFill>
                <a:latin typeface="Courier New" pitchFamily="34" charset="0"/>
                <a:ea typeface="Courier New" pitchFamily="34" charset="-122"/>
                <a:cs typeface="Courier New" pitchFamily="34" charset="-120"/>
              </a:rPr>
              <a:t>sysctl net.ipv4.tcp_rmem</a:t>
            </a:r>
            <a:endParaRPr lang="en-US" sz="1500" dirty="0"/>
          </a:p>
          <a:p>
            <a:pPr marL="0" indent="0">
              <a:buNone/>
            </a:pPr>
            <a:r>
              <a:rPr lang="en-US" sz="1500" dirty="0">
                <a:solidFill>
                  <a:srgbClr val="D8E6EE"/>
                </a:solidFill>
                <a:latin typeface="Courier New" pitchFamily="34" charset="0"/>
                <a:ea typeface="Courier New" pitchFamily="34" charset="-122"/>
                <a:cs typeface="Courier New" pitchFamily="34" charset="-120"/>
              </a:rPr>
              <a:t>sysctl net.ipv4.tcp_wmem</a:t>
            </a:r>
            <a:endParaRPr lang="en-US" sz="1500" dirty="0"/>
          </a:p>
          <a:p>
            <a:pPr marL="0" indent="0">
              <a:buNone/>
            </a:pPr>
            <a:r>
              <a:rPr lang="en-US" sz="1500" dirty="0">
                <a:solidFill>
                  <a:srgbClr val="D8E6EE"/>
                </a:solidFill>
                <a:latin typeface="Courier New" pitchFamily="34" charset="0"/>
                <a:ea typeface="Courier New" pitchFamily="34" charset="-122"/>
                <a:cs typeface="Courier New" pitchFamily="34" charset="-120"/>
              </a:rPr>
              <a:t>sysctl net.ipv4.tcp_window_scaling</a:t>
            </a:r>
            <a:endParaRPr lang="en-US" sz="1500" dirty="0"/>
          </a:p>
          <a:p>
            <a:pPr marL="0" indent="0">
              <a:buNone/>
            </a:pPr>
            <a:endParaRPr lang="en-US" sz="1500" dirty="0"/>
          </a:p>
          <a:p>
            <a:pPr marL="0" indent="0">
              <a:buNone/>
            </a:pPr>
            <a:r>
              <a:rPr lang="en-US" sz="1500" dirty="0">
                <a:solidFill>
                  <a:srgbClr val="D8E6EE"/>
                </a:solidFill>
                <a:latin typeface="Courier New" pitchFamily="34" charset="0"/>
                <a:ea typeface="Courier New" pitchFamily="34" charset="-122"/>
                <a:cs typeface="Courier New" pitchFamily="34" charset="-120"/>
              </a:rPr>
              <a:t># Raise max buffers for high-BDP paths</a:t>
            </a:r>
            <a:endParaRPr lang="en-US" sz="1500" dirty="0"/>
          </a:p>
          <a:p>
            <a:pPr marL="0" indent="0">
              <a:buNone/>
            </a:pPr>
            <a:r>
              <a:rPr lang="en-US" sz="1500" dirty="0">
                <a:solidFill>
                  <a:srgbClr val="D8E6EE"/>
                </a:solidFill>
                <a:latin typeface="Courier New" pitchFamily="34" charset="0"/>
                <a:ea typeface="Courier New" pitchFamily="34" charset="-122"/>
                <a:cs typeface="Courier New" pitchFamily="34" charset="-120"/>
              </a:rPr>
              <a:t>sysctl -w net.core.rmem_max=33554432</a:t>
            </a:r>
            <a:endParaRPr lang="en-US" sz="1500" dirty="0"/>
          </a:p>
          <a:p>
            <a:pPr marL="0" indent="0">
              <a:buNone/>
            </a:pPr>
            <a:r>
              <a:rPr lang="en-US" sz="1500" dirty="0">
                <a:solidFill>
                  <a:srgbClr val="D8E6EE"/>
                </a:solidFill>
                <a:latin typeface="Courier New" pitchFamily="34" charset="0"/>
                <a:ea typeface="Courier New" pitchFamily="34" charset="-122"/>
                <a:cs typeface="Courier New" pitchFamily="34" charset="-120"/>
              </a:rPr>
              <a:t>sysctl -w net.ipv4.tcp_rmem="4096 131072 33554432"</a:t>
            </a:r>
            <a:endParaRPr lang="en-US" sz="1500" dirty="0"/>
          </a:p>
          <a:p>
            <a:pPr marL="0" indent="0">
              <a:buNone/>
            </a:pPr>
            <a:endParaRPr lang="en-US" sz="1500" dirty="0"/>
          </a:p>
          <a:p>
            <a:pPr marL="0" indent="0">
              <a:buNone/>
            </a:pPr>
            <a:r>
              <a:rPr lang="en-US" sz="1500" dirty="0">
                <a:solidFill>
                  <a:srgbClr val="D8E6EE"/>
                </a:solidFill>
                <a:latin typeface="Courier New" pitchFamily="34" charset="0"/>
                <a:ea typeface="Courier New" pitchFamily="34" charset="-122"/>
                <a:cs typeface="Courier New" pitchFamily="34" charset="-120"/>
              </a:rPr>
              <a:t># Wireshark display filter</a:t>
            </a:r>
            <a:endParaRPr lang="en-US" sz="1500" dirty="0"/>
          </a:p>
          <a:p>
            <a:pPr marL="0" indent="0">
              <a:buNone/>
            </a:pPr>
            <a:r>
              <a:rPr lang="en-US" sz="1500" dirty="0">
                <a:solidFill>
                  <a:srgbClr val="D8E6EE"/>
                </a:solidFill>
                <a:latin typeface="Courier New" pitchFamily="34" charset="0"/>
                <a:ea typeface="Courier New" pitchFamily="34" charset="-122"/>
                <a:cs typeface="Courier New" pitchFamily="34" charset="-120"/>
              </a:rPr>
              <a:t>tcp.analysis.zero_window || tcp.analysis.window_full</a:t>
            </a:r>
            <a:endParaRPr lang="en-US" sz="1500" dirty="0"/>
          </a:p>
        </p:txBody>
      </p:sp>
      <p:sp>
        <p:nvSpPr>
          <p:cNvPr id="5" name="Text 3"/>
          <p:cNvSpPr txBox="1"/>
          <p:nvPr/>
        </p:nvSpPr>
        <p:spPr>
          <a:xfrm>
            <a:off x="7680960" y="1325880"/>
            <a:ext cx="3962095" cy="4892040"/>
          </a:xfrm>
          <a:prstGeom prst="rect">
            <a:avLst/>
          </a:prstGeom>
          <a:noFill/>
          <a:ln/>
        </p:spPr>
        <p:txBody>
          <a:bodyPr wrap="square" lIns="25400" tIns="0" rIns="25400" bIns="25400" rtlCol="0" anchor="t"/>
          <a:lstStyle/>
          <a:p>
            <a:pPr marL="342900" indent="-342900">
              <a:spcAft>
                <a:spcPts val="700"/>
              </a:spcAft>
              <a:buSzPct val="100000"/>
              <a:buChar char="■"/>
            </a:pPr>
            <a:r>
              <a:rPr lang="en-US" sz="2000" b="1" dirty="0">
                <a:solidFill>
                  <a:srgbClr val="1F2A33"/>
                </a:solidFill>
                <a:latin typeface="Calibri" pitchFamily="34" charset="0"/>
                <a:ea typeface="Calibri" pitchFamily="34" charset="-122"/>
                <a:cs typeface="Calibri" pitchFamily="34" charset="-120"/>
              </a:rPr>
              <a:t>ss -i</a:t>
            </a:r>
            <a:r>
              <a:rPr lang="en-US" sz="2000" dirty="0">
                <a:solidFill>
                  <a:srgbClr val="1F2A33"/>
                </a:solidFill>
                <a:latin typeface="Calibri" pitchFamily="34" charset="0"/>
                <a:ea typeface="Calibri" pitchFamily="34" charset="-122"/>
                <a:cs typeface="Calibri" pitchFamily="34" charset="-120"/>
              </a:rPr>
              <a:t> shows </a:t>
            </a:r>
            <a:r>
              <a:rPr lang="en-US" sz="2000" b="1" dirty="0">
                <a:solidFill>
                  <a:srgbClr val="1F2A33"/>
                </a:solidFill>
                <a:latin typeface="Calibri" pitchFamily="34" charset="0"/>
                <a:ea typeface="Calibri" pitchFamily="34" charset="-122"/>
                <a:cs typeface="Calibri" pitchFamily="34" charset="-120"/>
              </a:rPr>
              <a:t>wscale</a:t>
            </a:r>
            <a:r>
              <a:rPr lang="en-US" sz="2000" dirty="0">
                <a:solidFill>
                  <a:srgbClr val="1F2A33"/>
                </a:solidFill>
                <a:latin typeface="Calibri" pitchFamily="34" charset="0"/>
                <a:ea typeface="Calibri" pitchFamily="34" charset="-122"/>
                <a:cs typeface="Calibri" pitchFamily="34" charset="-120"/>
              </a:rPr>
              <a:t>, </a:t>
            </a:r>
            <a:r>
              <a:rPr lang="en-US" sz="2000" b="1" dirty="0">
                <a:solidFill>
                  <a:srgbClr val="1F2A33"/>
                </a:solidFill>
                <a:latin typeface="Calibri" pitchFamily="34" charset="0"/>
                <a:ea typeface="Calibri" pitchFamily="34" charset="-122"/>
                <a:cs typeface="Calibri" pitchFamily="34" charset="-120"/>
              </a:rPr>
              <a:t>rcv_space</a:t>
            </a:r>
            <a:r>
              <a:rPr lang="en-US" sz="2000" dirty="0">
                <a:solidFill>
                  <a:srgbClr val="1F2A33"/>
                </a:solidFill>
                <a:latin typeface="Calibri" pitchFamily="34" charset="0"/>
                <a:ea typeface="Calibri" pitchFamily="34" charset="-122"/>
                <a:cs typeface="Calibri" pitchFamily="34" charset="-120"/>
              </a:rPr>
              <a:t>, </a:t>
            </a:r>
            <a:r>
              <a:rPr lang="en-US" sz="2000" b="1" dirty="0">
                <a:solidFill>
                  <a:srgbClr val="1F2A33"/>
                </a:solidFill>
                <a:latin typeface="Calibri" pitchFamily="34" charset="0"/>
                <a:ea typeface="Calibri" pitchFamily="34" charset="-122"/>
                <a:cs typeface="Calibri" pitchFamily="34" charset="-120"/>
              </a:rPr>
              <a:t>cwnd</a:t>
            </a:r>
            <a:r>
              <a:rPr lang="en-US" sz="2000" dirty="0">
                <a:solidFill>
                  <a:srgbClr val="1F2A33"/>
                </a:solidFill>
                <a:latin typeface="Calibri" pitchFamily="34" charset="0"/>
                <a:ea typeface="Calibri" pitchFamily="34" charset="-122"/>
                <a:cs typeface="Calibri" pitchFamily="34" charset="-120"/>
              </a:rPr>
              <a:t> and </a:t>
            </a:r>
            <a:r>
              <a:rPr lang="en-US" sz="2000" b="1" dirty="0">
                <a:solidFill>
                  <a:srgbClr val="1F2A33"/>
                </a:solidFill>
                <a:latin typeface="Calibri" pitchFamily="34" charset="0"/>
                <a:ea typeface="Calibri" pitchFamily="34" charset="-122"/>
                <a:cs typeface="Calibri" pitchFamily="34" charset="-120"/>
              </a:rPr>
              <a:t>rtt</a:t>
            </a:r>
            <a:r>
              <a:rPr lang="en-US" sz="2000" dirty="0">
                <a:solidFill>
                  <a:srgbClr val="1F2A33"/>
                </a:solidFill>
                <a:latin typeface="Calibri" pitchFamily="34" charset="0"/>
                <a:ea typeface="Calibri" pitchFamily="34" charset="-122"/>
                <a:cs typeface="Calibri" pitchFamily="34" charset="-120"/>
              </a:rPr>
              <a:t> for each flow</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Linux auto-tunes buffers between min and max</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Wireshark’s TCP analysis flags pinpoint window problems</a:t>
            </a:r>
            <a:endParaRPr lang="en-US" sz="2000" dirty="0"/>
          </a:p>
          <a:p>
            <a:pPr marL="342900" indent="-342900">
              <a:spcAft>
                <a:spcPts val="700"/>
              </a:spcAft>
              <a:buSzPct val="100000"/>
              <a:buChar char="■"/>
            </a:pPr>
            <a:r>
              <a:rPr lang="en-US" sz="2000" dirty="0">
                <a:solidFill>
                  <a:srgbClr val="1F2A33"/>
                </a:solidFill>
                <a:latin typeface="Calibri" pitchFamily="34" charset="0"/>
                <a:ea typeface="Calibri" pitchFamily="34" charset="-122"/>
                <a:cs typeface="Calibri" pitchFamily="34" charset="-120"/>
              </a:rPr>
              <a:t>We will practise all of this in Lab 1</a:t>
            </a:r>
            <a:endParaRPr lang="en-US" sz="2000" dirty="0"/>
          </a:p>
        </p:txBody>
      </p:sp>
      <p:sp>
        <p:nvSpPr>
          <p:cNvPr id="6" name="Text 4"/>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7" name="Text 5"/>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marL="0" indent="0">
              <a:buNone/>
            </a:pPr>
            <a:r>
              <a:rPr lang="en-US" sz="2800" b="1" dirty="0">
                <a:solidFill>
                  <a:srgbClr val="17222D"/>
                </a:solidFill>
                <a:latin typeface="Arial" pitchFamily="34" charset="0"/>
                <a:ea typeface="Arial" pitchFamily="34" charset="-122"/>
                <a:cs typeface="Arial" pitchFamily="34" charset="-120"/>
              </a:rPr>
              <a:t>Observing flow control on Linux</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txBody>
          <a:bodyPr/>
          <a:lstStyle/>
          <a:p>
            <a:endParaRPr lang="en-LB"/>
          </a:p>
        </p:txBody>
      </p:sp>
      <p:sp>
        <p:nvSpPr>
          <p:cNvPr id="4" name="Text 2"/>
          <p:cNvSpPr txBox="1"/>
          <p:nvPr/>
        </p:nvSpPr>
        <p:spPr>
          <a:xfrm>
            <a:off x="9905695" y="548640"/>
            <a:ext cx="1737360" cy="38404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Linux exposes the internal state of every TCP connection. The command </a:t>
            </a:r>
            <a:r>
              <a:rPr lang="en-US" sz="2000" b="1" dirty="0">
                <a:solidFill>
                  <a:srgbClr val="1F2A33"/>
                </a:solidFill>
                <a:latin typeface="Calibri" pitchFamily="34" charset="0"/>
                <a:ea typeface="Calibri" pitchFamily="34" charset="-122"/>
                <a:cs typeface="Calibri" pitchFamily="34" charset="-120"/>
              </a:rPr>
              <a:t>ss -tin</a:t>
            </a:r>
            <a:r>
              <a:rPr lang="en-US" sz="2000" dirty="0">
                <a:solidFill>
                  <a:srgbClr val="1F2A33"/>
                </a:solidFill>
                <a:latin typeface="Calibri" pitchFamily="34" charset="0"/>
                <a:ea typeface="Calibri" pitchFamily="34" charset="-122"/>
                <a:cs typeface="Calibri" pitchFamily="34" charset="-120"/>
              </a:rPr>
              <a:t> prints, for each socket, the negotiated window scale (wscale), the current congestion window (cwnd), the smoothed RTT (rtt), and how much receive space the kernel has allocated (rcv_space).</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The </a:t>
            </a:r>
            <a:r>
              <a:rPr lang="en-US" sz="2000" b="1" dirty="0">
                <a:solidFill>
                  <a:srgbClr val="1F2A33"/>
                </a:solidFill>
                <a:latin typeface="Calibri" pitchFamily="34" charset="0"/>
                <a:ea typeface="Calibri" pitchFamily="34" charset="-122"/>
                <a:cs typeface="Calibri" pitchFamily="34" charset="-120"/>
              </a:rPr>
              <a:t>tcp_rmem</a:t>
            </a:r>
            <a:r>
              <a:rPr lang="en-US" sz="2000" dirty="0">
                <a:solidFill>
                  <a:srgbClr val="1F2A33"/>
                </a:solidFill>
                <a:latin typeface="Calibri" pitchFamily="34" charset="0"/>
                <a:ea typeface="Calibri" pitchFamily="34" charset="-122"/>
                <a:cs typeface="Calibri" pitchFamily="34" charset="-120"/>
              </a:rPr>
              <a:t> and </a:t>
            </a:r>
            <a:r>
              <a:rPr lang="en-US" sz="2000" b="1" dirty="0">
                <a:solidFill>
                  <a:srgbClr val="1F2A33"/>
                </a:solidFill>
                <a:latin typeface="Calibri" pitchFamily="34" charset="0"/>
                <a:ea typeface="Calibri" pitchFamily="34" charset="-122"/>
                <a:cs typeface="Calibri" pitchFamily="34" charset="-120"/>
              </a:rPr>
              <a:t>tcp_wmem</a:t>
            </a:r>
            <a:r>
              <a:rPr lang="en-US" sz="2000" dirty="0">
                <a:solidFill>
                  <a:srgbClr val="1F2A33"/>
                </a:solidFill>
                <a:latin typeface="Calibri" pitchFamily="34" charset="0"/>
                <a:ea typeface="Calibri" pitchFamily="34" charset="-122"/>
                <a:cs typeface="Calibri" pitchFamily="34" charset="-120"/>
              </a:rPr>
              <a:t> settings contain three values: minimum, default and maximum buffer size. The kernel automatically grows buffers between default and maximum as a connection needs them (auto-tuning). If the maximum is smaller than the BDP of your path, auto-tuning cannot help — that is when administrators raise </a:t>
            </a:r>
            <a:r>
              <a:rPr lang="en-US" sz="2000" b="1" dirty="0">
                <a:solidFill>
                  <a:srgbClr val="1F2A33"/>
                </a:solidFill>
                <a:latin typeface="Calibri" pitchFamily="34" charset="0"/>
                <a:ea typeface="Calibri" pitchFamily="34" charset="-122"/>
                <a:cs typeface="Calibri" pitchFamily="34" charset="-120"/>
              </a:rPr>
              <a:t>net.core.rmem_max</a:t>
            </a:r>
            <a:r>
              <a:rPr lang="en-US" sz="2000" dirty="0">
                <a:solidFill>
                  <a:srgbClr val="1F2A33"/>
                </a:solidFill>
                <a:latin typeface="Calibri" pitchFamily="34" charset="0"/>
                <a:ea typeface="Calibri" pitchFamily="34" charset="-122"/>
                <a:cs typeface="Calibri" pitchFamily="34" charset="-120"/>
              </a:rPr>
              <a:t> and the third tcp_rmem value.</a:t>
            </a:r>
            <a:endParaRPr lang="en-US" sz="2000" dirty="0"/>
          </a:p>
          <a:p>
            <a:pPr marL="0" indent="0">
              <a:spcAft>
                <a:spcPts val="1000"/>
              </a:spcAft>
              <a:buNone/>
            </a:pPr>
            <a:r>
              <a:rPr lang="en-US" sz="2000" dirty="0">
                <a:solidFill>
                  <a:srgbClr val="1F2A33"/>
                </a:solidFill>
                <a:latin typeface="Calibri" pitchFamily="34" charset="0"/>
                <a:ea typeface="Calibri" pitchFamily="34" charset="-122"/>
                <a:cs typeface="Calibri" pitchFamily="34" charset="-120"/>
              </a:rPr>
              <a:t>Wireshark adds its own analysis on top of a capture: filters such as tcp.analysis.zero_window or tcp.analysis.window_full find flow-control problems instantly, even in captures with millions of packets.</a:t>
            </a:r>
            <a:endParaRPr lang="en-US" sz="2000" dirty="0"/>
          </a:p>
        </p:txBody>
      </p:sp>
      <p:sp>
        <p:nvSpPr>
          <p:cNvPr id="6" name="Shape 4"/>
          <p:cNvSpPr/>
          <p:nvPr/>
        </p:nvSpPr>
        <p:spPr>
          <a:xfrm>
            <a:off x="8001000" y="1325880"/>
            <a:ext cx="3642055" cy="2668836"/>
          </a:xfrm>
          <a:prstGeom prst="roundRect">
            <a:avLst>
              <a:gd name="adj" fmla="val 3426"/>
            </a:avLst>
          </a:prstGeom>
          <a:solidFill>
            <a:srgbClr val="D7EFEC"/>
          </a:solidFill>
          <a:ln/>
        </p:spPr>
        <p:txBody>
          <a:bodyPr/>
          <a:lstStyle/>
          <a:p>
            <a:endParaRPr lang="en-LB"/>
          </a:p>
        </p:txBody>
      </p:sp>
      <p:sp>
        <p:nvSpPr>
          <p:cNvPr id="7" name="Text 5"/>
          <p:cNvSpPr txBox="1"/>
          <p:nvPr/>
        </p:nvSpPr>
        <p:spPr>
          <a:xfrm>
            <a:off x="8229600" y="1508760"/>
            <a:ext cx="3184855" cy="320040"/>
          </a:xfrm>
          <a:prstGeom prst="rect">
            <a:avLst/>
          </a:prstGeom>
          <a:noFill/>
          <a:ln/>
        </p:spPr>
        <p:txBody>
          <a:bodyPr wrap="square" lIns="0" tIns="0" rIns="0" bIns="0" rtlCol="0" anchor="ctr"/>
          <a:lstStyle/>
          <a:p>
            <a:pPr marL="0" indent="0">
              <a:buNone/>
            </a:pPr>
            <a:r>
              <a:rPr lang="en-US" sz="1200" b="1" kern="0" spc="20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983036"/>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ss -tin output: “wscale:7,7 rtt:48.2/3.1 cwnd:120 rcv_space:262144” ⇒ scaling ×128 both ways, 48 ms RTT, 120 segments in the congestion window, 256 KB receive space.</a:t>
            </a:r>
            <a:endParaRPr lang="en-US" sz="1700" dirty="0"/>
          </a:p>
        </p:txBody>
      </p:sp>
      <p:sp>
        <p:nvSpPr>
          <p:cNvPr id="9" name="Shape 7"/>
          <p:cNvSpPr/>
          <p:nvPr/>
        </p:nvSpPr>
        <p:spPr>
          <a:xfrm>
            <a:off x="8001000" y="4223316"/>
            <a:ext cx="3642055" cy="1994604"/>
          </a:xfrm>
          <a:prstGeom prst="roundRect">
            <a:avLst>
              <a:gd name="adj" fmla="val 4584"/>
            </a:avLst>
          </a:prstGeom>
          <a:solidFill>
            <a:srgbClr val="FDEBDD"/>
          </a:solidFill>
          <a:ln/>
        </p:spPr>
        <p:txBody>
          <a:bodyPr/>
          <a:lstStyle/>
          <a:p>
            <a:endParaRPr lang="en-LB"/>
          </a:p>
        </p:txBody>
      </p:sp>
      <p:sp>
        <p:nvSpPr>
          <p:cNvPr id="10" name="Text 8"/>
          <p:cNvSpPr txBox="1"/>
          <p:nvPr/>
        </p:nvSpPr>
        <p:spPr>
          <a:xfrm>
            <a:off x="8229600" y="4406196"/>
            <a:ext cx="3184855" cy="320040"/>
          </a:xfrm>
          <a:prstGeom prst="rect">
            <a:avLst/>
          </a:prstGeom>
          <a:noFill/>
          <a:ln/>
        </p:spPr>
        <p:txBody>
          <a:bodyPr wrap="square" lIns="0" tIns="0" rIns="0" bIns="0" rtlCol="0" anchor="ctr"/>
          <a:lstStyle/>
          <a:p>
            <a:pPr marL="0" indent="0">
              <a:buNone/>
            </a:pPr>
            <a:r>
              <a:rPr lang="en-US" sz="1200" b="1" kern="0" spc="20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771956"/>
            <a:ext cx="3184855" cy="1308804"/>
          </a:xfrm>
          <a:prstGeom prst="rect">
            <a:avLst/>
          </a:prstGeom>
          <a:noFill/>
          <a:ln/>
        </p:spPr>
        <p:txBody>
          <a:bodyPr wrap="square" lIns="0" tIns="0" rIns="0" bIns="0" rtlCol="0" anchor="t"/>
          <a:lstStyle/>
          <a:p>
            <a:pPr marL="0" indent="0">
              <a:buNone/>
            </a:pPr>
            <a:r>
              <a:rPr lang="en-US" sz="1700" dirty="0">
                <a:solidFill>
                  <a:srgbClr val="1F2A33"/>
                </a:solidFill>
                <a:latin typeface="Calibri" pitchFamily="34" charset="0"/>
                <a:ea typeface="Calibri" pitchFamily="34" charset="-122"/>
                <a:cs typeface="Calibri" pitchFamily="34" charset="-120"/>
              </a:rPr>
              <a:t>Measure before tuning: ss for socket state, sysctl for buffer limits, Wireshark for evidence.</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D7EFEC"/>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Window arithmetic</a:t>
            </a:r>
            <a:endParaRPr lang="en-US" sz="3000" dirty="0"/>
          </a:p>
        </p:txBody>
      </p:sp>
      <p:sp>
        <p:nvSpPr>
          <p:cNvPr id="3" name="Shape 1"/>
          <p:cNvSpPr/>
          <p:nvPr/>
        </p:nvSpPr>
        <p:spPr>
          <a:xfrm>
            <a:off x="548640" y="1280160"/>
            <a:ext cx="2377440" cy="457200"/>
          </a:xfrm>
          <a:prstGeom prst="roundRect">
            <a:avLst>
              <a:gd name="adj" fmla="val 50000"/>
            </a:avLst>
          </a:prstGeom>
          <a:solidFill>
            <a:srgbClr val="0E8C7F"/>
          </a:solidFill>
          <a:ln/>
        </p:spPr>
        <p:txBody>
          <a:bodyPr/>
          <a:lstStyle/>
          <a:p>
            <a:endParaRPr lang="en-LB"/>
          </a:p>
        </p:txBody>
      </p:sp>
      <p:sp>
        <p:nvSpPr>
          <p:cNvPr id="4" name="Text 2"/>
          <p:cNvSpPr txBox="1"/>
          <p:nvPr/>
        </p:nvSpPr>
        <p:spPr>
          <a:xfrm>
            <a:off x="548640" y="1280160"/>
            <a:ext cx="2377440" cy="45720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rial" pitchFamily="34" charset="0"/>
                <a:ea typeface="Arial" pitchFamily="34" charset="-122"/>
                <a:cs typeface="Arial" pitchFamily="34" charset="-120"/>
              </a:rPr>
              <a:t>IN-CLASS ACTIVITY · 12 MIN</a:t>
            </a:r>
            <a:endParaRPr lang="en-US" sz="1100" dirty="0"/>
          </a:p>
        </p:txBody>
      </p:sp>
      <p:sp>
        <p:nvSpPr>
          <p:cNvPr id="5" name="Shape 3"/>
          <p:cNvSpPr/>
          <p:nvPr/>
        </p:nvSpPr>
        <p:spPr>
          <a:xfrm>
            <a:off x="548640" y="1965960"/>
            <a:ext cx="11094415" cy="4251960"/>
          </a:xfrm>
          <a:prstGeom prst="roundRect">
            <a:avLst>
              <a:gd name="adj" fmla="val 2151"/>
            </a:avLst>
          </a:prstGeom>
          <a:solidFill>
            <a:srgbClr val="FFFFFF"/>
          </a:solidFill>
          <a:ln/>
          <a:effectLst>
            <a:outerShdw blurRad="76200" dist="25400" dir="5400000" algn="bl" rotWithShape="0">
              <a:srgbClr val="000000">
                <a:alpha val="12000"/>
              </a:srgbClr>
            </a:outerShdw>
          </a:effectLst>
        </p:spPr>
        <p:txBody>
          <a:bodyPr/>
          <a:lstStyle/>
          <a:p>
            <a:endParaRPr lang="en-LB"/>
          </a:p>
        </p:txBody>
      </p:sp>
      <p:sp>
        <p:nvSpPr>
          <p:cNvPr id="6" name="Text 4"/>
          <p:cNvSpPr txBox="1"/>
          <p:nvPr/>
        </p:nvSpPr>
        <p:spPr>
          <a:xfrm>
            <a:off x="868680" y="2194560"/>
            <a:ext cx="10454335" cy="822960"/>
          </a:xfrm>
          <a:prstGeom prst="rect">
            <a:avLst/>
          </a:prstGeom>
          <a:noFill/>
          <a:ln/>
        </p:spPr>
        <p:txBody>
          <a:bodyPr wrap="square" lIns="0" tIns="0" rIns="0" bIns="0" rtlCol="0" anchor="t"/>
          <a:lstStyle/>
          <a:p>
            <a:pPr marL="0" indent="0">
              <a:buNone/>
            </a:pPr>
            <a:r>
              <a:rPr lang="en-US" sz="1800" b="1" dirty="0">
                <a:solidFill>
                  <a:srgbClr val="17222D"/>
                </a:solidFill>
                <a:latin typeface="Calibri" pitchFamily="34" charset="0"/>
                <a:ea typeface="Calibri" pitchFamily="34" charset="-122"/>
                <a:cs typeface="Calibri" pitchFamily="34" charset="-120"/>
              </a:rPr>
              <a:t>Work in pairs. Show your calculations.</a:t>
            </a:r>
            <a:endParaRPr lang="en-US" sz="1800" dirty="0"/>
          </a:p>
        </p:txBody>
      </p:sp>
      <p:sp>
        <p:nvSpPr>
          <p:cNvPr id="7" name="Text 5"/>
          <p:cNvSpPr txBox="1"/>
          <p:nvPr/>
        </p:nvSpPr>
        <p:spPr>
          <a:xfrm>
            <a:off x="868680" y="3108960"/>
            <a:ext cx="10454335" cy="2926080"/>
          </a:xfrm>
          <a:prstGeom prst="rect">
            <a:avLst/>
          </a:prstGeom>
          <a:noFill/>
          <a:ln/>
        </p:spPr>
        <p:txBody>
          <a:bodyPr wrap="square" lIns="25400" tIns="0" rIns="25400" bIns="25400" rtlCol="0" anchor="t"/>
          <a:lstStyle/>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A path has 500 Mb/s capacity and 40 ms RTT. Compute the BDP in bytes.</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What is the smallest window-scale shift that lets a 16-bit window cover this BDP?</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Without scaling, what is the maximum achievable throughput on this path?</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A receiver advertises rwnd = 0 for 3 s. Sketch the probes the sender emits if the initial persist timeout is 200 ms and doubles each time.</a:t>
            </a:r>
            <a:endParaRPr lang="en-US" sz="2100" dirty="0"/>
          </a:p>
        </p:txBody>
      </p:sp>
      <p:sp>
        <p:nvSpPr>
          <p:cNvPr id="8" name="Text 6"/>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9" name="Text 7"/>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Check your understanding</a:t>
            </a:r>
            <a:endParaRPr lang="en-US" sz="3000" dirty="0"/>
          </a:p>
        </p:txBody>
      </p:sp>
      <p:sp>
        <p:nvSpPr>
          <p:cNvPr id="3" name="Shape 1"/>
          <p:cNvSpPr/>
          <p:nvPr/>
        </p:nvSpPr>
        <p:spPr>
          <a:xfrm>
            <a:off x="548640" y="1371600"/>
            <a:ext cx="11094415" cy="822960"/>
          </a:xfrm>
          <a:prstGeom prst="roundRect">
            <a:avLst>
              <a:gd name="adj" fmla="val 8889"/>
            </a:avLst>
          </a:prstGeom>
          <a:solidFill>
            <a:srgbClr val="F2F5F7"/>
          </a:solidFill>
          <a:ln/>
        </p:spPr>
        <p:txBody>
          <a:bodyPr/>
          <a:lstStyle/>
          <a:p>
            <a:endParaRPr lang="en-LB"/>
          </a:p>
        </p:txBody>
      </p:sp>
      <p:sp>
        <p:nvSpPr>
          <p:cNvPr id="4" name="Text 2"/>
          <p:cNvSpPr txBox="1"/>
          <p:nvPr/>
        </p:nvSpPr>
        <p:spPr>
          <a:xfrm>
            <a:off x="731520" y="1371600"/>
            <a:ext cx="640080" cy="822960"/>
          </a:xfrm>
          <a:prstGeom prst="rect">
            <a:avLst/>
          </a:prstGeom>
          <a:noFill/>
          <a:ln/>
        </p:spPr>
        <p:txBody>
          <a:bodyPr wrap="square" lIns="0" tIns="0" rIns="0" bIns="0" rtlCol="0" anchor="ctr"/>
          <a:lstStyle/>
          <a:p>
            <a:pPr marL="0" indent="0">
              <a:buNone/>
            </a:pPr>
            <a:r>
              <a:rPr lang="en-US" sz="1800" b="1" dirty="0">
                <a:solidFill>
                  <a:srgbClr val="E8772E"/>
                </a:solidFill>
                <a:latin typeface="Arial" pitchFamily="34" charset="0"/>
                <a:ea typeface="Arial" pitchFamily="34" charset="-122"/>
                <a:cs typeface="Arial" pitchFamily="34" charset="-120"/>
              </a:rPr>
              <a:t>Q1</a:t>
            </a:r>
            <a:endParaRPr lang="en-US" sz="1800" dirty="0"/>
          </a:p>
        </p:txBody>
      </p:sp>
      <p:sp>
        <p:nvSpPr>
          <p:cNvPr id="5" name="Text 3"/>
          <p:cNvSpPr txBox="1"/>
          <p:nvPr/>
        </p:nvSpPr>
        <p:spPr>
          <a:xfrm>
            <a:off x="1463040" y="1371600"/>
            <a:ext cx="9997135" cy="822960"/>
          </a:xfrm>
          <a:prstGeom prst="rect">
            <a:avLst/>
          </a:prstGeom>
          <a:noFill/>
          <a:ln/>
        </p:spPr>
        <p:txBody>
          <a:bodyPr wrap="square" lIns="0" tIns="0" rIns="0" bIns="0" rtlCol="0" anchor="ctr"/>
          <a:lstStyle/>
          <a:p>
            <a:pPr marL="0" indent="0">
              <a:buNone/>
            </a:pPr>
            <a:r>
              <a:rPr lang="en-US" sz="2000" dirty="0">
                <a:solidFill>
                  <a:srgbClr val="1F2A33"/>
                </a:solidFill>
                <a:latin typeface="Calibri" pitchFamily="34" charset="0"/>
                <a:ea typeface="Calibri" pitchFamily="34" charset="-122"/>
                <a:cs typeface="Calibri" pitchFamily="34" charset="-120"/>
              </a:rPr>
              <a:t>Why are TCP sequence numbers byte-based rather than segment-based, and what does the ACK number signify?</a:t>
            </a:r>
            <a:endParaRPr lang="en-US" sz="2000" dirty="0"/>
          </a:p>
        </p:txBody>
      </p:sp>
      <p:sp>
        <p:nvSpPr>
          <p:cNvPr id="6" name="Shape 4"/>
          <p:cNvSpPr/>
          <p:nvPr/>
        </p:nvSpPr>
        <p:spPr>
          <a:xfrm>
            <a:off x="548640" y="2331720"/>
            <a:ext cx="11094415" cy="822960"/>
          </a:xfrm>
          <a:prstGeom prst="roundRect">
            <a:avLst>
              <a:gd name="adj" fmla="val 8889"/>
            </a:avLst>
          </a:prstGeom>
          <a:solidFill>
            <a:srgbClr val="F2F5F7"/>
          </a:solidFill>
          <a:ln/>
        </p:spPr>
        <p:txBody>
          <a:bodyPr/>
          <a:lstStyle/>
          <a:p>
            <a:endParaRPr lang="en-LB"/>
          </a:p>
        </p:txBody>
      </p:sp>
      <p:sp>
        <p:nvSpPr>
          <p:cNvPr id="7" name="Text 5"/>
          <p:cNvSpPr txBox="1"/>
          <p:nvPr/>
        </p:nvSpPr>
        <p:spPr>
          <a:xfrm>
            <a:off x="731520" y="2331720"/>
            <a:ext cx="640080" cy="822960"/>
          </a:xfrm>
          <a:prstGeom prst="rect">
            <a:avLst/>
          </a:prstGeom>
          <a:noFill/>
          <a:ln/>
        </p:spPr>
        <p:txBody>
          <a:bodyPr wrap="square" lIns="0" tIns="0" rIns="0" bIns="0" rtlCol="0" anchor="ctr"/>
          <a:lstStyle/>
          <a:p>
            <a:pPr marL="0" indent="0">
              <a:buNone/>
            </a:pPr>
            <a:r>
              <a:rPr lang="en-US" sz="1800" b="1" dirty="0">
                <a:solidFill>
                  <a:srgbClr val="E8772E"/>
                </a:solidFill>
                <a:latin typeface="Arial" pitchFamily="34" charset="0"/>
                <a:ea typeface="Arial" pitchFamily="34" charset="-122"/>
                <a:cs typeface="Arial" pitchFamily="34" charset="-120"/>
              </a:rPr>
              <a:t>Q2</a:t>
            </a:r>
            <a:endParaRPr lang="en-US" sz="1800" dirty="0"/>
          </a:p>
        </p:txBody>
      </p:sp>
      <p:sp>
        <p:nvSpPr>
          <p:cNvPr id="8" name="Text 6"/>
          <p:cNvSpPr txBox="1"/>
          <p:nvPr/>
        </p:nvSpPr>
        <p:spPr>
          <a:xfrm>
            <a:off x="1463040" y="2331720"/>
            <a:ext cx="9997135" cy="822960"/>
          </a:xfrm>
          <a:prstGeom prst="rect">
            <a:avLst/>
          </a:prstGeom>
          <a:noFill/>
          <a:ln/>
        </p:spPr>
        <p:txBody>
          <a:bodyPr wrap="square" lIns="0" tIns="0" rIns="0" bIns="0" rtlCol="0" anchor="ctr"/>
          <a:lstStyle/>
          <a:p>
            <a:pPr marL="0" indent="0">
              <a:buNone/>
            </a:pPr>
            <a:r>
              <a:rPr lang="en-US" sz="2000" dirty="0">
                <a:solidFill>
                  <a:srgbClr val="1F2A33"/>
                </a:solidFill>
                <a:latin typeface="Calibri" pitchFamily="34" charset="0"/>
                <a:ea typeface="Calibri" pitchFamily="34" charset="-122"/>
                <a:cs typeface="Calibri" pitchFamily="34" charset="-120"/>
              </a:rPr>
              <a:t>Which options can only be negotiated in the SYN segments, and what happens if a middlebox strips them?</a:t>
            </a:r>
            <a:endParaRPr lang="en-US" sz="2000" dirty="0"/>
          </a:p>
        </p:txBody>
      </p:sp>
      <p:sp>
        <p:nvSpPr>
          <p:cNvPr id="9" name="Shape 7"/>
          <p:cNvSpPr/>
          <p:nvPr/>
        </p:nvSpPr>
        <p:spPr>
          <a:xfrm>
            <a:off x="548640" y="3291840"/>
            <a:ext cx="11094415" cy="822960"/>
          </a:xfrm>
          <a:prstGeom prst="roundRect">
            <a:avLst>
              <a:gd name="adj" fmla="val 8889"/>
            </a:avLst>
          </a:prstGeom>
          <a:solidFill>
            <a:srgbClr val="F2F5F7"/>
          </a:solidFill>
          <a:ln/>
        </p:spPr>
        <p:txBody>
          <a:bodyPr/>
          <a:lstStyle/>
          <a:p>
            <a:endParaRPr lang="en-LB"/>
          </a:p>
        </p:txBody>
      </p:sp>
      <p:sp>
        <p:nvSpPr>
          <p:cNvPr id="10" name="Text 8"/>
          <p:cNvSpPr txBox="1"/>
          <p:nvPr/>
        </p:nvSpPr>
        <p:spPr>
          <a:xfrm>
            <a:off x="731520" y="3291840"/>
            <a:ext cx="640080" cy="822960"/>
          </a:xfrm>
          <a:prstGeom prst="rect">
            <a:avLst/>
          </a:prstGeom>
          <a:noFill/>
          <a:ln/>
        </p:spPr>
        <p:txBody>
          <a:bodyPr wrap="square" lIns="0" tIns="0" rIns="0" bIns="0" rtlCol="0" anchor="ctr"/>
          <a:lstStyle/>
          <a:p>
            <a:pPr marL="0" indent="0">
              <a:buNone/>
            </a:pPr>
            <a:r>
              <a:rPr lang="en-US" sz="1800" b="1" dirty="0">
                <a:solidFill>
                  <a:srgbClr val="E8772E"/>
                </a:solidFill>
                <a:latin typeface="Arial" pitchFamily="34" charset="0"/>
                <a:ea typeface="Arial" pitchFamily="34" charset="-122"/>
                <a:cs typeface="Arial" pitchFamily="34" charset="-120"/>
              </a:rPr>
              <a:t>Q3</a:t>
            </a:r>
            <a:endParaRPr lang="en-US" sz="1800" dirty="0"/>
          </a:p>
        </p:txBody>
      </p:sp>
      <p:sp>
        <p:nvSpPr>
          <p:cNvPr id="11" name="Text 9"/>
          <p:cNvSpPr txBox="1"/>
          <p:nvPr/>
        </p:nvSpPr>
        <p:spPr>
          <a:xfrm>
            <a:off x="1463040" y="3291840"/>
            <a:ext cx="9997135" cy="822960"/>
          </a:xfrm>
          <a:prstGeom prst="rect">
            <a:avLst/>
          </a:prstGeom>
          <a:noFill/>
          <a:ln/>
        </p:spPr>
        <p:txBody>
          <a:bodyPr wrap="square" lIns="0" tIns="0" rIns="0" bIns="0" rtlCol="0" anchor="ctr"/>
          <a:lstStyle/>
          <a:p>
            <a:pPr marL="0" indent="0">
              <a:buNone/>
            </a:pPr>
            <a:r>
              <a:rPr lang="en-US" sz="2000" dirty="0">
                <a:solidFill>
                  <a:srgbClr val="1F2A33"/>
                </a:solidFill>
                <a:latin typeface="Calibri" pitchFamily="34" charset="0"/>
                <a:ea typeface="Calibri" pitchFamily="34" charset="-122"/>
                <a:cs typeface="Calibri" pitchFamily="34" charset="-120"/>
              </a:rPr>
              <a:t>Explain why the active closer enters TIME_WAIT and why it lasts 2×MSL.</a:t>
            </a:r>
            <a:endParaRPr lang="en-US" sz="2000" dirty="0"/>
          </a:p>
        </p:txBody>
      </p:sp>
      <p:sp>
        <p:nvSpPr>
          <p:cNvPr id="12" name="Shape 10"/>
          <p:cNvSpPr/>
          <p:nvPr/>
        </p:nvSpPr>
        <p:spPr>
          <a:xfrm>
            <a:off x="548640" y="4251960"/>
            <a:ext cx="11094415" cy="822960"/>
          </a:xfrm>
          <a:prstGeom prst="roundRect">
            <a:avLst>
              <a:gd name="adj" fmla="val 8889"/>
            </a:avLst>
          </a:prstGeom>
          <a:solidFill>
            <a:srgbClr val="F2F5F7"/>
          </a:solidFill>
          <a:ln/>
        </p:spPr>
        <p:txBody>
          <a:bodyPr/>
          <a:lstStyle/>
          <a:p>
            <a:endParaRPr lang="en-LB"/>
          </a:p>
        </p:txBody>
      </p:sp>
      <p:sp>
        <p:nvSpPr>
          <p:cNvPr id="13" name="Text 11"/>
          <p:cNvSpPr txBox="1"/>
          <p:nvPr/>
        </p:nvSpPr>
        <p:spPr>
          <a:xfrm>
            <a:off x="731520" y="4251960"/>
            <a:ext cx="640080" cy="822960"/>
          </a:xfrm>
          <a:prstGeom prst="rect">
            <a:avLst/>
          </a:prstGeom>
          <a:noFill/>
          <a:ln/>
        </p:spPr>
        <p:txBody>
          <a:bodyPr wrap="square" lIns="0" tIns="0" rIns="0" bIns="0" rtlCol="0" anchor="ctr"/>
          <a:lstStyle/>
          <a:p>
            <a:pPr marL="0" indent="0">
              <a:buNone/>
            </a:pPr>
            <a:r>
              <a:rPr lang="en-US" sz="1800" b="1" dirty="0">
                <a:solidFill>
                  <a:srgbClr val="E8772E"/>
                </a:solidFill>
                <a:latin typeface="Arial" pitchFamily="34" charset="0"/>
                <a:ea typeface="Arial" pitchFamily="34" charset="-122"/>
                <a:cs typeface="Arial" pitchFamily="34" charset="-120"/>
              </a:rPr>
              <a:t>Q4</a:t>
            </a:r>
            <a:endParaRPr lang="en-US" sz="1800" dirty="0"/>
          </a:p>
        </p:txBody>
      </p:sp>
      <p:sp>
        <p:nvSpPr>
          <p:cNvPr id="14" name="Text 12"/>
          <p:cNvSpPr txBox="1"/>
          <p:nvPr/>
        </p:nvSpPr>
        <p:spPr>
          <a:xfrm>
            <a:off x="1463040" y="4251960"/>
            <a:ext cx="9997135" cy="822960"/>
          </a:xfrm>
          <a:prstGeom prst="rect">
            <a:avLst/>
          </a:prstGeom>
          <a:noFill/>
          <a:ln/>
        </p:spPr>
        <p:txBody>
          <a:bodyPr wrap="square" lIns="0" tIns="0" rIns="0" bIns="0" rtlCol="0" anchor="ctr"/>
          <a:lstStyle/>
          <a:p>
            <a:pPr marL="0" indent="0">
              <a:buNone/>
            </a:pPr>
            <a:r>
              <a:rPr lang="en-US" sz="2000" dirty="0">
                <a:solidFill>
                  <a:srgbClr val="1F2A33"/>
                </a:solidFill>
                <a:latin typeface="Calibri" pitchFamily="34" charset="0"/>
                <a:ea typeface="Calibri" pitchFamily="34" charset="-122"/>
                <a:cs typeface="Calibri" pitchFamily="34" charset="-120"/>
              </a:rPr>
              <a:t>A transfer peaks at 5 Mb/s on a 1 Gb/s link with 100 ms RTT. What is the most likely cause and the fix?</a:t>
            </a:r>
            <a:endParaRPr lang="en-US" sz="20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17222D"/>
                </a:solidFill>
                <a:latin typeface="Arial" pitchFamily="34" charset="0"/>
                <a:ea typeface="Arial" pitchFamily="34" charset="-122"/>
                <a:cs typeface="Arial" pitchFamily="34" charset="-120"/>
              </a:rPr>
              <a:t>Model answers</a:t>
            </a:r>
            <a:endParaRPr lang="en-US" sz="3000" dirty="0"/>
          </a:p>
        </p:txBody>
      </p:sp>
      <p:sp>
        <p:nvSpPr>
          <p:cNvPr id="3" name="Shape 1"/>
          <p:cNvSpPr/>
          <p:nvPr/>
        </p:nvSpPr>
        <p:spPr>
          <a:xfrm>
            <a:off x="548640" y="1325880"/>
            <a:ext cx="11094415" cy="1113282"/>
          </a:xfrm>
          <a:prstGeom prst="roundRect">
            <a:avLst>
              <a:gd name="adj" fmla="val 6571"/>
            </a:avLst>
          </a:prstGeom>
          <a:solidFill>
            <a:srgbClr val="D7EFEC"/>
          </a:solidFill>
          <a:ln/>
        </p:spPr>
        <p:txBody>
          <a:bodyPr/>
          <a:lstStyle/>
          <a:p>
            <a:endParaRPr lang="en-LB"/>
          </a:p>
        </p:txBody>
      </p:sp>
      <p:sp>
        <p:nvSpPr>
          <p:cNvPr id="4" name="Text 2"/>
          <p:cNvSpPr txBox="1"/>
          <p:nvPr/>
        </p:nvSpPr>
        <p:spPr>
          <a:xfrm>
            <a:off x="731520" y="1325880"/>
            <a:ext cx="640080" cy="1113282"/>
          </a:xfrm>
          <a:prstGeom prst="rect">
            <a:avLst/>
          </a:prstGeom>
          <a:noFill/>
          <a:ln/>
        </p:spPr>
        <p:txBody>
          <a:bodyPr wrap="square" lIns="0" tIns="0" rIns="0" bIns="0" rtlCol="0" anchor="ctr"/>
          <a:lstStyle/>
          <a:p>
            <a:pPr marL="0" indent="0">
              <a:buNone/>
            </a:pPr>
            <a:r>
              <a:rPr lang="en-US" sz="1800" b="1" dirty="0">
                <a:solidFill>
                  <a:srgbClr val="0E8C7F"/>
                </a:solidFill>
                <a:latin typeface="Arial" pitchFamily="34" charset="0"/>
                <a:ea typeface="Arial" pitchFamily="34" charset="-122"/>
                <a:cs typeface="Arial" pitchFamily="34" charset="-120"/>
              </a:rPr>
              <a:t>A1</a:t>
            </a:r>
            <a:endParaRPr lang="en-US" sz="1800" dirty="0"/>
          </a:p>
        </p:txBody>
      </p:sp>
      <p:sp>
        <p:nvSpPr>
          <p:cNvPr id="5" name="Text 3"/>
          <p:cNvSpPr txBox="1"/>
          <p:nvPr/>
        </p:nvSpPr>
        <p:spPr>
          <a:xfrm>
            <a:off x="1463040" y="1325880"/>
            <a:ext cx="9997135" cy="1113282"/>
          </a:xfrm>
          <a:prstGeom prst="rect">
            <a:avLst/>
          </a:prstGeom>
          <a:noFill/>
          <a:ln/>
        </p:spPr>
        <p:txBody>
          <a:bodyPr wrap="square" lIns="0" tIns="0" rIns="0" bIns="0" rtlCol="0" anchor="ctr"/>
          <a:lstStyle/>
          <a:p>
            <a:pPr marL="0" indent="0">
              <a:buNone/>
            </a:pPr>
            <a:r>
              <a:rPr lang="en-US" sz="1800" dirty="0">
                <a:solidFill>
                  <a:srgbClr val="1F2A33"/>
                </a:solidFill>
                <a:latin typeface="Calibri" pitchFamily="34" charset="0"/>
                <a:ea typeface="Calibri" pitchFamily="34" charset="-122"/>
                <a:cs typeface="Calibri" pitchFamily="34" charset="-120"/>
              </a:rPr>
              <a:t>Because TCP is a byte stream: segment boundaries can change on retransmission, but byte positions never do. The ACK number is the next byte the receiver expects; everything before it has arrived.</a:t>
            </a:r>
            <a:endParaRPr lang="en-US" sz="1800" dirty="0"/>
          </a:p>
        </p:txBody>
      </p:sp>
      <p:sp>
        <p:nvSpPr>
          <p:cNvPr id="6" name="Shape 4"/>
          <p:cNvSpPr/>
          <p:nvPr/>
        </p:nvSpPr>
        <p:spPr>
          <a:xfrm>
            <a:off x="548640" y="2548890"/>
            <a:ext cx="11094415" cy="1113282"/>
          </a:xfrm>
          <a:prstGeom prst="roundRect">
            <a:avLst>
              <a:gd name="adj" fmla="val 6571"/>
            </a:avLst>
          </a:prstGeom>
          <a:solidFill>
            <a:srgbClr val="F2F5F7"/>
          </a:solidFill>
          <a:ln/>
        </p:spPr>
        <p:txBody>
          <a:bodyPr/>
          <a:lstStyle/>
          <a:p>
            <a:endParaRPr lang="en-LB"/>
          </a:p>
        </p:txBody>
      </p:sp>
      <p:sp>
        <p:nvSpPr>
          <p:cNvPr id="7" name="Text 5"/>
          <p:cNvSpPr txBox="1"/>
          <p:nvPr/>
        </p:nvSpPr>
        <p:spPr>
          <a:xfrm>
            <a:off x="731520" y="2548890"/>
            <a:ext cx="640080" cy="1113282"/>
          </a:xfrm>
          <a:prstGeom prst="rect">
            <a:avLst/>
          </a:prstGeom>
          <a:noFill/>
          <a:ln/>
        </p:spPr>
        <p:txBody>
          <a:bodyPr wrap="square" lIns="0" tIns="0" rIns="0" bIns="0" rtlCol="0" anchor="ctr"/>
          <a:lstStyle/>
          <a:p>
            <a:pPr marL="0" indent="0">
              <a:buNone/>
            </a:pPr>
            <a:r>
              <a:rPr lang="en-US" sz="1800" b="1" dirty="0">
                <a:solidFill>
                  <a:srgbClr val="0E8C7F"/>
                </a:solidFill>
                <a:latin typeface="Arial" pitchFamily="34" charset="0"/>
                <a:ea typeface="Arial" pitchFamily="34" charset="-122"/>
                <a:cs typeface="Arial" pitchFamily="34" charset="-120"/>
              </a:rPr>
              <a:t>A2</a:t>
            </a:r>
            <a:endParaRPr lang="en-US" sz="1800" dirty="0"/>
          </a:p>
        </p:txBody>
      </p:sp>
      <p:sp>
        <p:nvSpPr>
          <p:cNvPr id="8" name="Text 6"/>
          <p:cNvSpPr txBox="1"/>
          <p:nvPr/>
        </p:nvSpPr>
        <p:spPr>
          <a:xfrm>
            <a:off x="1463040" y="2548890"/>
            <a:ext cx="9997135" cy="1113282"/>
          </a:xfrm>
          <a:prstGeom prst="rect">
            <a:avLst/>
          </a:prstGeom>
          <a:noFill/>
          <a:ln/>
        </p:spPr>
        <p:txBody>
          <a:bodyPr wrap="square" lIns="0" tIns="0" rIns="0" bIns="0" rtlCol="0" anchor="ctr"/>
          <a:lstStyle/>
          <a:p>
            <a:pPr marL="0" indent="0">
              <a:buNone/>
            </a:pPr>
            <a:r>
              <a:rPr lang="en-US" sz="1800" dirty="0">
                <a:solidFill>
                  <a:srgbClr val="1F2A33"/>
                </a:solidFill>
                <a:latin typeface="Calibri" pitchFamily="34" charset="0"/>
                <a:ea typeface="Calibri" pitchFamily="34" charset="-122"/>
                <a:cs typeface="Calibri" pitchFamily="34" charset="-120"/>
              </a:rPr>
              <a:t>MSS, Window Scale and SACK-permitted (and Timestamps, which must start in the SYN). If a middlebox strips them, the connection falls back: no scaling (64 KB max window), no SACK, default MSS — often a large performance loss.</a:t>
            </a:r>
            <a:endParaRPr lang="en-US" sz="1800" dirty="0"/>
          </a:p>
        </p:txBody>
      </p:sp>
      <p:sp>
        <p:nvSpPr>
          <p:cNvPr id="9" name="Shape 7"/>
          <p:cNvSpPr/>
          <p:nvPr/>
        </p:nvSpPr>
        <p:spPr>
          <a:xfrm>
            <a:off x="548640" y="3771900"/>
            <a:ext cx="11094415" cy="1113282"/>
          </a:xfrm>
          <a:prstGeom prst="roundRect">
            <a:avLst>
              <a:gd name="adj" fmla="val 6571"/>
            </a:avLst>
          </a:prstGeom>
          <a:solidFill>
            <a:srgbClr val="D7EFEC"/>
          </a:solidFill>
          <a:ln/>
        </p:spPr>
        <p:txBody>
          <a:bodyPr/>
          <a:lstStyle/>
          <a:p>
            <a:endParaRPr lang="en-LB"/>
          </a:p>
        </p:txBody>
      </p:sp>
      <p:sp>
        <p:nvSpPr>
          <p:cNvPr id="10" name="Text 8"/>
          <p:cNvSpPr txBox="1"/>
          <p:nvPr/>
        </p:nvSpPr>
        <p:spPr>
          <a:xfrm>
            <a:off x="731520" y="3771900"/>
            <a:ext cx="640080" cy="1113282"/>
          </a:xfrm>
          <a:prstGeom prst="rect">
            <a:avLst/>
          </a:prstGeom>
          <a:noFill/>
          <a:ln/>
        </p:spPr>
        <p:txBody>
          <a:bodyPr wrap="square" lIns="0" tIns="0" rIns="0" bIns="0" rtlCol="0" anchor="ctr"/>
          <a:lstStyle/>
          <a:p>
            <a:pPr marL="0" indent="0">
              <a:buNone/>
            </a:pPr>
            <a:r>
              <a:rPr lang="en-US" sz="1800" b="1" dirty="0">
                <a:solidFill>
                  <a:srgbClr val="0E8C7F"/>
                </a:solidFill>
                <a:latin typeface="Arial" pitchFamily="34" charset="0"/>
                <a:ea typeface="Arial" pitchFamily="34" charset="-122"/>
                <a:cs typeface="Arial" pitchFamily="34" charset="-120"/>
              </a:rPr>
              <a:t>A3</a:t>
            </a:r>
            <a:endParaRPr lang="en-US" sz="1800" dirty="0"/>
          </a:p>
        </p:txBody>
      </p:sp>
      <p:sp>
        <p:nvSpPr>
          <p:cNvPr id="11" name="Text 9"/>
          <p:cNvSpPr txBox="1"/>
          <p:nvPr/>
        </p:nvSpPr>
        <p:spPr>
          <a:xfrm>
            <a:off x="1463040" y="3771900"/>
            <a:ext cx="9997135" cy="1113282"/>
          </a:xfrm>
          <a:prstGeom prst="rect">
            <a:avLst/>
          </a:prstGeom>
          <a:noFill/>
          <a:ln/>
        </p:spPr>
        <p:txBody>
          <a:bodyPr wrap="square" lIns="0" tIns="0" rIns="0" bIns="0" rtlCol="0" anchor="ctr"/>
          <a:lstStyle/>
          <a:p>
            <a:pPr marL="0" indent="0">
              <a:buNone/>
            </a:pPr>
            <a:r>
              <a:rPr lang="en-US" sz="1800" dirty="0">
                <a:solidFill>
                  <a:srgbClr val="1F2A33"/>
                </a:solidFill>
                <a:latin typeface="Calibri" pitchFamily="34" charset="0"/>
                <a:ea typeface="Calibri" pitchFamily="34" charset="-122"/>
                <a:cs typeface="Calibri" pitchFamily="34" charset="-120"/>
              </a:rPr>
              <a:t>TIME_WAIT lets the active closer re-send the last ACK if the peer’s FIN is retransmitted, and ensures old duplicates of this connection expire (2×MSL = maximum lifetime in both directions) before the 4-tuple is reused.</a:t>
            </a:r>
            <a:endParaRPr lang="en-US" sz="1800" dirty="0"/>
          </a:p>
        </p:txBody>
      </p:sp>
      <p:sp>
        <p:nvSpPr>
          <p:cNvPr id="12" name="Shape 10"/>
          <p:cNvSpPr/>
          <p:nvPr/>
        </p:nvSpPr>
        <p:spPr>
          <a:xfrm>
            <a:off x="548640" y="4994910"/>
            <a:ext cx="11094415" cy="1113282"/>
          </a:xfrm>
          <a:prstGeom prst="roundRect">
            <a:avLst>
              <a:gd name="adj" fmla="val 6571"/>
            </a:avLst>
          </a:prstGeom>
          <a:solidFill>
            <a:srgbClr val="F2F5F7"/>
          </a:solidFill>
          <a:ln/>
        </p:spPr>
        <p:txBody>
          <a:bodyPr/>
          <a:lstStyle/>
          <a:p>
            <a:endParaRPr lang="en-LB"/>
          </a:p>
        </p:txBody>
      </p:sp>
      <p:sp>
        <p:nvSpPr>
          <p:cNvPr id="13" name="Text 11"/>
          <p:cNvSpPr txBox="1"/>
          <p:nvPr/>
        </p:nvSpPr>
        <p:spPr>
          <a:xfrm>
            <a:off x="731520" y="4994910"/>
            <a:ext cx="640080" cy="1113282"/>
          </a:xfrm>
          <a:prstGeom prst="rect">
            <a:avLst/>
          </a:prstGeom>
          <a:noFill/>
          <a:ln/>
        </p:spPr>
        <p:txBody>
          <a:bodyPr wrap="square" lIns="0" tIns="0" rIns="0" bIns="0" rtlCol="0" anchor="ctr"/>
          <a:lstStyle/>
          <a:p>
            <a:pPr marL="0" indent="0">
              <a:buNone/>
            </a:pPr>
            <a:r>
              <a:rPr lang="en-US" sz="1800" b="1" dirty="0">
                <a:solidFill>
                  <a:srgbClr val="0E8C7F"/>
                </a:solidFill>
                <a:latin typeface="Arial" pitchFamily="34" charset="0"/>
                <a:ea typeface="Arial" pitchFamily="34" charset="-122"/>
                <a:cs typeface="Arial" pitchFamily="34" charset="-120"/>
              </a:rPr>
              <a:t>A4</a:t>
            </a:r>
            <a:endParaRPr lang="en-US" sz="1800" dirty="0"/>
          </a:p>
        </p:txBody>
      </p:sp>
      <p:sp>
        <p:nvSpPr>
          <p:cNvPr id="14" name="Text 12"/>
          <p:cNvSpPr txBox="1"/>
          <p:nvPr/>
        </p:nvSpPr>
        <p:spPr>
          <a:xfrm>
            <a:off x="1463040" y="4994910"/>
            <a:ext cx="9997135" cy="1113282"/>
          </a:xfrm>
          <a:prstGeom prst="rect">
            <a:avLst/>
          </a:prstGeom>
          <a:noFill/>
          <a:ln/>
        </p:spPr>
        <p:txBody>
          <a:bodyPr wrap="square" lIns="0" tIns="0" rIns="0" bIns="0" rtlCol="0" anchor="ctr"/>
          <a:lstStyle/>
          <a:p>
            <a:pPr marL="0" indent="0">
              <a:buNone/>
            </a:pPr>
            <a:r>
              <a:rPr lang="en-US" sz="1800" dirty="0">
                <a:solidFill>
                  <a:srgbClr val="1F2A33"/>
                </a:solidFill>
                <a:latin typeface="Calibri" pitchFamily="34" charset="0"/>
                <a:ea typeface="Calibri" pitchFamily="34" charset="-122"/>
                <a:cs typeface="Calibri" pitchFamily="34" charset="-120"/>
              </a:rPr>
              <a:t>5 Mb/s ≈ 64 KB / 100 ms, so the transfer is window-limited: window scaling is missing or the receive buffer is too small. Fix: enable window scaling end-to-end and raise socket buffer maxima to ≥ BDP (12.5 MB).</a:t>
            </a:r>
            <a:endParaRPr lang="en-US" sz="18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IN403  ·  Lecture 1  ·  TCP Deep Dive I</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7222D"/>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marL="0" indent="0">
              <a:buNone/>
            </a:pPr>
            <a:r>
              <a:rPr lang="en-US" sz="3000" b="1" dirty="0">
                <a:solidFill>
                  <a:srgbClr val="FFFFFF"/>
                </a:solidFill>
                <a:latin typeface="Arial" pitchFamily="34" charset="0"/>
                <a:ea typeface="Arial" pitchFamily="34" charset="-122"/>
                <a:cs typeface="Arial" pitchFamily="34" charset="-120"/>
              </a:rPr>
              <a:t>Key takeaways</a:t>
            </a:r>
            <a:endParaRPr lang="en-US" sz="3000" dirty="0"/>
          </a:p>
        </p:txBody>
      </p:sp>
      <p:sp>
        <p:nvSpPr>
          <p:cNvPr id="3" name="Shape 1"/>
          <p:cNvSpPr/>
          <p:nvPr/>
        </p:nvSpPr>
        <p:spPr>
          <a:xfrm>
            <a:off x="548640" y="1481328"/>
            <a:ext cx="329184" cy="329184"/>
          </a:xfrm>
          <a:prstGeom prst="ellipse">
            <a:avLst/>
          </a:prstGeom>
          <a:solidFill>
            <a:srgbClr val="E8772E"/>
          </a:solidFill>
          <a:ln/>
        </p:spPr>
        <p:txBody>
          <a:bodyPr/>
          <a:lstStyle/>
          <a:p>
            <a:endParaRPr lang="en-LB"/>
          </a:p>
        </p:txBody>
      </p:sp>
      <p:sp>
        <p:nvSpPr>
          <p:cNvPr id="4" name="Text 2"/>
          <p:cNvSpPr txBox="1"/>
          <p:nvPr/>
        </p:nvSpPr>
        <p:spPr>
          <a:xfrm>
            <a:off x="1097280" y="1371600"/>
            <a:ext cx="10545775" cy="77724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TCP provides a reliable, ordered, full-duplex byte stream with flow and congestion control</a:t>
            </a:r>
            <a:endParaRPr lang="en-US" sz="2000" dirty="0"/>
          </a:p>
        </p:txBody>
      </p:sp>
      <p:sp>
        <p:nvSpPr>
          <p:cNvPr id="5" name="Shape 3"/>
          <p:cNvSpPr/>
          <p:nvPr/>
        </p:nvSpPr>
        <p:spPr>
          <a:xfrm>
            <a:off x="548640" y="2258568"/>
            <a:ext cx="329184" cy="329184"/>
          </a:xfrm>
          <a:prstGeom prst="ellipse">
            <a:avLst/>
          </a:prstGeom>
          <a:solidFill>
            <a:srgbClr val="E8772E"/>
          </a:solidFill>
          <a:ln/>
        </p:spPr>
        <p:txBody>
          <a:bodyPr/>
          <a:lstStyle/>
          <a:p>
            <a:endParaRPr lang="en-LB"/>
          </a:p>
        </p:txBody>
      </p:sp>
      <p:sp>
        <p:nvSpPr>
          <p:cNvPr id="6" name="Text 4"/>
          <p:cNvSpPr txBox="1"/>
          <p:nvPr/>
        </p:nvSpPr>
        <p:spPr>
          <a:xfrm>
            <a:off x="1097280" y="2148840"/>
            <a:ext cx="10545775" cy="77724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Handshake options (MSS, Window Scale, SACK, Timestamps) shape performance for the whole connection</a:t>
            </a:r>
            <a:endParaRPr lang="en-US" sz="2000" dirty="0"/>
          </a:p>
        </p:txBody>
      </p:sp>
      <p:sp>
        <p:nvSpPr>
          <p:cNvPr id="7" name="Shape 5"/>
          <p:cNvSpPr/>
          <p:nvPr/>
        </p:nvSpPr>
        <p:spPr>
          <a:xfrm>
            <a:off x="548640" y="3035808"/>
            <a:ext cx="329184" cy="329184"/>
          </a:xfrm>
          <a:prstGeom prst="ellipse">
            <a:avLst/>
          </a:prstGeom>
          <a:solidFill>
            <a:srgbClr val="E8772E"/>
          </a:solidFill>
          <a:ln/>
        </p:spPr>
        <p:txBody>
          <a:bodyPr/>
          <a:lstStyle/>
          <a:p>
            <a:endParaRPr lang="en-LB"/>
          </a:p>
        </p:txBody>
      </p:sp>
      <p:sp>
        <p:nvSpPr>
          <p:cNvPr id="8" name="Text 6"/>
          <p:cNvSpPr txBox="1"/>
          <p:nvPr/>
        </p:nvSpPr>
        <p:spPr>
          <a:xfrm>
            <a:off x="1097280" y="2926080"/>
            <a:ext cx="10545775" cy="77724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Flow control limits the sender to the receiver’s advertised window; throughput ≤ window / RTT</a:t>
            </a:r>
            <a:endParaRPr lang="en-US" sz="2000" dirty="0"/>
          </a:p>
        </p:txBody>
      </p:sp>
      <p:sp>
        <p:nvSpPr>
          <p:cNvPr id="9" name="Shape 7"/>
          <p:cNvSpPr/>
          <p:nvPr/>
        </p:nvSpPr>
        <p:spPr>
          <a:xfrm>
            <a:off x="548640" y="3813048"/>
            <a:ext cx="329184" cy="329184"/>
          </a:xfrm>
          <a:prstGeom prst="ellipse">
            <a:avLst/>
          </a:prstGeom>
          <a:solidFill>
            <a:srgbClr val="E8772E"/>
          </a:solidFill>
          <a:ln/>
        </p:spPr>
        <p:txBody>
          <a:bodyPr/>
          <a:lstStyle/>
          <a:p>
            <a:endParaRPr lang="en-LB"/>
          </a:p>
        </p:txBody>
      </p:sp>
      <p:sp>
        <p:nvSpPr>
          <p:cNvPr id="10" name="Text 8"/>
          <p:cNvSpPr txBox="1"/>
          <p:nvPr/>
        </p:nvSpPr>
        <p:spPr>
          <a:xfrm>
            <a:off x="1097280" y="3703320"/>
            <a:ext cx="10545775" cy="77724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High-BDP paths need window scaling and large socket buffers</a:t>
            </a:r>
            <a:endParaRPr lang="en-US" sz="2000" dirty="0"/>
          </a:p>
        </p:txBody>
      </p:sp>
      <p:sp>
        <p:nvSpPr>
          <p:cNvPr id="11" name="Shape 9"/>
          <p:cNvSpPr/>
          <p:nvPr/>
        </p:nvSpPr>
        <p:spPr>
          <a:xfrm>
            <a:off x="548640" y="4590288"/>
            <a:ext cx="329184" cy="329184"/>
          </a:xfrm>
          <a:prstGeom prst="ellipse">
            <a:avLst/>
          </a:prstGeom>
          <a:solidFill>
            <a:srgbClr val="E8772E"/>
          </a:solidFill>
          <a:ln/>
        </p:spPr>
        <p:txBody>
          <a:bodyPr/>
          <a:lstStyle/>
          <a:p>
            <a:endParaRPr lang="en-LB"/>
          </a:p>
        </p:txBody>
      </p:sp>
      <p:sp>
        <p:nvSpPr>
          <p:cNvPr id="12" name="Text 10"/>
          <p:cNvSpPr txBox="1"/>
          <p:nvPr/>
        </p:nvSpPr>
        <p:spPr>
          <a:xfrm>
            <a:off x="1097280" y="4480560"/>
            <a:ext cx="10545775" cy="77724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Zero windows and silly-window effects are usually end-host problems, not network problems</a:t>
            </a:r>
            <a:endParaRPr lang="en-US" sz="2000" dirty="0"/>
          </a:p>
        </p:txBody>
      </p:sp>
      <p:sp>
        <p:nvSpPr>
          <p:cNvPr id="13" name="Shape 11"/>
          <p:cNvSpPr/>
          <p:nvPr/>
        </p:nvSpPr>
        <p:spPr>
          <a:xfrm>
            <a:off x="548640" y="5532120"/>
            <a:ext cx="11094415" cy="685800"/>
          </a:xfrm>
          <a:prstGeom prst="roundRect">
            <a:avLst>
              <a:gd name="adj" fmla="val 13333"/>
            </a:avLst>
          </a:prstGeom>
          <a:solidFill>
            <a:srgbClr val="24384A"/>
          </a:solidFill>
          <a:ln/>
        </p:spPr>
        <p:txBody>
          <a:bodyPr/>
          <a:lstStyle/>
          <a:p>
            <a:endParaRPr lang="en-LB"/>
          </a:p>
        </p:txBody>
      </p:sp>
      <p:sp>
        <p:nvSpPr>
          <p:cNvPr id="14" name="Text 12"/>
          <p:cNvSpPr txBox="1"/>
          <p:nvPr/>
        </p:nvSpPr>
        <p:spPr>
          <a:xfrm>
            <a:off x="822960" y="5532120"/>
            <a:ext cx="10545775" cy="685800"/>
          </a:xfrm>
          <a:prstGeom prst="rect">
            <a:avLst/>
          </a:prstGeom>
          <a:noFill/>
          <a:ln/>
        </p:spPr>
        <p:txBody>
          <a:bodyPr wrap="square" lIns="0" tIns="0" rIns="0" bIns="0" rtlCol="0" anchor="ctr">
            <a:normAutofit/>
          </a:bodyPr>
          <a:lstStyle/>
          <a:p>
            <a:pPr marL="0" indent="0">
              <a:buNone/>
            </a:pPr>
            <a:r>
              <a:rPr lang="en-US" sz="1400" b="1" dirty="0">
                <a:solidFill>
                  <a:srgbClr val="E8772E"/>
                </a:solidFill>
                <a:latin typeface="Calibri" pitchFamily="34" charset="0"/>
                <a:ea typeface="Calibri" pitchFamily="34" charset="-122"/>
                <a:cs typeface="Calibri" pitchFamily="34" charset="-120"/>
              </a:rPr>
              <a:t>Reading &amp; next session:  </a:t>
            </a:r>
            <a:r>
              <a:rPr lang="en-US" sz="1400" dirty="0">
                <a:solidFill>
                  <a:srgbClr val="DCE6ED"/>
                </a:solidFill>
                <a:latin typeface="Calibri" pitchFamily="34" charset="0"/>
                <a:ea typeface="Calibri" pitchFamily="34" charset="-122"/>
                <a:cs typeface="Calibri" pitchFamily="34" charset="-120"/>
              </a:rPr>
              <a:t>Kurose &amp; Ross §3.5 (TCP) · RFC 9293, RFC 7323 · Next: Lecture 2 — TCP Congestion Control: Tahoe, Reno &amp; NewReno</a:t>
            </a:r>
            <a:endParaRPr lang="en-US" sz="14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rgbClr val="9FB0BD"/>
                </a:solidFill>
                <a:latin typeface="Calibri" pitchFamily="34" charset="0"/>
                <a:ea typeface="Calibri" pitchFamily="34" charset="-122"/>
                <a:cs typeface="Calibri" pitchFamily="34" charset="-120"/>
              </a:rPr>
              <a:t>IN403  ·  Lecture 1  ·  TCP Deep Dive I</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9FB0BD"/>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10893</Words>
  <Application>Microsoft Macintosh PowerPoint</Application>
  <PresentationFormat>Widescreen</PresentationFormat>
  <Paragraphs>535</Paragraphs>
  <Slides>37</Slides>
  <Notes>37</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IN403 Lecture 1: TCP/IP Deep Dive I: Reliable Transport &amp; Flow Control</dc:title>
  <dc:subject>PptxGenJS Presentation</dc:subject>
  <dc:creator>IN403 Course Team</dc:creator>
  <cp:lastModifiedBy>Rami Tawil</cp:lastModifiedBy>
  <cp:revision>2</cp:revision>
  <dcterms:created xsi:type="dcterms:W3CDTF">2026-10-06T03:53:42Z</dcterms:created>
  <dcterms:modified xsi:type="dcterms:W3CDTF">2026-10-06T08:03:15Z</dcterms:modified>
</cp:coreProperties>
</file>